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7F8"/>
        </a:solidFill>
      </p:bgPr>
    </p:bg>
    <p:spTree>
      <p:nvGrpSpPr>
        <p:cNvPr id="1" name=""/>
        <p:cNvGrpSpPr/>
        <p:nvPr/>
      </p:nvGrpSpPr>
      <p:grpSpPr>
        <a:xfrm>
          <a:off x="0" y="0"/>
          <a:ext cx="0" cy="0"/>
          <a:chOff x="0" y="0"/>
          <a:chExt cx="0" cy="0"/>
        </a:xfrm>
      </p:grpSpPr>
      <p:sp>
        <p:nvSpPr>
          <p:cNvPr id="2" name="Text 0"/>
          <p:cNvSpPr/>
          <p:nvPr/>
        </p:nvSpPr>
        <p:spPr>
          <a:xfrm>
            <a:off x="0" y="0"/>
            <a:ext cx="5486400" cy="5143500"/>
          </a:xfrm>
          <a:prstGeom prst="rect">
            <a:avLst/>
          </a:prstGeom>
          <a:solidFill>
            <a:srgbClr val="134E4A"/>
          </a:solidFill>
          <a:ln/>
        </p:spPr>
        <p:txBody>
          <a:bodyPr wrap="square" rtlCol="0" anchor="ctr"/>
          <a:lstStyle/>
          <a:p>
            <a:pPr indent="0" marL="0">
              <a:buNone/>
            </a:pPr>
            <a:endParaRPr lang="en-US" dirty="0"/>
          </a:p>
        </p:txBody>
      </p:sp>
      <p:sp>
        <p:nvSpPr>
          <p:cNvPr id="3" name="Text 1"/>
          <p:cNvSpPr/>
          <p:nvPr/>
        </p:nvSpPr>
        <p:spPr>
          <a:xfrm>
            <a:off x="457200" y="457200"/>
            <a:ext cx="4681728" cy="170021"/>
          </a:xfrm>
          <a:prstGeom prst="rect">
            <a:avLst/>
          </a:prstGeom>
          <a:noFill/>
          <a:ln/>
        </p:spPr>
        <p:txBody>
          <a:bodyPr wrap="square" lIns="0" tIns="0" rIns="0" bIns="0" rtlCol="0" anchor="t"/>
          <a:lstStyle/>
          <a:p>
            <a:pPr algn="l" indent="0" marL="0">
              <a:lnSpc>
                <a:spcPts val="1046"/>
              </a:lnSpc>
              <a:buNone/>
            </a:pPr>
            <a:r>
              <a:rPr lang="en-US" sz="800" spc="81" kern="0" dirty="0">
                <a:solidFill>
                  <a:srgbClr val="FFFFFF">
                    <a:alpha val="70000"/>
                  </a:srgbClr>
                </a:solidFill>
                <a:latin typeface="Liberation Sans Narrow" pitchFamily="34" charset="0"/>
                <a:ea typeface="Liberation Sans Narrow" pitchFamily="34" charset="-122"/>
                <a:cs typeface="Liberation Sans Narrow" pitchFamily="34" charset="-120"/>
              </a:rPr>
              <a:t>METODOLOGI PENELITIAN · 2026</a:t>
            </a:r>
            <a:endParaRPr lang="en-US" sz="800" dirty="0"/>
          </a:p>
        </p:txBody>
      </p:sp>
      <p:sp>
        <p:nvSpPr>
          <p:cNvPr id="4" name="Text 2"/>
          <p:cNvSpPr/>
          <p:nvPr/>
        </p:nvSpPr>
        <p:spPr>
          <a:xfrm>
            <a:off x="434340" y="692930"/>
            <a:ext cx="868926" cy="212777"/>
          </a:xfrm>
          <a:prstGeom prst="roundRect">
            <a:avLst>
              <a:gd name="adj" fmla="val 4472041"/>
            </a:avLst>
          </a:prstGeom>
          <a:solidFill>
            <a:srgbClr val="FFF1E6"/>
          </a:solidFill>
          <a:ln/>
        </p:spPr>
        <p:txBody>
          <a:bodyPr wrap="square" rtlCol="0" anchor="ctr"/>
          <a:lstStyle/>
          <a:p>
            <a:pPr indent="0" marL="0">
              <a:buNone/>
            </a:pPr>
            <a:endParaRPr lang="en-US" dirty="0"/>
          </a:p>
        </p:txBody>
      </p:sp>
      <p:sp>
        <p:nvSpPr>
          <p:cNvPr id="5" name="Text 3"/>
          <p:cNvSpPr/>
          <p:nvPr/>
        </p:nvSpPr>
        <p:spPr>
          <a:xfrm>
            <a:off x="457200" y="704329"/>
            <a:ext cx="823206" cy="189979"/>
          </a:xfrm>
          <a:prstGeom prst="rect">
            <a:avLst/>
          </a:prstGeom>
          <a:noFill/>
          <a:ln/>
        </p:spPr>
        <p:txBody>
          <a:bodyPr wrap="none" lIns="0" tIns="0" rIns="0" bIns="0" rtlCol="0" anchor="ctr"/>
          <a:lstStyle/>
          <a:p>
            <a:pPr algn="ctr" indent="0" marL="0">
              <a:lnSpc>
                <a:spcPts val="1046"/>
              </a:lnSpc>
              <a:buNone/>
            </a:pPr>
            <a:r>
              <a:rPr lang="en-US" sz="800" spc="27" kern="0" dirty="0">
                <a:solidFill>
                  <a:srgbClr val="EA680C"/>
                </a:solidFill>
                <a:latin typeface="Liberation Sans Narrow" pitchFamily="34" charset="0"/>
                <a:ea typeface="Liberation Sans Narrow" pitchFamily="34" charset="-122"/>
                <a:cs typeface="Liberation Sans Narrow" pitchFamily="34" charset="-120"/>
              </a:rPr>
              <a:t>PRISMA 2020</a:t>
            </a:r>
            <a:endParaRPr lang="en-US" sz="800" dirty="0"/>
          </a:p>
        </p:txBody>
      </p:sp>
      <p:sp>
        <p:nvSpPr>
          <p:cNvPr id="6" name="Text 4"/>
          <p:cNvSpPr/>
          <p:nvPr/>
        </p:nvSpPr>
        <p:spPr>
          <a:xfrm>
            <a:off x="457200" y="1606674"/>
            <a:ext cx="4572000" cy="1425634"/>
          </a:xfrm>
          <a:prstGeom prst="rect">
            <a:avLst/>
          </a:prstGeom>
          <a:noFill/>
          <a:ln/>
        </p:spPr>
        <p:txBody>
          <a:bodyPr wrap="square" lIns="0" tIns="0" rIns="0" bIns="0" rtlCol="0" anchor="t"/>
          <a:lstStyle/>
          <a:p>
            <a:pPr algn="l" indent="0" marL="0">
              <a:lnSpc>
                <a:spcPts val="3465"/>
              </a:lnSpc>
              <a:buNone/>
            </a:pPr>
            <a:r>
              <a:rPr lang="en-US" sz="3150" spc="-32" kern="0" dirty="0">
                <a:solidFill>
                  <a:srgbClr val="FFFFFF"/>
                </a:solidFill>
                <a:latin typeface="Tinos" pitchFamily="34" charset="0"/>
                <a:ea typeface="Tinos" pitchFamily="34" charset="-122"/>
                <a:cs typeface="Tinos" pitchFamily="34" charset="-120"/>
              </a:rPr>
              <a:t>Tahapan Systematic Literature Review dengan Metode PRISMA</a:t>
            </a:r>
            <a:endParaRPr lang="en-US" sz="3150" dirty="0"/>
          </a:p>
        </p:txBody>
      </p:sp>
      <p:sp>
        <p:nvSpPr>
          <p:cNvPr id="7" name="Text 5"/>
          <p:cNvSpPr/>
          <p:nvPr/>
        </p:nvSpPr>
        <p:spPr>
          <a:xfrm>
            <a:off x="457200" y="3098155"/>
            <a:ext cx="4143375" cy="671227"/>
          </a:xfrm>
          <a:prstGeom prst="rect">
            <a:avLst/>
          </a:prstGeom>
          <a:noFill/>
          <a:ln/>
        </p:spPr>
        <p:txBody>
          <a:bodyPr wrap="square" lIns="0" tIns="0" rIns="0" bIns="0" rtlCol="0" anchor="t"/>
          <a:lstStyle/>
          <a:p>
            <a:pPr algn="l" indent="0" marL="0">
              <a:lnSpc>
                <a:spcPts val="1631"/>
              </a:lnSpc>
              <a:buNone/>
            </a:pPr>
            <a:r>
              <a:rPr lang="en-US" sz="1125" dirty="0">
                <a:solidFill>
                  <a:srgbClr val="E0ECEB"/>
                </a:solidFill>
                <a:latin typeface="Carlito" pitchFamily="34" charset="0"/>
                <a:ea typeface="Carlito" pitchFamily="34" charset="-122"/>
                <a:cs typeface="Carlito" pitchFamily="34" charset="-120"/>
              </a:rPr>
              <a:t>Panduan terstruktur untuk peneliti: dari perumusan pertanyaan hingga pelaporan hasil review yang transparan dan reproducible.</a:t>
            </a:r>
            <a:endParaRPr lang="en-US" sz="1125" dirty="0"/>
          </a:p>
        </p:txBody>
      </p:sp>
      <p:sp>
        <p:nvSpPr>
          <p:cNvPr id="8" name="Text 6"/>
          <p:cNvSpPr/>
          <p:nvPr/>
        </p:nvSpPr>
        <p:spPr>
          <a:xfrm>
            <a:off x="457200" y="4432027"/>
            <a:ext cx="571500" cy="7144"/>
          </a:xfrm>
          <a:prstGeom prst="rect">
            <a:avLst/>
          </a:prstGeom>
          <a:solidFill>
            <a:srgbClr val="FFFFFF">
              <a:alpha val="20000"/>
            </a:srgbClr>
          </a:solidFill>
          <a:ln/>
        </p:spPr>
        <p:txBody>
          <a:bodyPr wrap="square" rtlCol="0" anchor="ctr"/>
          <a:lstStyle/>
          <a:p>
            <a:pPr indent="0" marL="0">
              <a:buNone/>
            </a:pPr>
            <a:endParaRPr lang="en-US" dirty="0"/>
          </a:p>
        </p:txBody>
      </p:sp>
      <p:sp>
        <p:nvSpPr>
          <p:cNvPr id="9" name="Text 7"/>
          <p:cNvSpPr/>
          <p:nvPr/>
        </p:nvSpPr>
        <p:spPr>
          <a:xfrm>
            <a:off x="457200" y="4553471"/>
            <a:ext cx="4572000" cy="132829"/>
          </a:xfrm>
          <a:prstGeom prst="rect">
            <a:avLst/>
          </a:prstGeom>
          <a:noFill/>
          <a:ln/>
        </p:spPr>
        <p:txBody>
          <a:bodyPr wrap="square" lIns="0" tIns="0" rIns="0" bIns="0" rtlCol="0" anchor="t"/>
          <a:lstStyle/>
          <a:p>
            <a:pPr algn="l" indent="0" marL="0">
              <a:lnSpc>
                <a:spcPts val="1046"/>
              </a:lnSpc>
              <a:buNone/>
            </a:pPr>
            <a:r>
              <a:rPr lang="en-US" sz="800" spc="27" kern="0" dirty="0">
                <a:solidFill>
                  <a:srgbClr val="FFFFFF">
                    <a:alpha val="60000"/>
                  </a:srgbClr>
                </a:solidFill>
                <a:latin typeface="Carlito" pitchFamily="34" charset="0"/>
                <a:ea typeface="Carlito" pitchFamily="34" charset="-122"/>
                <a:cs typeface="Carlito" pitchFamily="34" charset="-120"/>
              </a:rPr>
              <a:t>Disusun untuk Akademisi &amp; Peneliti | Edisi 01 | 15 Slide</a:t>
            </a:r>
            <a:endParaRPr lang="en-US" sz="800" dirty="0"/>
          </a:p>
        </p:txBody>
      </p:sp>
      <p:sp>
        <p:nvSpPr>
          <p:cNvPr id="10" name="Text 8"/>
          <p:cNvSpPr/>
          <p:nvPr/>
        </p:nvSpPr>
        <p:spPr>
          <a:xfrm>
            <a:off x="5486400" y="0"/>
            <a:ext cx="3657600" cy="5143500"/>
          </a:xfrm>
          <a:prstGeom prst="rect">
            <a:avLst/>
          </a:prstGeom>
          <a:solidFill>
            <a:srgbClr val="F5F7F8"/>
          </a:solidFill>
          <a:ln/>
        </p:spPr>
        <p:txBody>
          <a:bodyPr wrap="square" rtlCol="0" anchor="ctr"/>
          <a:lstStyle/>
          <a:p>
            <a:pPr indent="0" marL="0">
              <a:buNone/>
            </a:pPr>
            <a:endParaRPr lang="en-US" dirty="0"/>
          </a:p>
        </p:txBody>
      </p:sp>
      <p:sp>
        <p:nvSpPr>
          <p:cNvPr id="11" name="Text 9"/>
          <p:cNvSpPr/>
          <p:nvPr/>
        </p:nvSpPr>
        <p:spPr>
          <a:xfrm>
            <a:off x="8715375" y="0"/>
            <a:ext cx="428625" cy="428625"/>
          </a:xfrm>
          <a:prstGeom prst="rect">
            <a:avLst/>
          </a:prstGeom>
          <a:solidFill>
            <a:srgbClr val="F97316"/>
          </a:solidFill>
          <a:ln/>
        </p:spPr>
        <p:txBody>
          <a:bodyPr wrap="square" rtlCol="0" anchor="ctr"/>
          <a:lstStyle/>
          <a:p>
            <a:pPr indent="0" marL="0">
              <a:buNone/>
            </a:pPr>
            <a:endParaRPr lang="en-US" dirty="0"/>
          </a:p>
        </p:txBody>
      </p:sp>
      <p:sp>
        <p:nvSpPr>
          <p:cNvPr id="12" name="Text 10"/>
          <p:cNvSpPr/>
          <p:nvPr/>
        </p:nvSpPr>
        <p:spPr>
          <a:xfrm>
            <a:off x="7029450" y="2162435"/>
            <a:ext cx="571500" cy="571500"/>
          </a:xfrm>
          <a:prstGeom prst="rect">
            <a:avLst/>
          </a:prstGeom>
          <a:noFill/>
          <a:ln/>
        </p:spPr>
        <p:txBody>
          <a:bodyPr wrap="none" lIns="0" tIns="0" rIns="0" bIns="0" rtlCol="0" anchor="ctr"/>
          <a:lstStyle/>
          <a:p>
            <a:pPr algn="ctr" indent="0" marL="0">
              <a:buNone/>
            </a:pPr>
            <a:r>
              <a:rPr lang="en-US" sz="4800" dirty="0">
                <a:solidFill>
                  <a:srgbClr val="134E4A"/>
                </a:solidFill>
                <a:latin typeface="Segoe UI Symbol" pitchFamily="34" charset="0"/>
                <a:ea typeface="Segoe UI Symbol" pitchFamily="34" charset="-122"/>
                <a:cs typeface="Segoe UI Symbol" pitchFamily="34" charset="-120"/>
              </a:rPr>
              <a:t>▤</a:t>
            </a:r>
            <a:endParaRPr lang="en-US" sz="4800" dirty="0"/>
          </a:p>
        </p:txBody>
      </p:sp>
      <p:sp>
        <p:nvSpPr>
          <p:cNvPr id="13" name="Text 11"/>
          <p:cNvSpPr/>
          <p:nvPr/>
        </p:nvSpPr>
        <p:spPr>
          <a:xfrm>
            <a:off x="6643241" y="2848235"/>
            <a:ext cx="1568894" cy="170021"/>
          </a:xfrm>
          <a:prstGeom prst="rect">
            <a:avLst/>
          </a:prstGeom>
          <a:noFill/>
          <a:ln/>
        </p:spPr>
        <p:txBody>
          <a:bodyPr wrap="none" lIns="0" tIns="0" rIns="0" bIns="0" rtlCol="0" anchor="t"/>
          <a:lstStyle/>
          <a:p>
            <a:pPr algn="l" indent="0" marL="0">
              <a:lnSpc>
                <a:spcPts val="1046"/>
              </a:lnSpc>
              <a:buNone/>
            </a:pPr>
            <a:r>
              <a:rPr lang="en-US" sz="800" spc="54" kern="0" dirty="0">
                <a:solidFill>
                  <a:srgbClr val="64748B"/>
                </a:solidFill>
                <a:latin typeface="Carlito" pitchFamily="34" charset="0"/>
                <a:ea typeface="Carlito" pitchFamily="34" charset="-122"/>
                <a:cs typeface="Carlito" pitchFamily="34" charset="-120"/>
              </a:rPr>
              <a:t>REFERENCE-BASED REVIEW</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8"/>
        </a:solidFill>
      </p:bgPr>
    </p:bg>
    <p:spTree>
      <p:nvGrpSpPr>
        <p:cNvPr id="1" name=""/>
        <p:cNvGrpSpPr/>
        <p:nvPr/>
      </p:nvGrpSpPr>
      <p:grpSpPr>
        <a:xfrm>
          <a:off x="0" y="0"/>
          <a:ext cx="0" cy="0"/>
          <a:chOff x="0" y="0"/>
          <a:chExt cx="0" cy="0"/>
        </a:xfrm>
      </p:grpSpPr>
      <p:sp>
        <p:nvSpPr>
          <p:cNvPr id="2" name="Text 0"/>
          <p:cNvSpPr/>
          <p:nvPr/>
        </p:nvSpPr>
        <p:spPr>
          <a:xfrm>
            <a:off x="457200" y="274351"/>
            <a:ext cx="568040" cy="212777"/>
          </a:xfrm>
          <a:prstGeom prst="roundRect">
            <a:avLst>
              <a:gd name="adj" fmla="val 4472041"/>
            </a:avLst>
          </a:prstGeom>
          <a:solidFill>
            <a:srgbClr val="E0ECEB"/>
          </a:solidFill>
          <a:ln/>
        </p:spPr>
        <p:txBody>
          <a:bodyPr wrap="square" rtlCol="0" anchor="ctr"/>
          <a:lstStyle/>
          <a:p>
            <a:pPr indent="0" marL="0">
              <a:buNone/>
            </a:pPr>
            <a:endParaRPr lang="en-US" dirty="0"/>
          </a:p>
        </p:txBody>
      </p:sp>
      <p:sp>
        <p:nvSpPr>
          <p:cNvPr id="3" name="Text 1"/>
          <p:cNvSpPr/>
          <p:nvPr/>
        </p:nvSpPr>
        <p:spPr>
          <a:xfrm>
            <a:off x="457200" y="285750"/>
            <a:ext cx="568040" cy="189979"/>
          </a:xfrm>
          <a:prstGeom prst="rect">
            <a:avLst/>
          </a:prstGeom>
          <a:noFill/>
          <a:ln/>
        </p:spPr>
        <p:txBody>
          <a:bodyPr wrap="none" lIns="0" tIns="0" rIns="0" bIns="0" rtlCol="0" anchor="ctr"/>
          <a:lstStyle/>
          <a:p>
            <a:pPr algn="ctr" indent="0" marL="0">
              <a:lnSpc>
                <a:spcPts val="1046"/>
              </a:lnSpc>
              <a:buNone/>
            </a:pPr>
            <a:r>
              <a:rPr lang="en-US" sz="800" spc="27" kern="0" dirty="0">
                <a:solidFill>
                  <a:srgbClr val="134E4A"/>
                </a:solidFill>
                <a:latin typeface="Carlito" pitchFamily="34" charset="0"/>
                <a:ea typeface="Carlito" pitchFamily="34" charset="-122"/>
                <a:cs typeface="Carlito" pitchFamily="34" charset="-120"/>
              </a:rPr>
              <a:t>AGENDA</a:t>
            </a:r>
            <a:endParaRPr lang="en-US" sz="800" dirty="0"/>
          </a:p>
        </p:txBody>
      </p:sp>
      <p:sp>
        <p:nvSpPr>
          <p:cNvPr id="4" name="Text 2"/>
          <p:cNvSpPr/>
          <p:nvPr/>
        </p:nvSpPr>
        <p:spPr>
          <a:xfrm>
            <a:off x="1110965" y="303275"/>
            <a:ext cx="1155271" cy="169980"/>
          </a:xfrm>
          <a:prstGeom prst="rect">
            <a:avLst/>
          </a:prstGeom>
          <a:noFill/>
          <a:ln/>
        </p:spPr>
        <p:txBody>
          <a:bodyPr wrap="none" lIns="0" tIns="0" rIns="0" bIns="0" rtlCol="0" anchor="t"/>
          <a:lstStyle/>
          <a:p>
            <a:pPr algn="l" indent="0" marL="0">
              <a:lnSpc>
                <a:spcPts val="1221"/>
              </a:lnSpc>
              <a:buNone/>
            </a:pPr>
            <a:r>
              <a:rPr lang="en-US" sz="800" dirty="0">
                <a:solidFill>
                  <a:srgbClr val="475569"/>
                </a:solidFill>
                <a:latin typeface="Carlito" pitchFamily="34" charset="0"/>
                <a:ea typeface="Carlito" pitchFamily="34" charset="-122"/>
                <a:cs typeface="Carlito" pitchFamily="34" charset="-120"/>
              </a:rPr>
              <a:t>Cakupan Presentasi</a:t>
            </a:r>
            <a:endParaRPr lang="en-US" sz="800" dirty="0"/>
          </a:p>
        </p:txBody>
      </p:sp>
      <p:sp>
        <p:nvSpPr>
          <p:cNvPr id="5" name="Text 3"/>
          <p:cNvSpPr/>
          <p:nvPr/>
        </p:nvSpPr>
        <p:spPr>
          <a:xfrm>
            <a:off x="8279271" y="303275"/>
            <a:ext cx="554239" cy="169980"/>
          </a:xfrm>
          <a:prstGeom prst="rect">
            <a:avLst/>
          </a:prstGeom>
          <a:noFill/>
          <a:ln/>
        </p:spPr>
        <p:txBody>
          <a:bodyPr wrap="none" lIns="0" tIns="0" rIns="0" bIns="0" rtlCol="0" anchor="t"/>
          <a:lstStyle/>
          <a:p>
            <a:pPr algn="l" indent="0" marL="0">
              <a:lnSpc>
                <a:spcPts val="1221"/>
              </a:lnSpc>
              <a:buNone/>
            </a:pPr>
            <a:r>
              <a:rPr lang="en-US" sz="800" spc="-16" kern="0" dirty="0">
                <a:solidFill>
                  <a:srgbClr val="64748B"/>
                </a:solidFill>
                <a:latin typeface="Liberation Sans Narrow" pitchFamily="34" charset="0"/>
                <a:ea typeface="Liberation Sans Narrow" pitchFamily="34" charset="-122"/>
                <a:cs typeface="Liberation Sans Narrow" pitchFamily="34" charset="-120"/>
              </a:rPr>
              <a:t>02 / 18</a:t>
            </a:r>
            <a:endParaRPr lang="en-US" sz="800" dirty="0"/>
          </a:p>
        </p:txBody>
      </p:sp>
      <p:sp>
        <p:nvSpPr>
          <p:cNvPr id="6" name="Shape 4"/>
          <p:cNvSpPr/>
          <p:nvPr/>
        </p:nvSpPr>
        <p:spPr>
          <a:xfrm>
            <a:off x="457200" y="1122908"/>
            <a:ext cx="4444975" cy="0"/>
          </a:xfrm>
          <a:prstGeom prst="line">
            <a:avLst/>
          </a:prstGeom>
          <a:noFill/>
          <a:ln w="7144">
            <a:solidFill>
              <a:srgbClr val="E2E8F0"/>
            </a:solidFill>
            <a:prstDash val="solid"/>
          </a:ln>
        </p:spPr>
      </p:sp>
      <p:sp>
        <p:nvSpPr>
          <p:cNvPr id="7" name="Text 5"/>
          <p:cNvSpPr/>
          <p:nvPr/>
        </p:nvSpPr>
        <p:spPr>
          <a:xfrm>
            <a:off x="457200" y="718617"/>
            <a:ext cx="257175" cy="257175"/>
          </a:xfrm>
          <a:prstGeom prst="roundRect">
            <a:avLst>
              <a:gd name="adj" fmla="val 3700000"/>
            </a:avLst>
          </a:prstGeom>
          <a:solidFill>
            <a:srgbClr val="134E4A"/>
          </a:solidFill>
          <a:ln/>
        </p:spPr>
        <p:txBody>
          <a:bodyPr wrap="square" rtlCol="0" anchor="ctr"/>
          <a:lstStyle/>
          <a:p>
            <a:pPr indent="0" marL="0">
              <a:buNone/>
            </a:pPr>
            <a:endParaRPr lang="en-US" dirty="0"/>
          </a:p>
        </p:txBody>
      </p:sp>
      <p:sp>
        <p:nvSpPr>
          <p:cNvPr id="8" name="Text 6"/>
          <p:cNvSpPr/>
          <p:nvPr/>
        </p:nvSpPr>
        <p:spPr>
          <a:xfrm>
            <a:off x="457200" y="718617"/>
            <a:ext cx="257175" cy="257175"/>
          </a:xfrm>
          <a:prstGeom prst="rect">
            <a:avLst/>
          </a:prstGeom>
          <a:noFill/>
          <a:ln/>
        </p:spPr>
        <p:txBody>
          <a:bodyPr wrap="none" lIns="0" tIns="0" rIns="0" bIns="0" rtlCol="0" anchor="ctr"/>
          <a:lstStyle/>
          <a:p>
            <a:pPr algn="ctr" indent="0" marL="0">
              <a:lnSpc>
                <a:spcPts val="1133"/>
              </a:lnSpc>
              <a:buNone/>
            </a:pPr>
            <a:r>
              <a:rPr lang="en-US" sz="800" spc="15" kern="0" dirty="0">
                <a:solidFill>
                  <a:srgbClr val="FFFFFF"/>
                </a:solidFill>
                <a:latin typeface="Liberation Sans Narrow" pitchFamily="34" charset="0"/>
                <a:ea typeface="Liberation Sans Narrow" pitchFamily="34" charset="-122"/>
                <a:cs typeface="Liberation Sans Narrow" pitchFamily="34" charset="-120"/>
              </a:rPr>
              <a:t>01</a:t>
            </a:r>
            <a:endParaRPr lang="en-US" sz="800" dirty="0"/>
          </a:p>
        </p:txBody>
      </p:sp>
      <p:sp>
        <p:nvSpPr>
          <p:cNvPr id="9" name="Text 7"/>
          <p:cNvSpPr/>
          <p:nvPr/>
        </p:nvSpPr>
        <p:spPr>
          <a:xfrm>
            <a:off x="885825" y="718617"/>
            <a:ext cx="4016350" cy="138660"/>
          </a:xfrm>
          <a:prstGeom prst="rect">
            <a:avLst/>
          </a:prstGeom>
          <a:noFill/>
          <a:ln/>
        </p:spPr>
        <p:txBody>
          <a:bodyPr wrap="none" lIns="0" tIns="0" rIns="0" bIns="0" rtlCol="0" anchor="t">
            <a:normAutofit/>
          </a:bodyPr>
          <a:lstStyle/>
          <a:p>
            <a:pPr algn="l" indent="0" marL="0">
              <a:lnSpc>
                <a:spcPts val="1195"/>
              </a:lnSpc>
              <a:buNone/>
            </a:pPr>
            <a:r>
              <a:rPr lang="en-US" sz="956" dirty="0">
                <a:solidFill>
                  <a:srgbClr val="134E4A"/>
                </a:solidFill>
                <a:latin typeface="Tinos" pitchFamily="34" charset="0"/>
                <a:ea typeface="Tinos" pitchFamily="34" charset="-122"/>
                <a:cs typeface="Tinos" pitchFamily="34" charset="-120"/>
              </a:rPr>
              <a:t>Pengantar SLR &amp; PRISMA</a:t>
            </a:r>
            <a:endParaRPr lang="en-US" sz="956" dirty="0"/>
          </a:p>
        </p:txBody>
      </p:sp>
      <p:sp>
        <p:nvSpPr>
          <p:cNvPr id="10" name="Text 8"/>
          <p:cNvSpPr/>
          <p:nvPr/>
        </p:nvSpPr>
        <p:spPr>
          <a:xfrm>
            <a:off x="885825" y="884709"/>
            <a:ext cx="4016350" cy="134615"/>
          </a:xfrm>
          <a:prstGeom prst="rect">
            <a:avLst/>
          </a:prstGeom>
          <a:noFill/>
          <a:ln/>
        </p:spPr>
        <p:txBody>
          <a:bodyPr wrap="square" lIns="0" tIns="0" rIns="0" bIns="0" rtlCol="0" anchor="t"/>
          <a:lstStyle/>
          <a:p>
            <a:pPr algn="l" indent="0" marL="0">
              <a:lnSpc>
                <a:spcPts val="1060"/>
              </a:lnSpc>
              <a:buNone/>
            </a:pPr>
            <a:r>
              <a:rPr lang="en-US" sz="800" dirty="0">
                <a:solidFill>
                  <a:srgbClr val="475569"/>
                </a:solidFill>
                <a:latin typeface="Carlito" pitchFamily="34" charset="0"/>
                <a:ea typeface="Carlito" pitchFamily="34" charset="-122"/>
                <a:cs typeface="Carlito" pitchFamily="34" charset="-120"/>
              </a:rPr>
              <a:t>Memahami kerangka kerja, sejarah, dan prinsip dasar PRISMA 2020.</a:t>
            </a:r>
            <a:endParaRPr lang="en-US" sz="800" dirty="0"/>
          </a:p>
        </p:txBody>
      </p:sp>
      <p:sp>
        <p:nvSpPr>
          <p:cNvPr id="11" name="Shape 9"/>
          <p:cNvSpPr/>
          <p:nvPr/>
        </p:nvSpPr>
        <p:spPr>
          <a:xfrm>
            <a:off x="457200" y="1630784"/>
            <a:ext cx="4444975" cy="0"/>
          </a:xfrm>
          <a:prstGeom prst="line">
            <a:avLst/>
          </a:prstGeom>
          <a:noFill/>
          <a:ln w="7144">
            <a:solidFill>
              <a:srgbClr val="E2E8F0"/>
            </a:solidFill>
            <a:prstDash val="solid"/>
          </a:ln>
        </p:spPr>
      </p:sp>
      <p:sp>
        <p:nvSpPr>
          <p:cNvPr id="12" name="Text 10"/>
          <p:cNvSpPr/>
          <p:nvPr/>
        </p:nvSpPr>
        <p:spPr>
          <a:xfrm>
            <a:off x="457200" y="1226493"/>
            <a:ext cx="257175" cy="257175"/>
          </a:xfrm>
          <a:prstGeom prst="roundRect">
            <a:avLst>
              <a:gd name="adj" fmla="val 3700000"/>
            </a:avLst>
          </a:prstGeom>
          <a:solidFill>
            <a:srgbClr val="134E4A"/>
          </a:solidFill>
          <a:ln/>
        </p:spPr>
        <p:txBody>
          <a:bodyPr wrap="square" rtlCol="0" anchor="ctr"/>
          <a:lstStyle/>
          <a:p>
            <a:pPr indent="0" marL="0">
              <a:buNone/>
            </a:pPr>
            <a:endParaRPr lang="en-US" dirty="0"/>
          </a:p>
        </p:txBody>
      </p:sp>
      <p:sp>
        <p:nvSpPr>
          <p:cNvPr id="13" name="Text 11"/>
          <p:cNvSpPr/>
          <p:nvPr/>
        </p:nvSpPr>
        <p:spPr>
          <a:xfrm>
            <a:off x="457200" y="1226493"/>
            <a:ext cx="257175" cy="257175"/>
          </a:xfrm>
          <a:prstGeom prst="rect">
            <a:avLst/>
          </a:prstGeom>
          <a:noFill/>
          <a:ln/>
        </p:spPr>
        <p:txBody>
          <a:bodyPr wrap="none" lIns="0" tIns="0" rIns="0" bIns="0" rtlCol="0" anchor="ctr"/>
          <a:lstStyle/>
          <a:p>
            <a:pPr algn="ctr" indent="0" marL="0">
              <a:lnSpc>
                <a:spcPts val="1133"/>
              </a:lnSpc>
              <a:buNone/>
            </a:pPr>
            <a:r>
              <a:rPr lang="en-US" sz="800" spc="15" kern="0" dirty="0">
                <a:solidFill>
                  <a:srgbClr val="FFFFFF"/>
                </a:solidFill>
                <a:latin typeface="Liberation Sans Narrow" pitchFamily="34" charset="0"/>
                <a:ea typeface="Liberation Sans Narrow" pitchFamily="34" charset="-122"/>
                <a:cs typeface="Liberation Sans Narrow" pitchFamily="34" charset="-120"/>
              </a:rPr>
              <a:t>02</a:t>
            </a:r>
            <a:endParaRPr lang="en-US" sz="800" dirty="0"/>
          </a:p>
        </p:txBody>
      </p:sp>
      <p:sp>
        <p:nvSpPr>
          <p:cNvPr id="14" name="Text 12"/>
          <p:cNvSpPr/>
          <p:nvPr/>
        </p:nvSpPr>
        <p:spPr>
          <a:xfrm>
            <a:off x="885825" y="1226493"/>
            <a:ext cx="4016350" cy="138660"/>
          </a:xfrm>
          <a:prstGeom prst="rect">
            <a:avLst/>
          </a:prstGeom>
          <a:noFill/>
          <a:ln/>
        </p:spPr>
        <p:txBody>
          <a:bodyPr wrap="none" lIns="0" tIns="0" rIns="0" bIns="0" rtlCol="0" anchor="t">
            <a:normAutofit/>
          </a:bodyPr>
          <a:lstStyle/>
          <a:p>
            <a:pPr algn="l" indent="0" marL="0">
              <a:lnSpc>
                <a:spcPts val="1195"/>
              </a:lnSpc>
              <a:buNone/>
            </a:pPr>
            <a:r>
              <a:rPr lang="en-US" sz="956" dirty="0">
                <a:solidFill>
                  <a:srgbClr val="134E4A"/>
                </a:solidFill>
                <a:latin typeface="Tinos" pitchFamily="34" charset="0"/>
                <a:ea typeface="Tinos" pitchFamily="34" charset="-122"/>
                <a:cs typeface="Tinos" pitchFamily="34" charset="-120"/>
              </a:rPr>
              <a:t>Persiapan &amp; Perencanaan</a:t>
            </a:r>
            <a:endParaRPr lang="en-US" sz="956" dirty="0"/>
          </a:p>
        </p:txBody>
      </p:sp>
      <p:sp>
        <p:nvSpPr>
          <p:cNvPr id="15" name="Text 13"/>
          <p:cNvSpPr/>
          <p:nvPr/>
        </p:nvSpPr>
        <p:spPr>
          <a:xfrm>
            <a:off x="885825" y="1392585"/>
            <a:ext cx="4016350" cy="134615"/>
          </a:xfrm>
          <a:prstGeom prst="rect">
            <a:avLst/>
          </a:prstGeom>
          <a:noFill/>
          <a:ln/>
        </p:spPr>
        <p:txBody>
          <a:bodyPr wrap="square" lIns="0" tIns="0" rIns="0" bIns="0" rtlCol="0" anchor="t"/>
          <a:lstStyle/>
          <a:p>
            <a:pPr algn="l" indent="0" marL="0">
              <a:lnSpc>
                <a:spcPts val="1060"/>
              </a:lnSpc>
              <a:buNone/>
            </a:pPr>
            <a:r>
              <a:rPr lang="en-US" sz="731" dirty="0">
                <a:solidFill>
                  <a:srgbClr val="475569"/>
                </a:solidFill>
                <a:latin typeface="Carlito" pitchFamily="34" charset="0"/>
                <a:ea typeface="Carlito" pitchFamily="34" charset="-122"/>
                <a:cs typeface="Carlito" pitchFamily="34" charset="-120"/>
              </a:rPr>
              <a:t>Menyusun pertanyaan riset, kriteria inklusi-eksklusi, dan strategi pencarian.</a:t>
            </a:r>
            <a:endParaRPr lang="en-US" sz="731" dirty="0"/>
          </a:p>
        </p:txBody>
      </p:sp>
      <p:sp>
        <p:nvSpPr>
          <p:cNvPr id="16" name="Shape 14"/>
          <p:cNvSpPr/>
          <p:nvPr/>
        </p:nvSpPr>
        <p:spPr>
          <a:xfrm>
            <a:off x="457200" y="2138660"/>
            <a:ext cx="4444975" cy="0"/>
          </a:xfrm>
          <a:prstGeom prst="line">
            <a:avLst/>
          </a:prstGeom>
          <a:noFill/>
          <a:ln w="7144">
            <a:solidFill>
              <a:srgbClr val="E2E8F0"/>
            </a:solidFill>
            <a:prstDash val="solid"/>
          </a:ln>
        </p:spPr>
      </p:sp>
      <p:sp>
        <p:nvSpPr>
          <p:cNvPr id="17" name="Text 15"/>
          <p:cNvSpPr/>
          <p:nvPr/>
        </p:nvSpPr>
        <p:spPr>
          <a:xfrm>
            <a:off x="457200" y="1734369"/>
            <a:ext cx="257175" cy="257175"/>
          </a:xfrm>
          <a:prstGeom prst="roundRect">
            <a:avLst>
              <a:gd name="adj" fmla="val 3700000"/>
            </a:avLst>
          </a:prstGeom>
          <a:solidFill>
            <a:srgbClr val="134E4A"/>
          </a:solidFill>
          <a:ln/>
        </p:spPr>
        <p:txBody>
          <a:bodyPr wrap="square" rtlCol="0" anchor="ctr"/>
          <a:lstStyle/>
          <a:p>
            <a:pPr indent="0" marL="0">
              <a:buNone/>
            </a:pPr>
            <a:endParaRPr lang="en-US" dirty="0"/>
          </a:p>
        </p:txBody>
      </p:sp>
      <p:sp>
        <p:nvSpPr>
          <p:cNvPr id="18" name="Text 16"/>
          <p:cNvSpPr/>
          <p:nvPr/>
        </p:nvSpPr>
        <p:spPr>
          <a:xfrm>
            <a:off x="457200" y="1734369"/>
            <a:ext cx="257175" cy="257175"/>
          </a:xfrm>
          <a:prstGeom prst="rect">
            <a:avLst/>
          </a:prstGeom>
          <a:noFill/>
          <a:ln/>
        </p:spPr>
        <p:txBody>
          <a:bodyPr wrap="none" lIns="0" tIns="0" rIns="0" bIns="0" rtlCol="0" anchor="ctr"/>
          <a:lstStyle/>
          <a:p>
            <a:pPr algn="ctr" indent="0" marL="0">
              <a:lnSpc>
                <a:spcPts val="1133"/>
              </a:lnSpc>
              <a:buNone/>
            </a:pPr>
            <a:r>
              <a:rPr lang="en-US" sz="800" spc="15" kern="0" dirty="0">
                <a:solidFill>
                  <a:srgbClr val="FFFFFF"/>
                </a:solidFill>
                <a:latin typeface="Liberation Sans Narrow" pitchFamily="34" charset="0"/>
                <a:ea typeface="Liberation Sans Narrow" pitchFamily="34" charset="-122"/>
                <a:cs typeface="Liberation Sans Narrow" pitchFamily="34" charset="-120"/>
              </a:rPr>
              <a:t>03</a:t>
            </a:r>
            <a:endParaRPr lang="en-US" sz="800" dirty="0"/>
          </a:p>
        </p:txBody>
      </p:sp>
      <p:sp>
        <p:nvSpPr>
          <p:cNvPr id="19" name="Text 17"/>
          <p:cNvSpPr/>
          <p:nvPr/>
        </p:nvSpPr>
        <p:spPr>
          <a:xfrm>
            <a:off x="885825" y="1734369"/>
            <a:ext cx="4016350" cy="138660"/>
          </a:xfrm>
          <a:prstGeom prst="rect">
            <a:avLst/>
          </a:prstGeom>
          <a:noFill/>
          <a:ln/>
        </p:spPr>
        <p:txBody>
          <a:bodyPr wrap="none" lIns="0" tIns="0" rIns="0" bIns="0" rtlCol="0" anchor="t">
            <a:normAutofit/>
          </a:bodyPr>
          <a:lstStyle/>
          <a:p>
            <a:pPr algn="l" indent="0" marL="0">
              <a:lnSpc>
                <a:spcPts val="1195"/>
              </a:lnSpc>
              <a:buNone/>
            </a:pPr>
            <a:r>
              <a:rPr lang="en-US" sz="956" dirty="0">
                <a:solidFill>
                  <a:srgbClr val="134E4A"/>
                </a:solidFill>
                <a:latin typeface="Tinos" pitchFamily="34" charset="0"/>
                <a:ea typeface="Tinos" pitchFamily="34" charset="-122"/>
                <a:cs typeface="Tinos" pitchFamily="34" charset="-120"/>
              </a:rPr>
              <a:t>Pelaksanaan &amp; Pelaporan</a:t>
            </a:r>
            <a:endParaRPr lang="en-US" sz="956" dirty="0"/>
          </a:p>
        </p:txBody>
      </p:sp>
      <p:sp>
        <p:nvSpPr>
          <p:cNvPr id="20" name="Text 18"/>
          <p:cNvSpPr/>
          <p:nvPr/>
        </p:nvSpPr>
        <p:spPr>
          <a:xfrm>
            <a:off x="885825" y="1900461"/>
            <a:ext cx="4016350" cy="134615"/>
          </a:xfrm>
          <a:prstGeom prst="rect">
            <a:avLst/>
          </a:prstGeom>
          <a:noFill/>
          <a:ln/>
        </p:spPr>
        <p:txBody>
          <a:bodyPr wrap="square" lIns="0" tIns="0" rIns="0" bIns="0" rtlCol="0" anchor="t"/>
          <a:lstStyle/>
          <a:p>
            <a:pPr algn="l" indent="0" marL="0">
              <a:lnSpc>
                <a:spcPts val="1060"/>
              </a:lnSpc>
              <a:buNone/>
            </a:pPr>
            <a:r>
              <a:rPr lang="en-US" sz="731" dirty="0">
                <a:solidFill>
                  <a:srgbClr val="475569"/>
                </a:solidFill>
                <a:latin typeface="Carlito" pitchFamily="34" charset="0"/>
                <a:ea typeface="Carlito" pitchFamily="34" charset="-122"/>
                <a:cs typeface="Carlito" pitchFamily="34" charset="-120"/>
              </a:rPr>
              <a:t>Diagram alur PRISMA, screening, quality assessment, dan checklist 27 item.</a:t>
            </a:r>
            <a:endParaRPr lang="en-US" sz="731" dirty="0"/>
          </a:p>
        </p:txBody>
      </p:sp>
      <p:sp>
        <p:nvSpPr>
          <p:cNvPr id="21" name="Text 19"/>
          <p:cNvSpPr/>
          <p:nvPr/>
        </p:nvSpPr>
        <p:spPr>
          <a:xfrm>
            <a:off x="457200" y="2242245"/>
            <a:ext cx="257175" cy="257175"/>
          </a:xfrm>
          <a:prstGeom prst="roundRect">
            <a:avLst>
              <a:gd name="adj" fmla="val 3700000"/>
            </a:avLst>
          </a:prstGeom>
          <a:solidFill>
            <a:srgbClr val="134E4A"/>
          </a:solidFill>
          <a:ln/>
        </p:spPr>
        <p:txBody>
          <a:bodyPr wrap="square" rtlCol="0" anchor="ctr"/>
          <a:lstStyle/>
          <a:p>
            <a:pPr indent="0" marL="0">
              <a:buNone/>
            </a:pPr>
            <a:endParaRPr lang="en-US" dirty="0"/>
          </a:p>
        </p:txBody>
      </p:sp>
      <p:sp>
        <p:nvSpPr>
          <p:cNvPr id="22" name="Text 20"/>
          <p:cNvSpPr/>
          <p:nvPr/>
        </p:nvSpPr>
        <p:spPr>
          <a:xfrm>
            <a:off x="457200" y="2242245"/>
            <a:ext cx="257175" cy="257175"/>
          </a:xfrm>
          <a:prstGeom prst="rect">
            <a:avLst/>
          </a:prstGeom>
          <a:noFill/>
          <a:ln/>
        </p:spPr>
        <p:txBody>
          <a:bodyPr wrap="none" lIns="0" tIns="0" rIns="0" bIns="0" rtlCol="0" anchor="ctr"/>
          <a:lstStyle/>
          <a:p>
            <a:pPr algn="ctr" indent="0" marL="0">
              <a:lnSpc>
                <a:spcPts val="1133"/>
              </a:lnSpc>
              <a:buNone/>
            </a:pPr>
            <a:r>
              <a:rPr lang="en-US" sz="800" spc="15" kern="0" dirty="0">
                <a:solidFill>
                  <a:srgbClr val="FFFFFF"/>
                </a:solidFill>
                <a:latin typeface="Liberation Sans Narrow" pitchFamily="34" charset="0"/>
                <a:ea typeface="Liberation Sans Narrow" pitchFamily="34" charset="-122"/>
                <a:cs typeface="Liberation Sans Narrow" pitchFamily="34" charset="-120"/>
              </a:rPr>
              <a:t>04</a:t>
            </a:r>
            <a:endParaRPr lang="en-US" sz="800" dirty="0"/>
          </a:p>
        </p:txBody>
      </p:sp>
      <p:sp>
        <p:nvSpPr>
          <p:cNvPr id="23" name="Text 21"/>
          <p:cNvSpPr/>
          <p:nvPr/>
        </p:nvSpPr>
        <p:spPr>
          <a:xfrm>
            <a:off x="885825" y="2242245"/>
            <a:ext cx="5140928" cy="138660"/>
          </a:xfrm>
          <a:prstGeom prst="rect">
            <a:avLst/>
          </a:prstGeom>
          <a:noFill/>
          <a:ln/>
        </p:spPr>
        <p:txBody>
          <a:bodyPr wrap="none" lIns="0" tIns="0" rIns="0" bIns="0" rtlCol="0" anchor="t">
            <a:normAutofit/>
          </a:bodyPr>
          <a:lstStyle/>
          <a:p>
            <a:pPr algn="l" indent="0" marL="0">
              <a:lnSpc>
                <a:spcPts val="1195"/>
              </a:lnSpc>
              <a:buNone/>
            </a:pPr>
            <a:r>
              <a:rPr lang="en-US" sz="956" dirty="0">
                <a:solidFill>
                  <a:srgbClr val="134E4A"/>
                </a:solidFill>
                <a:latin typeface="Tinos" pitchFamily="34" charset="0"/>
                <a:ea typeface="Tinos" pitchFamily="34" charset="-122"/>
                <a:cs typeface="Tinos" pitchFamily="34" charset="-120"/>
              </a:rPr>
              <a:t>Penutup</a:t>
            </a:r>
            <a:endParaRPr lang="en-US" sz="956" dirty="0"/>
          </a:p>
        </p:txBody>
      </p:sp>
      <p:sp>
        <p:nvSpPr>
          <p:cNvPr id="24" name="Text 22"/>
          <p:cNvSpPr/>
          <p:nvPr/>
        </p:nvSpPr>
        <p:spPr>
          <a:xfrm>
            <a:off x="885825" y="2408337"/>
            <a:ext cx="4337658" cy="159053"/>
          </a:xfrm>
          <a:prstGeom prst="rect">
            <a:avLst/>
          </a:prstGeom>
          <a:noFill/>
          <a:ln/>
        </p:spPr>
        <p:txBody>
          <a:bodyPr wrap="square" lIns="0" tIns="0" rIns="0" bIns="0" rtlCol="0" anchor="t"/>
          <a:lstStyle/>
          <a:p>
            <a:pPr algn="l" indent="0" marL="0">
              <a:lnSpc>
                <a:spcPts val="1060"/>
              </a:lnSpc>
              <a:buNone/>
            </a:pPr>
            <a:r>
              <a:rPr lang="en-US" sz="800" dirty="0">
                <a:solidFill>
                  <a:srgbClr val="475569"/>
                </a:solidFill>
                <a:latin typeface="Carlito" pitchFamily="34" charset="0"/>
                <a:ea typeface="Carlito" pitchFamily="34" charset="-122"/>
                <a:cs typeface="Carlito" pitchFamily="34" charset="-120"/>
              </a:rPr>
              <a:t>Contoh penerapan nyata dan rangkuman takeaways.</a:t>
            </a:r>
            <a:endParaRPr lang="en-US" sz="800" dirty="0"/>
          </a:p>
        </p:txBody>
      </p:sp>
      <p:sp>
        <p:nvSpPr>
          <p:cNvPr id="25" name="Text 23"/>
          <p:cNvSpPr/>
          <p:nvPr/>
        </p:nvSpPr>
        <p:spPr>
          <a:xfrm>
            <a:off x="5130775" y="618604"/>
            <a:ext cx="3556025" cy="4013448"/>
          </a:xfrm>
          <a:prstGeom prst="roundRect">
            <a:avLst>
              <a:gd name="adj" fmla="val 3214"/>
            </a:avLst>
          </a:prstGeom>
          <a:solidFill>
            <a:srgbClr val="E0ECEB"/>
          </a:solidFill>
          <a:ln/>
        </p:spPr>
        <p:txBody>
          <a:bodyPr wrap="square" rtlCol="0" anchor="ctr"/>
          <a:lstStyle/>
          <a:p>
            <a:pPr indent="0" marL="0">
              <a:buNone/>
            </a:pPr>
            <a:endParaRPr lang="en-US" dirty="0"/>
          </a:p>
        </p:txBody>
      </p:sp>
      <p:sp>
        <p:nvSpPr>
          <p:cNvPr id="26" name="Shape 24"/>
          <p:cNvSpPr/>
          <p:nvPr/>
        </p:nvSpPr>
        <p:spPr>
          <a:xfrm>
            <a:off x="5145063" y="618604"/>
            <a:ext cx="0" cy="4013448"/>
          </a:xfrm>
          <a:prstGeom prst="line">
            <a:avLst/>
          </a:prstGeom>
          <a:noFill/>
          <a:ln w="28575">
            <a:solidFill>
              <a:srgbClr val="F97316"/>
            </a:solidFill>
            <a:prstDash val="solid"/>
          </a:ln>
        </p:spPr>
      </p:sp>
      <p:sp>
        <p:nvSpPr>
          <p:cNvPr id="27" name="Text 25"/>
          <p:cNvSpPr/>
          <p:nvPr/>
        </p:nvSpPr>
        <p:spPr>
          <a:xfrm>
            <a:off x="5307940" y="764368"/>
            <a:ext cx="1310387" cy="212777"/>
          </a:xfrm>
          <a:prstGeom prst="roundRect">
            <a:avLst>
              <a:gd name="adj" fmla="val 4472041"/>
            </a:avLst>
          </a:prstGeom>
          <a:solidFill>
            <a:srgbClr val="FFF1E6"/>
          </a:solidFill>
          <a:ln/>
        </p:spPr>
        <p:txBody>
          <a:bodyPr wrap="square" rtlCol="0" anchor="ctr"/>
          <a:lstStyle/>
          <a:p>
            <a:pPr indent="0" marL="0">
              <a:buNone/>
            </a:pPr>
            <a:endParaRPr lang="en-US" dirty="0"/>
          </a:p>
        </p:txBody>
      </p:sp>
      <p:sp>
        <p:nvSpPr>
          <p:cNvPr id="28" name="Text 26"/>
          <p:cNvSpPr/>
          <p:nvPr/>
        </p:nvSpPr>
        <p:spPr>
          <a:xfrm>
            <a:off x="5330800" y="775767"/>
            <a:ext cx="1264667" cy="189979"/>
          </a:xfrm>
          <a:prstGeom prst="rect">
            <a:avLst/>
          </a:prstGeom>
          <a:noFill/>
          <a:ln/>
        </p:spPr>
        <p:txBody>
          <a:bodyPr wrap="none" lIns="0" tIns="0" rIns="0" bIns="0" rtlCol="0" anchor="ctr"/>
          <a:lstStyle/>
          <a:p>
            <a:pPr algn="ctr" indent="0" marL="0">
              <a:lnSpc>
                <a:spcPts val="1046"/>
              </a:lnSpc>
              <a:buNone/>
            </a:pPr>
            <a:r>
              <a:rPr lang="en-US" sz="800" spc="27" kern="0" dirty="0">
                <a:solidFill>
                  <a:srgbClr val="EA680C"/>
                </a:solidFill>
                <a:latin typeface="Carlito" pitchFamily="34" charset="0"/>
                <a:ea typeface="Carlito" pitchFamily="34" charset="-122"/>
                <a:cs typeface="Carlito" pitchFamily="34" charset="-120"/>
              </a:rPr>
              <a:t>LEARNING OUTCOMES</a:t>
            </a:r>
            <a:endParaRPr lang="en-US" sz="800" dirty="0"/>
          </a:p>
        </p:txBody>
      </p:sp>
      <p:sp>
        <p:nvSpPr>
          <p:cNvPr id="29" name="Text 27"/>
          <p:cNvSpPr/>
          <p:nvPr/>
        </p:nvSpPr>
        <p:spPr>
          <a:xfrm>
            <a:off x="5330800" y="1051471"/>
            <a:ext cx="3184550" cy="154305"/>
          </a:xfrm>
          <a:prstGeom prst="rect">
            <a:avLst/>
          </a:prstGeom>
          <a:noFill/>
          <a:ln/>
        </p:spPr>
        <p:txBody>
          <a:bodyPr wrap="none" lIns="0" tIns="0" rIns="0" bIns="0" rtlCol="0" anchor="t"/>
          <a:lstStyle/>
          <a:p>
            <a:pPr algn="l" indent="0" marL="0">
              <a:lnSpc>
                <a:spcPts val="1125"/>
              </a:lnSpc>
              <a:buNone/>
            </a:pPr>
            <a:r>
              <a:rPr lang="en-US" sz="900" dirty="0">
                <a:solidFill>
                  <a:srgbClr val="134E4A"/>
                </a:solidFill>
                <a:latin typeface="Tinos" pitchFamily="34" charset="0"/>
                <a:ea typeface="Tinos" pitchFamily="34" charset="-122"/>
                <a:cs typeface="Tinos" pitchFamily="34" charset="-120"/>
              </a:rPr>
              <a:t>Capaian Pembelajaran</a:t>
            </a:r>
            <a:endParaRPr lang="en-US" sz="900" dirty="0"/>
          </a:p>
        </p:txBody>
      </p:sp>
      <p:sp>
        <p:nvSpPr>
          <p:cNvPr id="30" name="Text 28"/>
          <p:cNvSpPr/>
          <p:nvPr/>
        </p:nvSpPr>
        <p:spPr>
          <a:xfrm>
            <a:off x="5330800" y="1308646"/>
            <a:ext cx="128588" cy="128588"/>
          </a:xfrm>
          <a:prstGeom prst="rect">
            <a:avLst/>
          </a:prstGeom>
          <a:noFill/>
          <a:ln/>
        </p:spPr>
        <p:txBody>
          <a:bodyPr wrap="none" lIns="0" tIns="0" rIns="0" bIns="0" rtlCol="0" anchor="ctr"/>
          <a:lstStyle/>
          <a:p>
            <a:pPr algn="ctr" indent="0" marL="0">
              <a:buNone/>
            </a:pPr>
            <a:r>
              <a:rPr lang="en-US" sz="1266" dirty="0">
                <a:solidFill>
                  <a:srgbClr val="F97316"/>
                </a:solidFill>
                <a:latin typeface="Segoe UI Symbol" pitchFamily="34" charset="0"/>
                <a:ea typeface="Segoe UI Symbol" pitchFamily="34" charset="-122"/>
                <a:cs typeface="Segoe UI Symbol" pitchFamily="34" charset="-120"/>
              </a:rPr>
              <a:t>✓</a:t>
            </a:r>
            <a:endParaRPr lang="en-US" sz="1266" dirty="0"/>
          </a:p>
        </p:txBody>
      </p:sp>
      <p:sp>
        <p:nvSpPr>
          <p:cNvPr id="31" name="Text 29"/>
          <p:cNvSpPr/>
          <p:nvPr/>
        </p:nvSpPr>
        <p:spPr>
          <a:xfrm>
            <a:off x="5530825" y="1308646"/>
            <a:ext cx="2984525" cy="164592"/>
          </a:xfrm>
          <a:prstGeom prst="rect">
            <a:avLst/>
          </a:prstGeom>
          <a:noFill/>
          <a:ln/>
        </p:spPr>
        <p:txBody>
          <a:bodyPr wrap="square" lIns="0" tIns="0" rIns="0" bIns="0" rtlCol="0" anchor="t"/>
          <a:lstStyle/>
          <a:p>
            <a:pPr algn="l" indent="0" marL="0">
              <a:lnSpc>
                <a:spcPts val="1139"/>
              </a:lnSpc>
              <a:buNone/>
            </a:pPr>
            <a:r>
              <a:rPr lang="en-US" sz="800" dirty="0">
                <a:solidFill>
                  <a:srgbClr val="0F172A"/>
                </a:solidFill>
                <a:latin typeface="Carlito" pitchFamily="34" charset="0"/>
                <a:ea typeface="Carlito" pitchFamily="34" charset="-122"/>
                <a:cs typeface="Carlito" pitchFamily="34" charset="-120"/>
              </a:rPr>
              <a:t>Memahami tahapan formal SLR mengikuti PRISMA 2020.</a:t>
            </a:r>
            <a:endParaRPr lang="en-US" sz="800" dirty="0"/>
          </a:p>
        </p:txBody>
      </p:sp>
      <p:sp>
        <p:nvSpPr>
          <p:cNvPr id="32" name="Text 30"/>
          <p:cNvSpPr/>
          <p:nvPr/>
        </p:nvSpPr>
        <p:spPr>
          <a:xfrm>
            <a:off x="5330800" y="1567607"/>
            <a:ext cx="128588" cy="128588"/>
          </a:xfrm>
          <a:prstGeom prst="rect">
            <a:avLst/>
          </a:prstGeom>
          <a:noFill/>
          <a:ln/>
        </p:spPr>
        <p:txBody>
          <a:bodyPr wrap="none" lIns="0" tIns="0" rIns="0" bIns="0" rtlCol="0" anchor="ctr"/>
          <a:lstStyle/>
          <a:p>
            <a:pPr algn="ctr" indent="0" marL="0">
              <a:buNone/>
            </a:pPr>
            <a:r>
              <a:rPr lang="en-US" sz="1266" dirty="0">
                <a:solidFill>
                  <a:srgbClr val="F97316"/>
                </a:solidFill>
                <a:latin typeface="Segoe UI Symbol" pitchFamily="34" charset="0"/>
                <a:ea typeface="Segoe UI Symbol" pitchFamily="34" charset="-122"/>
                <a:cs typeface="Segoe UI Symbol" pitchFamily="34" charset="-120"/>
              </a:rPr>
              <a:t>✓</a:t>
            </a:r>
            <a:endParaRPr lang="en-US" sz="1266" dirty="0"/>
          </a:p>
        </p:txBody>
      </p:sp>
      <p:sp>
        <p:nvSpPr>
          <p:cNvPr id="33" name="Text 31"/>
          <p:cNvSpPr/>
          <p:nvPr/>
        </p:nvSpPr>
        <p:spPr>
          <a:xfrm>
            <a:off x="5530825" y="1567607"/>
            <a:ext cx="2984525" cy="164592"/>
          </a:xfrm>
          <a:prstGeom prst="rect">
            <a:avLst/>
          </a:prstGeom>
          <a:noFill/>
          <a:ln/>
        </p:spPr>
        <p:txBody>
          <a:bodyPr wrap="square" lIns="0" tIns="0" rIns="0" bIns="0" rtlCol="0" anchor="t"/>
          <a:lstStyle/>
          <a:p>
            <a:pPr algn="l" indent="0" marL="0">
              <a:lnSpc>
                <a:spcPts val="1139"/>
              </a:lnSpc>
              <a:buNone/>
            </a:pPr>
            <a:r>
              <a:rPr lang="en-US" sz="759" dirty="0">
                <a:solidFill>
                  <a:srgbClr val="0F172A"/>
                </a:solidFill>
                <a:latin typeface="Carlito" pitchFamily="34" charset="0"/>
                <a:ea typeface="Carlito" pitchFamily="34" charset="-122"/>
                <a:cs typeface="Carlito" pitchFamily="34" charset="-120"/>
              </a:rPr>
              <a:t>Menyusun pertanyaan riset dengan framework PICO/PICOC.</a:t>
            </a:r>
            <a:endParaRPr lang="en-US" sz="759" dirty="0"/>
          </a:p>
        </p:txBody>
      </p:sp>
      <p:sp>
        <p:nvSpPr>
          <p:cNvPr id="34" name="Text 32"/>
          <p:cNvSpPr/>
          <p:nvPr/>
        </p:nvSpPr>
        <p:spPr>
          <a:xfrm>
            <a:off x="5330800" y="1826568"/>
            <a:ext cx="128588" cy="128588"/>
          </a:xfrm>
          <a:prstGeom prst="rect">
            <a:avLst/>
          </a:prstGeom>
          <a:noFill/>
          <a:ln/>
        </p:spPr>
        <p:txBody>
          <a:bodyPr wrap="none" lIns="0" tIns="0" rIns="0" bIns="0" rtlCol="0" anchor="ctr"/>
          <a:lstStyle/>
          <a:p>
            <a:pPr algn="ctr" indent="0" marL="0">
              <a:buNone/>
            </a:pPr>
            <a:r>
              <a:rPr lang="en-US" sz="1266" dirty="0">
                <a:solidFill>
                  <a:srgbClr val="F97316"/>
                </a:solidFill>
                <a:latin typeface="Segoe UI Symbol" pitchFamily="34" charset="0"/>
                <a:ea typeface="Segoe UI Symbol" pitchFamily="34" charset="-122"/>
                <a:cs typeface="Segoe UI Symbol" pitchFamily="34" charset="-120"/>
              </a:rPr>
              <a:t>✓</a:t>
            </a:r>
            <a:endParaRPr lang="en-US" sz="1266" dirty="0"/>
          </a:p>
        </p:txBody>
      </p:sp>
      <p:sp>
        <p:nvSpPr>
          <p:cNvPr id="35" name="Text 33"/>
          <p:cNvSpPr/>
          <p:nvPr/>
        </p:nvSpPr>
        <p:spPr>
          <a:xfrm>
            <a:off x="5530825" y="1826568"/>
            <a:ext cx="2984525" cy="329184"/>
          </a:xfrm>
          <a:prstGeom prst="rect">
            <a:avLst/>
          </a:prstGeom>
          <a:noFill/>
          <a:ln/>
        </p:spPr>
        <p:txBody>
          <a:bodyPr wrap="square" lIns="0" tIns="0" rIns="0" bIns="0" rtlCol="0" anchor="t"/>
          <a:lstStyle/>
          <a:p>
            <a:pPr algn="l" indent="0" marL="0">
              <a:lnSpc>
                <a:spcPts val="1139"/>
              </a:lnSpc>
              <a:buNone/>
            </a:pPr>
            <a:r>
              <a:rPr lang="en-US" sz="800" dirty="0">
                <a:solidFill>
                  <a:srgbClr val="0F172A"/>
                </a:solidFill>
                <a:latin typeface="Carlito" pitchFamily="34" charset="0"/>
                <a:ea typeface="Carlito" pitchFamily="34" charset="-122"/>
                <a:cs typeface="Carlito" pitchFamily="34" charset="-120"/>
              </a:rPr>
              <a:t>Mengidentifikasi database dan strategi boolean search yang relevan.</a:t>
            </a:r>
            <a:endParaRPr lang="en-US" sz="800" dirty="0"/>
          </a:p>
        </p:txBody>
      </p:sp>
      <p:sp>
        <p:nvSpPr>
          <p:cNvPr id="36" name="Text 34"/>
          <p:cNvSpPr/>
          <p:nvPr/>
        </p:nvSpPr>
        <p:spPr>
          <a:xfrm>
            <a:off x="5330800" y="2230189"/>
            <a:ext cx="128588" cy="128588"/>
          </a:xfrm>
          <a:prstGeom prst="rect">
            <a:avLst/>
          </a:prstGeom>
          <a:noFill/>
          <a:ln/>
        </p:spPr>
        <p:txBody>
          <a:bodyPr wrap="none" lIns="0" tIns="0" rIns="0" bIns="0" rtlCol="0" anchor="ctr"/>
          <a:lstStyle/>
          <a:p>
            <a:pPr algn="ctr" indent="0" marL="0">
              <a:buNone/>
            </a:pPr>
            <a:r>
              <a:rPr lang="en-US" sz="1266" dirty="0">
                <a:solidFill>
                  <a:srgbClr val="F97316"/>
                </a:solidFill>
                <a:latin typeface="Segoe UI Symbol" pitchFamily="34" charset="0"/>
                <a:ea typeface="Segoe UI Symbol" pitchFamily="34" charset="-122"/>
                <a:cs typeface="Segoe UI Symbol" pitchFamily="34" charset="-120"/>
              </a:rPr>
              <a:t>✓</a:t>
            </a:r>
            <a:endParaRPr lang="en-US" sz="1266" dirty="0"/>
          </a:p>
        </p:txBody>
      </p:sp>
      <p:sp>
        <p:nvSpPr>
          <p:cNvPr id="37" name="Text 35"/>
          <p:cNvSpPr/>
          <p:nvPr/>
        </p:nvSpPr>
        <p:spPr>
          <a:xfrm>
            <a:off x="5530825" y="2230189"/>
            <a:ext cx="2984525" cy="164592"/>
          </a:xfrm>
          <a:prstGeom prst="rect">
            <a:avLst/>
          </a:prstGeom>
          <a:noFill/>
          <a:ln/>
        </p:spPr>
        <p:txBody>
          <a:bodyPr wrap="square" lIns="0" tIns="0" rIns="0" bIns="0" rtlCol="0" anchor="t"/>
          <a:lstStyle/>
          <a:p>
            <a:pPr algn="l" indent="0" marL="0">
              <a:lnSpc>
                <a:spcPts val="1139"/>
              </a:lnSpc>
              <a:buNone/>
            </a:pPr>
            <a:r>
              <a:rPr lang="en-US" sz="759" dirty="0">
                <a:solidFill>
                  <a:srgbClr val="0F172A"/>
                </a:solidFill>
                <a:latin typeface="Carlito" pitchFamily="34" charset="0"/>
                <a:ea typeface="Carlito" pitchFamily="34" charset="-122"/>
                <a:cs typeface="Carlito" pitchFamily="34" charset="-120"/>
              </a:rPr>
              <a:t>Menyusun diagram alur PRISMA dan checklist pelaporan.</a:t>
            </a:r>
            <a:endParaRPr lang="en-US" sz="759" dirty="0"/>
          </a:p>
        </p:txBody>
      </p:sp>
      <p:sp>
        <p:nvSpPr>
          <p:cNvPr id="38" name="Text 36"/>
          <p:cNvSpPr/>
          <p:nvPr/>
        </p:nvSpPr>
        <p:spPr>
          <a:xfrm>
            <a:off x="457200" y="4746352"/>
            <a:ext cx="8229600" cy="7144"/>
          </a:xfrm>
          <a:prstGeom prst="rect">
            <a:avLst/>
          </a:prstGeom>
          <a:solidFill>
            <a:srgbClr val="E2E8F0"/>
          </a:solidFill>
          <a:ln/>
        </p:spPr>
        <p:txBody>
          <a:bodyPr wrap="square" rtlCol="0" anchor="ctr"/>
          <a:lstStyle/>
          <a:p>
            <a:pPr indent="0" marL="0">
              <a:buNone/>
            </a:pPr>
            <a:endParaRPr lang="en-US" dirty="0"/>
          </a:p>
        </p:txBody>
      </p:sp>
      <p:sp>
        <p:nvSpPr>
          <p:cNvPr id="39" name="Text 37"/>
          <p:cNvSpPr/>
          <p:nvPr/>
        </p:nvSpPr>
        <p:spPr>
          <a:xfrm>
            <a:off x="128016" y="4839221"/>
            <a:ext cx="8636000" cy="170021"/>
          </a:xfrm>
          <a:prstGeom prst="rect">
            <a:avLst/>
          </a:prstGeom>
          <a:noFill/>
          <a:ln/>
        </p:spPr>
        <p:txBody>
          <a:bodyPr wrap="square" lIns="0" tIns="0" rIns="0" bIns="0" rtlCol="0" anchor="t"/>
          <a:lstStyle/>
          <a:p>
            <a:pPr algn="ctr" indent="0" marL="0">
              <a:lnSpc>
                <a:spcPts val="1046"/>
              </a:lnSpc>
              <a:buNone/>
            </a:pPr>
            <a:r>
              <a:rPr lang="en-US" sz="800" spc="41" kern="0" dirty="0">
                <a:solidFill>
                  <a:srgbClr val="64748B"/>
                </a:solidFill>
                <a:latin typeface="Carlito" pitchFamily="34" charset="0"/>
                <a:ea typeface="Carlito" pitchFamily="34" charset="-122"/>
                <a:cs typeface="Carlito" pitchFamily="34" charset="-120"/>
              </a:rPr>
              <a:t>Panduan Akademik · 15 Slide · ±25 Menit</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34E4A"/>
        </a:solidFill>
      </p:bgPr>
    </p:bg>
    <p:spTree>
      <p:nvGrpSpPr>
        <p:cNvPr id="1" name=""/>
        <p:cNvGrpSpPr/>
        <p:nvPr/>
      </p:nvGrpSpPr>
      <p:grpSpPr>
        <a:xfrm>
          <a:off x="0" y="0"/>
          <a:ext cx="0" cy="0"/>
          <a:chOff x="0" y="0"/>
          <a:chExt cx="0" cy="0"/>
        </a:xfrm>
      </p:grpSpPr>
      <p:sp>
        <p:nvSpPr>
          <p:cNvPr id="2" name="Text 0"/>
          <p:cNvSpPr/>
          <p:nvPr/>
        </p:nvSpPr>
        <p:spPr>
          <a:xfrm>
            <a:off x="457200" y="457200"/>
            <a:ext cx="1097271" cy="169980"/>
          </a:xfrm>
          <a:prstGeom prst="rect">
            <a:avLst/>
          </a:prstGeom>
          <a:noFill/>
          <a:ln/>
        </p:spPr>
        <p:txBody>
          <a:bodyPr wrap="none" lIns="0" tIns="0" rIns="0" bIns="0" rtlCol="0" anchor="t"/>
          <a:lstStyle/>
          <a:p>
            <a:pPr algn="l" indent="0" marL="0">
              <a:lnSpc>
                <a:spcPts val="1221"/>
              </a:lnSpc>
              <a:buNone/>
            </a:pPr>
            <a:r>
              <a:rPr lang="en-US" sz="800" spc="126" kern="0" dirty="0">
                <a:solidFill>
                  <a:srgbClr val="F97316"/>
                </a:solidFill>
                <a:latin typeface="Liberation Sans Narrow" pitchFamily="34" charset="0"/>
                <a:ea typeface="Liberation Sans Narrow" pitchFamily="34" charset="-122"/>
                <a:cs typeface="Liberation Sans Narrow" pitchFamily="34" charset="-120"/>
              </a:rPr>
              <a:t>BAB 01 / 04</a:t>
            </a:r>
            <a:endParaRPr lang="en-US" sz="800" dirty="0"/>
          </a:p>
        </p:txBody>
      </p:sp>
      <p:sp>
        <p:nvSpPr>
          <p:cNvPr id="3" name="Text 1"/>
          <p:cNvSpPr/>
          <p:nvPr/>
        </p:nvSpPr>
        <p:spPr>
          <a:xfrm>
            <a:off x="457200" y="1895996"/>
            <a:ext cx="8636000" cy="610951"/>
          </a:xfrm>
          <a:prstGeom prst="rect">
            <a:avLst/>
          </a:prstGeom>
          <a:noFill/>
          <a:ln/>
        </p:spPr>
        <p:txBody>
          <a:bodyPr wrap="none" lIns="0" tIns="0" rIns="0" bIns="0" rtlCol="0" anchor="t"/>
          <a:lstStyle/>
          <a:p>
            <a:pPr algn="l" indent="0" marL="0">
              <a:lnSpc>
                <a:spcPts val="4455"/>
              </a:lnSpc>
              <a:buNone/>
            </a:pPr>
            <a:r>
              <a:rPr lang="en-US" sz="4050" spc="-61" kern="0" dirty="0">
                <a:solidFill>
                  <a:srgbClr val="FFFFFF"/>
                </a:solidFill>
                <a:latin typeface="Tinos" pitchFamily="34" charset="0"/>
                <a:ea typeface="Tinos" pitchFamily="34" charset="-122"/>
                <a:cs typeface="Tinos" pitchFamily="34" charset="-120"/>
              </a:rPr>
              <a:t>Pengantar SLR &amp; PRISMA</a:t>
            </a:r>
            <a:endParaRPr lang="en-US" sz="4050" dirty="0"/>
          </a:p>
        </p:txBody>
      </p:sp>
      <p:sp>
        <p:nvSpPr>
          <p:cNvPr id="4" name="Text 2"/>
          <p:cNvSpPr/>
          <p:nvPr/>
        </p:nvSpPr>
        <p:spPr>
          <a:xfrm>
            <a:off x="457200" y="2633142"/>
            <a:ext cx="5000625" cy="447485"/>
          </a:xfrm>
          <a:prstGeom prst="rect">
            <a:avLst/>
          </a:prstGeom>
          <a:noFill/>
          <a:ln/>
        </p:spPr>
        <p:txBody>
          <a:bodyPr wrap="square" lIns="0" tIns="0" rIns="0" bIns="0" rtlCol="0" anchor="t"/>
          <a:lstStyle/>
          <a:p>
            <a:pPr algn="l" indent="0" marL="0">
              <a:lnSpc>
                <a:spcPts val="1631"/>
              </a:lnSpc>
              <a:buNone/>
            </a:pPr>
            <a:r>
              <a:rPr lang="en-US" sz="1125" dirty="0">
                <a:solidFill>
                  <a:srgbClr val="E0ECEB"/>
                </a:solidFill>
                <a:latin typeface="Carlito" pitchFamily="34" charset="0"/>
                <a:ea typeface="Carlito" pitchFamily="34" charset="-122"/>
                <a:cs typeface="Carlito" pitchFamily="34" charset="-120"/>
              </a:rPr>
              <a:t>Memahami latar belakang metodologis, definisi, serta prinsip dasar PRISMA 2020 sebagai standar pelaporan review sistematik.</a:t>
            </a:r>
            <a:endParaRPr lang="en-US" sz="1125" dirty="0"/>
          </a:p>
        </p:txBody>
      </p:sp>
      <p:sp>
        <p:nvSpPr>
          <p:cNvPr id="5" name="Text 3"/>
          <p:cNvSpPr/>
          <p:nvPr/>
        </p:nvSpPr>
        <p:spPr>
          <a:xfrm>
            <a:off x="457200" y="3218929"/>
            <a:ext cx="857250" cy="28575"/>
          </a:xfrm>
          <a:prstGeom prst="roundRect">
            <a:avLst>
              <a:gd name="adj" fmla="val 66667"/>
            </a:avLst>
          </a:prstGeom>
          <a:solidFill>
            <a:srgbClr val="F97316"/>
          </a:solidFill>
          <a:ln/>
        </p:spPr>
        <p:txBody>
          <a:bodyPr wrap="square" rtlCol="0" anchor="ctr"/>
          <a:lstStyle/>
          <a:p>
            <a:pPr indent="0" marL="0">
              <a:buNone/>
            </a:pPr>
            <a:endParaRPr lang="en-US" dirty="0"/>
          </a:p>
        </p:txBody>
      </p:sp>
      <p:sp>
        <p:nvSpPr>
          <p:cNvPr id="6" name="Text 4"/>
          <p:cNvSpPr/>
          <p:nvPr/>
        </p:nvSpPr>
        <p:spPr>
          <a:xfrm>
            <a:off x="6553391" y="3629025"/>
            <a:ext cx="2590610" cy="1388745"/>
          </a:xfrm>
          <a:prstGeom prst="rect">
            <a:avLst/>
          </a:prstGeom>
          <a:noFill/>
          <a:ln/>
        </p:spPr>
        <p:txBody>
          <a:bodyPr wrap="square" lIns="0" tIns="0" rIns="0" bIns="0" rtlCol="0" anchor="t"/>
          <a:lstStyle/>
          <a:p>
            <a:pPr algn="l" indent="0" marL="0">
              <a:lnSpc>
                <a:spcPts val="10125"/>
              </a:lnSpc>
              <a:buNone/>
            </a:pPr>
            <a:r>
              <a:rPr lang="en-US" sz="11250" spc="-450" kern="0" dirty="0">
                <a:solidFill>
                  <a:srgbClr val="FFFFFF">
                    <a:alpha val="8000"/>
                  </a:srgbClr>
                </a:solidFill>
                <a:latin typeface="Liberation Sans Narrow" pitchFamily="34" charset="0"/>
                <a:ea typeface="Liberation Sans Narrow" pitchFamily="34" charset="-122"/>
                <a:cs typeface="Liberation Sans Narrow" pitchFamily="34" charset="-120"/>
              </a:rPr>
              <a:t>01</a:t>
            </a:r>
            <a:endParaRPr lang="en-US" sz="1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8"/>
        </a:solidFill>
      </p:bgPr>
    </p:bg>
    <p:spTree>
      <p:nvGrpSpPr>
        <p:cNvPr id="1" name=""/>
        <p:cNvGrpSpPr/>
        <p:nvPr/>
      </p:nvGrpSpPr>
      <p:grpSpPr>
        <a:xfrm>
          <a:off x="0" y="0"/>
          <a:ext cx="0" cy="0"/>
          <a:chOff x="0" y="0"/>
          <a:chExt cx="0" cy="0"/>
        </a:xfrm>
      </p:grpSpPr>
      <p:sp>
        <p:nvSpPr>
          <p:cNvPr id="2" name="Text 0"/>
          <p:cNvSpPr/>
          <p:nvPr/>
        </p:nvSpPr>
        <p:spPr>
          <a:xfrm>
            <a:off x="434340" y="274351"/>
            <a:ext cx="1102772" cy="212777"/>
          </a:xfrm>
          <a:prstGeom prst="roundRect">
            <a:avLst>
              <a:gd name="adj" fmla="val 4472041"/>
            </a:avLst>
          </a:prstGeom>
          <a:solidFill>
            <a:srgbClr val="E0ECEB"/>
          </a:solidFill>
          <a:ln/>
        </p:spPr>
        <p:txBody>
          <a:bodyPr wrap="square" rtlCol="0" anchor="ctr"/>
          <a:lstStyle/>
          <a:p>
            <a:pPr indent="0" marL="0">
              <a:buNone/>
            </a:pPr>
            <a:endParaRPr lang="en-US" dirty="0"/>
          </a:p>
        </p:txBody>
      </p:sp>
      <p:sp>
        <p:nvSpPr>
          <p:cNvPr id="3" name="Text 1"/>
          <p:cNvSpPr/>
          <p:nvPr/>
        </p:nvSpPr>
        <p:spPr>
          <a:xfrm>
            <a:off x="457200" y="285750"/>
            <a:ext cx="1057052" cy="189979"/>
          </a:xfrm>
          <a:prstGeom prst="rect">
            <a:avLst/>
          </a:prstGeom>
          <a:noFill/>
          <a:ln/>
        </p:spPr>
        <p:txBody>
          <a:bodyPr wrap="none" lIns="0" tIns="0" rIns="0" bIns="0" rtlCol="0" anchor="ctr"/>
          <a:lstStyle/>
          <a:p>
            <a:pPr algn="ctr" indent="0" marL="0">
              <a:lnSpc>
                <a:spcPts val="1046"/>
              </a:lnSpc>
              <a:buNone/>
            </a:pPr>
            <a:r>
              <a:rPr lang="en-US" sz="800" spc="27" kern="0" dirty="0">
                <a:solidFill>
                  <a:srgbClr val="134E4A"/>
                </a:solidFill>
                <a:latin typeface="Liberation Sans Narrow" pitchFamily="34" charset="0"/>
                <a:ea typeface="Liberation Sans Narrow" pitchFamily="34" charset="-122"/>
                <a:cs typeface="Liberation Sans Narrow" pitchFamily="34" charset="-120"/>
              </a:rPr>
              <a:t>BAB 01 · DEFINISI</a:t>
            </a:r>
            <a:endParaRPr lang="en-US" sz="800" dirty="0"/>
          </a:p>
        </p:txBody>
      </p:sp>
      <p:sp>
        <p:nvSpPr>
          <p:cNvPr id="4" name="Text 2"/>
          <p:cNvSpPr/>
          <p:nvPr/>
        </p:nvSpPr>
        <p:spPr>
          <a:xfrm>
            <a:off x="8279271" y="303275"/>
            <a:ext cx="554239" cy="169980"/>
          </a:xfrm>
          <a:prstGeom prst="rect">
            <a:avLst/>
          </a:prstGeom>
          <a:noFill/>
          <a:ln/>
        </p:spPr>
        <p:txBody>
          <a:bodyPr wrap="none" lIns="0" tIns="0" rIns="0" bIns="0" rtlCol="0" anchor="t"/>
          <a:lstStyle/>
          <a:p>
            <a:pPr algn="l" indent="0" marL="0">
              <a:lnSpc>
                <a:spcPts val="1221"/>
              </a:lnSpc>
              <a:buNone/>
            </a:pPr>
            <a:r>
              <a:rPr lang="en-US" sz="800" spc="-16" kern="0" dirty="0">
                <a:solidFill>
                  <a:srgbClr val="64748B"/>
                </a:solidFill>
                <a:latin typeface="Liberation Sans Narrow" pitchFamily="34" charset="0"/>
                <a:ea typeface="Liberation Sans Narrow" pitchFamily="34" charset="-122"/>
                <a:cs typeface="Liberation Sans Narrow" pitchFamily="34" charset="-120"/>
              </a:rPr>
              <a:t>04 / 18</a:t>
            </a:r>
            <a:endParaRPr lang="en-US" sz="800" dirty="0"/>
          </a:p>
        </p:txBody>
      </p:sp>
      <p:sp>
        <p:nvSpPr>
          <p:cNvPr id="5" name="Text 3"/>
          <p:cNvSpPr/>
          <p:nvPr/>
        </p:nvSpPr>
        <p:spPr>
          <a:xfrm>
            <a:off x="457200" y="647179"/>
            <a:ext cx="8636000" cy="319339"/>
          </a:xfrm>
          <a:prstGeom prst="rect">
            <a:avLst/>
          </a:prstGeom>
          <a:noFill/>
          <a:ln/>
        </p:spPr>
        <p:txBody>
          <a:bodyPr wrap="square" lIns="0" tIns="0" rIns="0" bIns="0" rtlCol="0" anchor="t"/>
          <a:lstStyle/>
          <a:p>
            <a:pPr algn="l" indent="0" marL="0">
              <a:lnSpc>
                <a:spcPts val="2329"/>
              </a:lnSpc>
              <a:buNone/>
            </a:pPr>
            <a:r>
              <a:rPr lang="en-US" sz="2025" dirty="0">
                <a:solidFill>
                  <a:srgbClr val="134E4A"/>
                </a:solidFill>
                <a:latin typeface="Tinos" pitchFamily="34" charset="0"/>
                <a:ea typeface="Tinos" pitchFamily="34" charset="-122"/>
                <a:cs typeface="Tinos" pitchFamily="34" charset="-120"/>
              </a:rPr>
              <a:t>Apa itu Systematic Literature Review?</a:t>
            </a:r>
            <a:endParaRPr lang="en-US" sz="2025" dirty="0"/>
          </a:p>
        </p:txBody>
      </p:sp>
      <p:sp>
        <p:nvSpPr>
          <p:cNvPr id="6" name="Text 4"/>
          <p:cNvSpPr/>
          <p:nvPr/>
        </p:nvSpPr>
        <p:spPr>
          <a:xfrm>
            <a:off x="457200" y="1028588"/>
            <a:ext cx="428625" cy="21431"/>
          </a:xfrm>
          <a:prstGeom prst="roundRect">
            <a:avLst>
              <a:gd name="adj" fmla="val 88890"/>
            </a:avLst>
          </a:prstGeom>
          <a:solidFill>
            <a:srgbClr val="134E4A"/>
          </a:solidFill>
          <a:ln/>
        </p:spPr>
        <p:txBody>
          <a:bodyPr wrap="square" rtlCol="0" anchor="ctr"/>
          <a:lstStyle/>
          <a:p>
            <a:pPr indent="0" marL="0">
              <a:buNone/>
            </a:pPr>
            <a:endParaRPr lang="en-US" dirty="0"/>
          </a:p>
        </p:txBody>
      </p:sp>
      <p:sp>
        <p:nvSpPr>
          <p:cNvPr id="7" name="Text 5"/>
          <p:cNvSpPr/>
          <p:nvPr/>
        </p:nvSpPr>
        <p:spPr>
          <a:xfrm>
            <a:off x="457200" y="1164320"/>
            <a:ext cx="7858125" cy="592387"/>
          </a:xfrm>
          <a:prstGeom prst="rect">
            <a:avLst/>
          </a:prstGeom>
          <a:noFill/>
          <a:ln/>
        </p:spPr>
        <p:txBody>
          <a:bodyPr wrap="square" lIns="0" tIns="0" rIns="0" bIns="0" rtlCol="0" anchor="t"/>
          <a:lstStyle/>
          <a:p>
            <a:pPr algn="l" indent="0" marL="0">
              <a:lnSpc>
                <a:spcPts val="1440"/>
              </a:lnSpc>
              <a:buNone/>
            </a:pPr>
            <a:r>
              <a:rPr lang="en-US" sz="900" dirty="0">
                <a:solidFill>
                  <a:srgbClr val="0F172A"/>
                </a:solidFill>
                <a:latin typeface="Carlito" pitchFamily="34" charset="0"/>
                <a:ea typeface="Carlito" pitchFamily="34" charset="-122"/>
                <a:cs typeface="Carlito" pitchFamily="34" charset="-120"/>
              </a:rPr>
              <a:t>Systematic Literature Review (SLR) adalah metode penelitian sekunder yang merangkum, mengevaluasi, dan mensintesis bukti dari multiple studi primer secara terstruktur, transparan, dan reproducible. Berbeda dengan review naratif tradisional, SLR mengikuti protokol eksplisit yang meminimalkan bias peneliti dan memungkinkan pembaca menilai validitas sintesis yang dihasilkan.</a:t>
            </a:r>
            <a:endParaRPr lang="en-US" sz="900" dirty="0"/>
          </a:p>
        </p:txBody>
      </p:sp>
      <p:sp>
        <p:nvSpPr>
          <p:cNvPr id="8" name="Text 6"/>
          <p:cNvSpPr/>
          <p:nvPr/>
        </p:nvSpPr>
        <p:spPr>
          <a:xfrm>
            <a:off x="460772" y="1873560"/>
            <a:ext cx="2621756" cy="1685479"/>
          </a:xfrm>
          <a:prstGeom prst="roundRect">
            <a:avLst>
              <a:gd name="adj" fmla="val 6781"/>
            </a:avLst>
          </a:prstGeom>
          <a:solidFill>
            <a:srgbClr val="FFFFFF"/>
          </a:solidFill>
          <a:ln w="7144">
            <a:solidFill>
              <a:srgbClr val="D8DEE2"/>
            </a:solidFill>
            <a:prstDash val="solid"/>
          </a:ln>
        </p:spPr>
        <p:txBody>
          <a:bodyPr wrap="square" rtlCol="0" anchor="ctr"/>
          <a:lstStyle/>
          <a:p>
            <a:pPr indent="0" marL="0">
              <a:buNone/>
            </a:pPr>
            <a:endParaRPr lang="en-US" dirty="0"/>
          </a:p>
        </p:txBody>
      </p:sp>
      <p:sp>
        <p:nvSpPr>
          <p:cNvPr id="9" name="Text 7"/>
          <p:cNvSpPr/>
          <p:nvPr/>
        </p:nvSpPr>
        <p:spPr>
          <a:xfrm>
            <a:off x="621506" y="2034294"/>
            <a:ext cx="285750" cy="285750"/>
          </a:xfrm>
          <a:prstGeom prst="rect">
            <a:avLst/>
          </a:prstGeom>
          <a:noFill/>
          <a:ln/>
        </p:spPr>
        <p:txBody>
          <a:bodyPr wrap="none" lIns="0" tIns="0" rIns="0" bIns="0" rtlCol="0" anchor="ctr"/>
          <a:lstStyle/>
          <a:p>
            <a:pPr algn="ctr" indent="0" marL="0">
              <a:buNone/>
            </a:pPr>
            <a:r>
              <a:rPr lang="en-US" sz="2813" dirty="0">
                <a:solidFill>
                  <a:srgbClr val="134E4A"/>
                </a:solidFill>
                <a:latin typeface="Segoe UI Symbol" pitchFamily="34" charset="0"/>
                <a:ea typeface="Segoe UI Symbol" pitchFamily="34" charset="-122"/>
                <a:cs typeface="Segoe UI Symbol" pitchFamily="34" charset="-120"/>
              </a:rPr>
              <a:t>✓</a:t>
            </a:r>
            <a:endParaRPr lang="en-US" sz="2813" dirty="0"/>
          </a:p>
        </p:txBody>
      </p:sp>
      <p:sp>
        <p:nvSpPr>
          <p:cNvPr id="10" name="Text 8"/>
          <p:cNvSpPr/>
          <p:nvPr/>
        </p:nvSpPr>
        <p:spPr>
          <a:xfrm>
            <a:off x="621506" y="2391482"/>
            <a:ext cx="2300288" cy="173593"/>
          </a:xfrm>
          <a:prstGeom prst="rect">
            <a:avLst/>
          </a:prstGeom>
          <a:noFill/>
          <a:ln/>
        </p:spPr>
        <p:txBody>
          <a:bodyPr wrap="none" lIns="0" tIns="0" rIns="0" bIns="0" rtlCol="0" anchor="t"/>
          <a:lstStyle/>
          <a:p>
            <a:pPr algn="l" indent="0" marL="0">
              <a:lnSpc>
                <a:spcPts val="1266"/>
              </a:lnSpc>
              <a:buNone/>
            </a:pPr>
            <a:r>
              <a:rPr lang="en-US" sz="1013" dirty="0">
                <a:solidFill>
                  <a:srgbClr val="134E4A"/>
                </a:solidFill>
                <a:latin typeface="Tinos" pitchFamily="34" charset="0"/>
                <a:ea typeface="Tinos" pitchFamily="34" charset="-122"/>
                <a:cs typeface="Tinos" pitchFamily="34" charset="-120"/>
              </a:rPr>
              <a:t>Terstruktur &amp; Eksplisit</a:t>
            </a:r>
            <a:endParaRPr lang="en-US" sz="1013" dirty="0"/>
          </a:p>
        </p:txBody>
      </p:sp>
      <p:sp>
        <p:nvSpPr>
          <p:cNvPr id="11" name="Text 9"/>
          <p:cNvSpPr/>
          <p:nvPr/>
        </p:nvSpPr>
        <p:spPr>
          <a:xfrm>
            <a:off x="621506" y="2623654"/>
            <a:ext cx="2300288" cy="774650"/>
          </a:xfrm>
          <a:prstGeom prst="rect">
            <a:avLst/>
          </a:prstGeom>
          <a:noFill/>
          <a:ln/>
        </p:spPr>
        <p:txBody>
          <a:bodyPr wrap="square" lIns="0" tIns="0" rIns="0" bIns="0" rtlCol="0" anchor="t"/>
          <a:lstStyle/>
          <a:p>
            <a:pPr algn="l" indent="0" marL="0">
              <a:lnSpc>
                <a:spcPts val="1221"/>
              </a:lnSpc>
              <a:buNone/>
            </a:pPr>
            <a:r>
              <a:rPr lang="en-US" sz="800" dirty="0">
                <a:solidFill>
                  <a:srgbClr val="0F172A"/>
                </a:solidFill>
                <a:latin typeface="Carlito" pitchFamily="34" charset="0"/>
                <a:ea typeface="Carlito" pitchFamily="34" charset="-122"/>
                <a:cs typeface="Carlito" pitchFamily="34" charset="-120"/>
              </a:rPr>
              <a:t>Mengikuti protokol terdokumentasi sejak awal — pertanyaan riset, kriteria inklusi, dan strategi pencarian ditetapkan sebelum proses review dimulai untuk memastikan konsistensi.</a:t>
            </a:r>
            <a:endParaRPr lang="en-US" sz="800" dirty="0"/>
          </a:p>
        </p:txBody>
      </p:sp>
      <p:sp>
        <p:nvSpPr>
          <p:cNvPr id="12" name="Text 10"/>
          <p:cNvSpPr/>
          <p:nvPr/>
        </p:nvSpPr>
        <p:spPr>
          <a:xfrm>
            <a:off x="3261122" y="1873560"/>
            <a:ext cx="2621756" cy="1685479"/>
          </a:xfrm>
          <a:prstGeom prst="roundRect">
            <a:avLst>
              <a:gd name="adj" fmla="val 6781"/>
            </a:avLst>
          </a:prstGeom>
          <a:solidFill>
            <a:srgbClr val="FFFFFF"/>
          </a:solidFill>
          <a:ln w="7144">
            <a:solidFill>
              <a:srgbClr val="D8DEE2"/>
            </a:solidFill>
            <a:prstDash val="solid"/>
          </a:ln>
        </p:spPr>
        <p:txBody>
          <a:bodyPr wrap="square" rtlCol="0" anchor="ctr"/>
          <a:lstStyle/>
          <a:p>
            <a:pPr indent="0" marL="0">
              <a:buNone/>
            </a:pPr>
            <a:endParaRPr lang="en-US" dirty="0"/>
          </a:p>
        </p:txBody>
      </p:sp>
      <p:sp>
        <p:nvSpPr>
          <p:cNvPr id="13" name="Text 11"/>
          <p:cNvSpPr/>
          <p:nvPr/>
        </p:nvSpPr>
        <p:spPr>
          <a:xfrm>
            <a:off x="3421856" y="2034294"/>
            <a:ext cx="285750" cy="285750"/>
          </a:xfrm>
          <a:prstGeom prst="rect">
            <a:avLst/>
          </a:prstGeom>
          <a:noFill/>
          <a:ln/>
        </p:spPr>
        <p:txBody>
          <a:bodyPr wrap="none" lIns="0" tIns="0" rIns="0" bIns="0" rtlCol="0" anchor="ctr"/>
          <a:lstStyle/>
          <a:p>
            <a:pPr algn="ctr" indent="0" marL="0">
              <a:buNone/>
            </a:pPr>
            <a:r>
              <a:rPr lang="en-US" sz="2813" dirty="0">
                <a:solidFill>
                  <a:srgbClr val="134E4A"/>
                </a:solidFill>
                <a:latin typeface="Segoe UI Symbol" pitchFamily="34" charset="0"/>
                <a:ea typeface="Segoe UI Symbol" pitchFamily="34" charset="-122"/>
                <a:cs typeface="Segoe UI Symbol" pitchFamily="34" charset="-120"/>
              </a:rPr>
              <a:t>◉</a:t>
            </a:r>
            <a:endParaRPr lang="en-US" sz="2813" dirty="0"/>
          </a:p>
        </p:txBody>
      </p:sp>
      <p:sp>
        <p:nvSpPr>
          <p:cNvPr id="14" name="Text 12"/>
          <p:cNvSpPr/>
          <p:nvPr/>
        </p:nvSpPr>
        <p:spPr>
          <a:xfrm>
            <a:off x="3421856" y="2391482"/>
            <a:ext cx="2410016" cy="173593"/>
          </a:xfrm>
          <a:prstGeom prst="rect">
            <a:avLst/>
          </a:prstGeom>
          <a:noFill/>
          <a:ln/>
        </p:spPr>
        <p:txBody>
          <a:bodyPr wrap="square" lIns="0" tIns="0" rIns="0" bIns="0" rtlCol="0" anchor="t"/>
          <a:lstStyle/>
          <a:p>
            <a:pPr algn="l" indent="0" marL="0">
              <a:lnSpc>
                <a:spcPts val="1266"/>
              </a:lnSpc>
              <a:buNone/>
            </a:pPr>
            <a:r>
              <a:rPr lang="en-US" sz="1013" dirty="0">
                <a:solidFill>
                  <a:srgbClr val="134E4A"/>
                </a:solidFill>
                <a:latin typeface="Tinos" pitchFamily="34" charset="0"/>
                <a:ea typeface="Tinos" pitchFamily="34" charset="-122"/>
                <a:cs typeface="Tinos" pitchFamily="34" charset="-120"/>
              </a:rPr>
              <a:t>Transparan &amp; Reproducible</a:t>
            </a:r>
            <a:endParaRPr lang="en-US" sz="1013" dirty="0"/>
          </a:p>
        </p:txBody>
      </p:sp>
      <p:sp>
        <p:nvSpPr>
          <p:cNvPr id="15" name="Text 13"/>
          <p:cNvSpPr/>
          <p:nvPr/>
        </p:nvSpPr>
        <p:spPr>
          <a:xfrm>
            <a:off x="3421856" y="2623654"/>
            <a:ext cx="2300288" cy="679922"/>
          </a:xfrm>
          <a:prstGeom prst="rect">
            <a:avLst/>
          </a:prstGeom>
          <a:noFill/>
          <a:ln/>
        </p:spPr>
        <p:txBody>
          <a:bodyPr wrap="square" lIns="0" tIns="0" rIns="0" bIns="0" rtlCol="0" anchor="t"/>
          <a:lstStyle/>
          <a:p>
            <a:pPr algn="l" indent="0" marL="0">
              <a:lnSpc>
                <a:spcPts val="1221"/>
              </a:lnSpc>
              <a:buNone/>
            </a:pPr>
            <a:r>
              <a:rPr lang="en-US" sz="800" dirty="0">
                <a:solidFill>
                  <a:srgbClr val="0F172A"/>
                </a:solidFill>
                <a:latin typeface="Carlito" pitchFamily="34" charset="0"/>
                <a:ea typeface="Carlito" pitchFamily="34" charset="-122"/>
                <a:cs typeface="Carlito" pitchFamily="34" charset="-120"/>
              </a:rPr>
              <a:t>Setiap keputusan — termasuk alasan eksklusi studi — didokumentasikan sehingga peneliti lain dapat mereproduksi proses dan menelusuri jalur sintesis kesimpulan.</a:t>
            </a:r>
            <a:endParaRPr lang="en-US" sz="800" dirty="0"/>
          </a:p>
        </p:txBody>
      </p:sp>
      <p:sp>
        <p:nvSpPr>
          <p:cNvPr id="16" name="Text 14"/>
          <p:cNvSpPr/>
          <p:nvPr/>
        </p:nvSpPr>
        <p:spPr>
          <a:xfrm>
            <a:off x="6061472" y="1873560"/>
            <a:ext cx="2621756" cy="1685479"/>
          </a:xfrm>
          <a:prstGeom prst="roundRect">
            <a:avLst>
              <a:gd name="adj" fmla="val 6781"/>
            </a:avLst>
          </a:prstGeom>
          <a:solidFill>
            <a:srgbClr val="FFFFFF"/>
          </a:solidFill>
          <a:ln w="7144">
            <a:solidFill>
              <a:srgbClr val="D8DEE2"/>
            </a:solidFill>
            <a:prstDash val="solid"/>
          </a:ln>
        </p:spPr>
        <p:txBody>
          <a:bodyPr wrap="square" rtlCol="0" anchor="ctr"/>
          <a:lstStyle/>
          <a:p>
            <a:pPr indent="0" marL="0">
              <a:buNone/>
            </a:pPr>
            <a:endParaRPr lang="en-US" dirty="0"/>
          </a:p>
        </p:txBody>
      </p:sp>
      <p:sp>
        <p:nvSpPr>
          <p:cNvPr id="17" name="Text 15"/>
          <p:cNvSpPr/>
          <p:nvPr/>
        </p:nvSpPr>
        <p:spPr>
          <a:xfrm>
            <a:off x="6222206" y="2034294"/>
            <a:ext cx="285750" cy="285750"/>
          </a:xfrm>
          <a:prstGeom prst="rect">
            <a:avLst/>
          </a:prstGeom>
          <a:noFill/>
          <a:ln/>
        </p:spPr>
        <p:txBody>
          <a:bodyPr wrap="none" lIns="0" tIns="0" rIns="0" bIns="0" rtlCol="0" anchor="ctr"/>
          <a:lstStyle/>
          <a:p>
            <a:pPr algn="ctr" indent="0" marL="0">
              <a:buNone/>
            </a:pPr>
            <a:r>
              <a:rPr lang="en-US" sz="2813" dirty="0">
                <a:solidFill>
                  <a:srgbClr val="134E4A"/>
                </a:solidFill>
                <a:latin typeface="Segoe UI Symbol" pitchFamily="34" charset="0"/>
                <a:ea typeface="Segoe UI Symbol" pitchFamily="34" charset="-122"/>
                <a:cs typeface="Segoe UI Symbol" pitchFamily="34" charset="-120"/>
              </a:rPr>
              <a:t>✓</a:t>
            </a:r>
            <a:endParaRPr lang="en-US" sz="2813" dirty="0"/>
          </a:p>
        </p:txBody>
      </p:sp>
      <p:sp>
        <p:nvSpPr>
          <p:cNvPr id="18" name="Text 16"/>
          <p:cNvSpPr/>
          <p:nvPr/>
        </p:nvSpPr>
        <p:spPr>
          <a:xfrm>
            <a:off x="6222206" y="2391482"/>
            <a:ext cx="2410015" cy="173593"/>
          </a:xfrm>
          <a:prstGeom prst="rect">
            <a:avLst/>
          </a:prstGeom>
          <a:noFill/>
          <a:ln/>
        </p:spPr>
        <p:txBody>
          <a:bodyPr wrap="square" lIns="0" tIns="0" rIns="0" bIns="0" rtlCol="0" anchor="t"/>
          <a:lstStyle/>
          <a:p>
            <a:pPr algn="l" indent="0" marL="0">
              <a:lnSpc>
                <a:spcPts val="1266"/>
              </a:lnSpc>
              <a:buNone/>
            </a:pPr>
            <a:r>
              <a:rPr lang="en-US" sz="1013" dirty="0">
                <a:solidFill>
                  <a:srgbClr val="134E4A"/>
                </a:solidFill>
                <a:latin typeface="Tinos" pitchFamily="34" charset="0"/>
                <a:ea typeface="Tinos" pitchFamily="34" charset="-122"/>
                <a:cs typeface="Tinos" pitchFamily="34" charset="-120"/>
              </a:rPr>
              <a:t>Berbasis Bukti &amp; Minim Bias</a:t>
            </a:r>
            <a:endParaRPr lang="en-US" sz="1013" dirty="0"/>
          </a:p>
        </p:txBody>
      </p:sp>
      <p:sp>
        <p:nvSpPr>
          <p:cNvPr id="19" name="Text 17"/>
          <p:cNvSpPr/>
          <p:nvPr/>
        </p:nvSpPr>
        <p:spPr>
          <a:xfrm>
            <a:off x="6222206" y="2623654"/>
            <a:ext cx="2300288" cy="774650"/>
          </a:xfrm>
          <a:prstGeom prst="rect">
            <a:avLst/>
          </a:prstGeom>
          <a:noFill/>
          <a:ln/>
        </p:spPr>
        <p:txBody>
          <a:bodyPr wrap="square" lIns="0" tIns="0" rIns="0" bIns="0" rtlCol="0" anchor="t"/>
          <a:lstStyle/>
          <a:p>
            <a:pPr algn="l" indent="0" marL="0">
              <a:lnSpc>
                <a:spcPts val="1221"/>
              </a:lnSpc>
              <a:buNone/>
            </a:pPr>
            <a:r>
              <a:rPr lang="en-US" sz="800" dirty="0">
                <a:solidFill>
                  <a:srgbClr val="0F172A"/>
                </a:solidFill>
                <a:latin typeface="Carlito" pitchFamily="34" charset="0"/>
                <a:ea typeface="Carlito" pitchFamily="34" charset="-122"/>
                <a:cs typeface="Carlito" pitchFamily="34" charset="-120"/>
              </a:rPr>
              <a:t>Sintesis dilakukan melalui ekstraksi data terstandardisasi dan penilaian kualitas studi, menghasilkan kesimpulan yang robust dan dapat dipertanggungjawabkan secara metodologis.</a:t>
            </a:r>
            <a:endParaRPr lang="en-US" sz="800" dirty="0"/>
          </a:p>
        </p:txBody>
      </p:sp>
      <p:sp>
        <p:nvSpPr>
          <p:cNvPr id="20" name="Text 18"/>
          <p:cNvSpPr/>
          <p:nvPr/>
        </p:nvSpPr>
        <p:spPr>
          <a:xfrm>
            <a:off x="457200" y="3691198"/>
            <a:ext cx="8229600" cy="170021"/>
          </a:xfrm>
          <a:prstGeom prst="rect">
            <a:avLst/>
          </a:prstGeom>
          <a:noFill/>
          <a:ln/>
        </p:spPr>
        <p:txBody>
          <a:bodyPr wrap="square" lIns="0" tIns="0" rIns="0" bIns="0" rtlCol="0" anchor="t"/>
          <a:lstStyle/>
          <a:p>
            <a:pPr algn="l" indent="0" marL="0">
              <a:lnSpc>
                <a:spcPts val="1046"/>
              </a:lnSpc>
              <a:buNone/>
            </a:pPr>
            <a:r>
              <a:rPr lang="en-US" sz="800" spc="14" kern="0" dirty="0">
                <a:solidFill>
                  <a:srgbClr val="64748B"/>
                </a:solidFill>
                <a:latin typeface="Carlito" pitchFamily="34" charset="0"/>
                <a:ea typeface="Carlito" pitchFamily="34" charset="-122"/>
                <a:cs typeface="Carlito" pitchFamily="34" charset="-120"/>
              </a:rPr>
              <a:t>Sumber: Kitchenham &amp; Charters (2007); Page et al. (2021) — PRISMA 2020</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8"/>
        </a:solidFill>
      </p:bgPr>
    </p:bg>
    <p:spTree>
      <p:nvGrpSpPr>
        <p:cNvPr id="1" name=""/>
        <p:cNvGrpSpPr/>
        <p:nvPr/>
      </p:nvGrpSpPr>
      <p:grpSpPr>
        <a:xfrm>
          <a:off x="0" y="0"/>
          <a:ext cx="0" cy="0"/>
          <a:chOff x="0" y="0"/>
          <a:chExt cx="0" cy="0"/>
        </a:xfrm>
      </p:grpSpPr>
      <p:sp>
        <p:nvSpPr>
          <p:cNvPr id="2" name="Text 0"/>
          <p:cNvSpPr/>
          <p:nvPr/>
        </p:nvSpPr>
        <p:spPr>
          <a:xfrm>
            <a:off x="434340" y="245776"/>
            <a:ext cx="1554056" cy="212777"/>
          </a:xfrm>
          <a:prstGeom prst="roundRect">
            <a:avLst>
              <a:gd name="adj" fmla="val 4472041"/>
            </a:avLst>
          </a:prstGeom>
          <a:solidFill>
            <a:srgbClr val="E0ECEB"/>
          </a:solidFill>
          <a:ln/>
        </p:spPr>
        <p:txBody>
          <a:bodyPr wrap="square" rtlCol="0" anchor="ctr"/>
          <a:lstStyle/>
          <a:p>
            <a:pPr indent="0" marL="0">
              <a:buNone/>
            </a:pPr>
            <a:endParaRPr lang="en-US" dirty="0"/>
          </a:p>
        </p:txBody>
      </p:sp>
      <p:sp>
        <p:nvSpPr>
          <p:cNvPr id="3" name="Text 1"/>
          <p:cNvSpPr/>
          <p:nvPr/>
        </p:nvSpPr>
        <p:spPr>
          <a:xfrm>
            <a:off x="457200" y="257175"/>
            <a:ext cx="1508336" cy="189979"/>
          </a:xfrm>
          <a:prstGeom prst="rect">
            <a:avLst/>
          </a:prstGeom>
          <a:noFill/>
          <a:ln/>
        </p:spPr>
        <p:txBody>
          <a:bodyPr wrap="none" lIns="0" tIns="0" rIns="0" bIns="0" rtlCol="0" anchor="ctr"/>
          <a:lstStyle/>
          <a:p>
            <a:pPr algn="ctr" indent="0" marL="0">
              <a:lnSpc>
                <a:spcPts val="1046"/>
              </a:lnSpc>
              <a:buNone/>
            </a:pPr>
            <a:r>
              <a:rPr lang="en-US" sz="800" spc="27" kern="0" dirty="0">
                <a:solidFill>
                  <a:srgbClr val="134E4A"/>
                </a:solidFill>
                <a:latin typeface="Liberation Sans Narrow" pitchFamily="34" charset="0"/>
                <a:ea typeface="Liberation Sans Narrow" pitchFamily="34" charset="-122"/>
                <a:cs typeface="Liberation Sans Narrow" pitchFamily="34" charset="-120"/>
              </a:rPr>
              <a:t>BAB 01 · LATAR BELAKANG</a:t>
            </a:r>
            <a:endParaRPr lang="en-US" sz="800" dirty="0"/>
          </a:p>
        </p:txBody>
      </p:sp>
      <p:sp>
        <p:nvSpPr>
          <p:cNvPr id="4" name="Text 2"/>
          <p:cNvSpPr/>
          <p:nvPr/>
        </p:nvSpPr>
        <p:spPr>
          <a:xfrm>
            <a:off x="8279271" y="274700"/>
            <a:ext cx="554239" cy="169980"/>
          </a:xfrm>
          <a:prstGeom prst="rect">
            <a:avLst/>
          </a:prstGeom>
          <a:noFill/>
          <a:ln/>
        </p:spPr>
        <p:txBody>
          <a:bodyPr wrap="none" lIns="0" tIns="0" rIns="0" bIns="0" rtlCol="0" anchor="t"/>
          <a:lstStyle/>
          <a:p>
            <a:pPr algn="l" indent="0" marL="0">
              <a:lnSpc>
                <a:spcPts val="1221"/>
              </a:lnSpc>
              <a:buNone/>
            </a:pPr>
            <a:r>
              <a:rPr lang="en-US" sz="800" spc="-16" kern="0" dirty="0">
                <a:solidFill>
                  <a:srgbClr val="64748B"/>
                </a:solidFill>
                <a:latin typeface="Liberation Sans Narrow" pitchFamily="34" charset="0"/>
                <a:ea typeface="Liberation Sans Narrow" pitchFamily="34" charset="-122"/>
                <a:cs typeface="Liberation Sans Narrow" pitchFamily="34" charset="-120"/>
              </a:rPr>
              <a:t>05 / 18</a:t>
            </a:r>
            <a:endParaRPr lang="en-US" sz="800" dirty="0"/>
          </a:p>
        </p:txBody>
      </p:sp>
      <p:sp>
        <p:nvSpPr>
          <p:cNvPr id="5" name="Text 3"/>
          <p:cNvSpPr/>
          <p:nvPr/>
        </p:nvSpPr>
        <p:spPr>
          <a:xfrm>
            <a:off x="457200" y="604317"/>
            <a:ext cx="8636000" cy="283897"/>
          </a:xfrm>
          <a:prstGeom prst="rect">
            <a:avLst/>
          </a:prstGeom>
          <a:noFill/>
          <a:ln/>
        </p:spPr>
        <p:txBody>
          <a:bodyPr wrap="square" lIns="0" tIns="0" rIns="0" bIns="0" rtlCol="0" anchor="t"/>
          <a:lstStyle/>
          <a:p>
            <a:pPr algn="l" indent="0" marL="0">
              <a:lnSpc>
                <a:spcPts val="2070"/>
              </a:lnSpc>
              <a:buNone/>
            </a:pPr>
            <a:r>
              <a:rPr lang="en-US" sz="1800" dirty="0">
                <a:solidFill>
                  <a:srgbClr val="134E4A"/>
                </a:solidFill>
                <a:latin typeface="Tinos" pitchFamily="34" charset="0"/>
                <a:ea typeface="Tinos" pitchFamily="34" charset="-122"/>
                <a:cs typeface="Tinos" pitchFamily="34" charset="-120"/>
              </a:rPr>
              <a:t>Mengapa PRISMA? Sejarah &amp; Prinsip 2020</a:t>
            </a:r>
            <a:endParaRPr lang="en-US" sz="1800" dirty="0"/>
          </a:p>
        </p:txBody>
      </p:sp>
      <p:sp>
        <p:nvSpPr>
          <p:cNvPr id="6" name="Text 4"/>
          <p:cNvSpPr/>
          <p:nvPr/>
        </p:nvSpPr>
        <p:spPr>
          <a:xfrm>
            <a:off x="457200" y="924334"/>
            <a:ext cx="8229600" cy="185166"/>
          </a:xfrm>
          <a:prstGeom prst="rect">
            <a:avLst/>
          </a:prstGeom>
          <a:noFill/>
          <a:ln/>
        </p:spPr>
        <p:txBody>
          <a:bodyPr wrap="square" lIns="0" tIns="0" rIns="0" bIns="0" rtlCol="0" anchor="t"/>
          <a:lstStyle/>
          <a:p>
            <a:pPr algn="l" indent="0" marL="0">
              <a:lnSpc>
                <a:spcPts val="1350"/>
              </a:lnSpc>
              <a:buNone/>
            </a:pPr>
            <a:r>
              <a:rPr lang="en-US" sz="900" dirty="0">
                <a:solidFill>
                  <a:srgbClr val="475569"/>
                </a:solidFill>
                <a:latin typeface="Carlito" pitchFamily="34" charset="0"/>
                <a:ea typeface="Carlito" pitchFamily="34" charset="-122"/>
                <a:cs typeface="Carlito" pitchFamily="34" charset="-120"/>
              </a:rPr>
              <a:t>Preferred Reporting Items for Systematic Reviews and Meta-Analyses — standar emas pelaporan review sistematik modern.</a:t>
            </a:r>
            <a:endParaRPr lang="en-US" sz="900" dirty="0"/>
          </a:p>
        </p:txBody>
      </p:sp>
      <p:sp>
        <p:nvSpPr>
          <p:cNvPr id="7" name="Text 5"/>
          <p:cNvSpPr/>
          <p:nvPr/>
        </p:nvSpPr>
        <p:spPr>
          <a:xfrm>
            <a:off x="457200" y="1181509"/>
            <a:ext cx="428625" cy="21431"/>
          </a:xfrm>
          <a:prstGeom prst="roundRect">
            <a:avLst>
              <a:gd name="adj" fmla="val 88890"/>
            </a:avLst>
          </a:prstGeom>
          <a:solidFill>
            <a:srgbClr val="134E4A"/>
          </a:solidFill>
          <a:ln/>
        </p:spPr>
        <p:txBody>
          <a:bodyPr wrap="square" rtlCol="0" anchor="ctr"/>
          <a:lstStyle/>
          <a:p>
            <a:pPr indent="0" marL="0">
              <a:buNone/>
            </a:pPr>
            <a:endParaRPr lang="en-US" dirty="0"/>
          </a:p>
        </p:txBody>
      </p:sp>
      <p:sp>
        <p:nvSpPr>
          <p:cNvPr id="8" name="Text 6"/>
          <p:cNvSpPr/>
          <p:nvPr/>
        </p:nvSpPr>
        <p:spPr>
          <a:xfrm>
            <a:off x="457200" y="1331528"/>
            <a:ext cx="3626123" cy="2754362"/>
          </a:xfrm>
          <a:prstGeom prst="roundRect">
            <a:avLst>
              <a:gd name="adj" fmla="val 4150"/>
            </a:avLst>
          </a:prstGeom>
          <a:solidFill>
            <a:srgbClr val="E0ECEB"/>
          </a:solidFill>
          <a:ln/>
        </p:spPr>
        <p:txBody>
          <a:bodyPr wrap="square" rtlCol="0" anchor="ctr"/>
          <a:lstStyle/>
          <a:p>
            <a:pPr indent="0" marL="0">
              <a:buNone/>
            </a:pPr>
            <a:endParaRPr lang="en-US" dirty="0"/>
          </a:p>
        </p:txBody>
      </p:sp>
      <p:sp>
        <p:nvSpPr>
          <p:cNvPr id="9" name="Text 7"/>
          <p:cNvSpPr/>
          <p:nvPr/>
        </p:nvSpPr>
        <p:spPr>
          <a:xfrm>
            <a:off x="628650" y="1502978"/>
            <a:ext cx="3283223" cy="189979"/>
          </a:xfrm>
          <a:prstGeom prst="roundRect">
            <a:avLst>
              <a:gd name="adj" fmla="val 5008698"/>
            </a:avLst>
          </a:prstGeom>
          <a:solidFill>
            <a:srgbClr val="E0ECEB"/>
          </a:solidFill>
          <a:ln/>
        </p:spPr>
        <p:txBody>
          <a:bodyPr wrap="square" rtlCol="0" anchor="ctr"/>
          <a:lstStyle/>
          <a:p>
            <a:pPr indent="0" marL="0">
              <a:buNone/>
            </a:pPr>
            <a:endParaRPr lang="en-US" dirty="0"/>
          </a:p>
        </p:txBody>
      </p:sp>
      <p:sp>
        <p:nvSpPr>
          <p:cNvPr id="10" name="Text 8"/>
          <p:cNvSpPr/>
          <p:nvPr/>
        </p:nvSpPr>
        <p:spPr>
          <a:xfrm>
            <a:off x="628650" y="1502978"/>
            <a:ext cx="3283223" cy="189979"/>
          </a:xfrm>
          <a:prstGeom prst="rect">
            <a:avLst/>
          </a:prstGeom>
          <a:noFill/>
          <a:ln/>
        </p:spPr>
        <p:txBody>
          <a:bodyPr wrap="none" lIns="0" tIns="0" rIns="0" bIns="0" rtlCol="0" anchor="ctr"/>
          <a:lstStyle/>
          <a:p>
            <a:pPr algn="ctr" indent="0" marL="0">
              <a:lnSpc>
                <a:spcPts val="1046"/>
              </a:lnSpc>
              <a:buNone/>
            </a:pPr>
            <a:r>
              <a:rPr lang="en-US" sz="800" spc="27" kern="0" dirty="0">
                <a:solidFill>
                  <a:srgbClr val="134E4A"/>
                </a:solidFill>
                <a:latin typeface="Carlito" pitchFamily="34" charset="0"/>
                <a:ea typeface="Carlito" pitchFamily="34" charset="-122"/>
                <a:cs typeface="Carlito" pitchFamily="34" charset="-120"/>
              </a:rPr>
              <a:t>KRONOLOGI</a:t>
            </a:r>
            <a:endParaRPr lang="en-US" sz="800" dirty="0"/>
          </a:p>
        </p:txBody>
      </p:sp>
      <p:sp>
        <p:nvSpPr>
          <p:cNvPr id="11" name="Text 9"/>
          <p:cNvSpPr/>
          <p:nvPr/>
        </p:nvSpPr>
        <p:spPr>
          <a:xfrm>
            <a:off x="628650" y="1764395"/>
            <a:ext cx="3283223" cy="185166"/>
          </a:xfrm>
          <a:prstGeom prst="rect">
            <a:avLst/>
          </a:prstGeom>
          <a:noFill/>
          <a:ln/>
        </p:spPr>
        <p:txBody>
          <a:bodyPr wrap="none" lIns="0" tIns="0" rIns="0" bIns="0" rtlCol="0" anchor="t"/>
          <a:lstStyle/>
          <a:p>
            <a:pPr algn="l" indent="0" marL="0">
              <a:lnSpc>
                <a:spcPts val="1350"/>
              </a:lnSpc>
              <a:buNone/>
            </a:pPr>
            <a:r>
              <a:rPr lang="en-US" sz="1125" dirty="0">
                <a:solidFill>
                  <a:srgbClr val="134E4A"/>
                </a:solidFill>
                <a:latin typeface="Tinos" pitchFamily="34" charset="0"/>
                <a:ea typeface="Tinos" pitchFamily="34" charset="-122"/>
                <a:cs typeface="Tinos" pitchFamily="34" charset="-120"/>
              </a:rPr>
              <a:t>Perjalanan PRISMA</a:t>
            </a:r>
            <a:endParaRPr lang="en-US" sz="1125" dirty="0"/>
          </a:p>
        </p:txBody>
      </p:sp>
      <p:sp>
        <p:nvSpPr>
          <p:cNvPr id="12" name="Shape 10"/>
          <p:cNvSpPr/>
          <p:nvPr/>
        </p:nvSpPr>
        <p:spPr>
          <a:xfrm>
            <a:off x="628650" y="2308659"/>
            <a:ext cx="3283223" cy="0"/>
          </a:xfrm>
          <a:prstGeom prst="line">
            <a:avLst/>
          </a:prstGeom>
          <a:noFill/>
          <a:ln w="7144">
            <a:solidFill>
              <a:srgbClr val="134E4A"/>
            </a:solidFill>
            <a:prstDash val="solid"/>
          </a:ln>
        </p:spPr>
      </p:sp>
      <p:sp>
        <p:nvSpPr>
          <p:cNvPr id="13" name="Text 11"/>
          <p:cNvSpPr/>
          <p:nvPr/>
        </p:nvSpPr>
        <p:spPr>
          <a:xfrm>
            <a:off x="628650" y="2078720"/>
            <a:ext cx="800100" cy="154930"/>
          </a:xfrm>
          <a:prstGeom prst="rect">
            <a:avLst/>
          </a:prstGeom>
          <a:noFill/>
          <a:ln/>
        </p:spPr>
        <p:txBody>
          <a:bodyPr wrap="none" lIns="0" tIns="0" rIns="0" bIns="0" rtlCol="0" anchor="t"/>
          <a:lstStyle/>
          <a:p>
            <a:pPr algn="l" indent="0" marL="0">
              <a:lnSpc>
                <a:spcPts val="1221"/>
              </a:lnSpc>
              <a:buNone/>
            </a:pPr>
            <a:r>
              <a:rPr lang="en-US" sz="800" dirty="0">
                <a:solidFill>
                  <a:srgbClr val="134E4A"/>
                </a:solidFill>
                <a:latin typeface="Liberation Sans Narrow" pitchFamily="34" charset="0"/>
                <a:ea typeface="Liberation Sans Narrow" pitchFamily="34" charset="-122"/>
                <a:cs typeface="Liberation Sans Narrow" pitchFamily="34" charset="-120"/>
              </a:rPr>
              <a:t>1999</a:t>
            </a:r>
            <a:endParaRPr lang="en-US" sz="800" dirty="0"/>
          </a:p>
        </p:txBody>
      </p:sp>
      <p:sp>
        <p:nvSpPr>
          <p:cNvPr id="14" name="Text 12"/>
          <p:cNvSpPr/>
          <p:nvPr/>
        </p:nvSpPr>
        <p:spPr>
          <a:xfrm>
            <a:off x="1228725" y="2078720"/>
            <a:ext cx="2683148" cy="154930"/>
          </a:xfrm>
          <a:prstGeom prst="rect">
            <a:avLst/>
          </a:prstGeom>
          <a:noFill/>
          <a:ln/>
        </p:spPr>
        <p:txBody>
          <a:bodyPr wrap="square" lIns="0" tIns="0" rIns="0" bIns="0" rtlCol="0" anchor="t"/>
          <a:lstStyle/>
          <a:p>
            <a:pPr algn="l" indent="0" marL="0">
              <a:lnSpc>
                <a:spcPts val="1139"/>
              </a:lnSpc>
              <a:buNone/>
            </a:pPr>
            <a:r>
              <a:rPr lang="en-US" sz="759" dirty="0">
                <a:solidFill>
                  <a:srgbClr val="0F172A"/>
                </a:solidFill>
                <a:latin typeface="Carlito" pitchFamily="34" charset="0"/>
                <a:ea typeface="Carlito" pitchFamily="34" charset="-122"/>
                <a:cs typeface="Carlito" pitchFamily="34" charset="-120"/>
              </a:rPr>
              <a:t>QUOROM Statement dirilis untuk meta-analisis RCT.</a:t>
            </a:r>
            <a:endParaRPr lang="en-US" sz="759" dirty="0"/>
          </a:p>
        </p:txBody>
      </p:sp>
      <p:sp>
        <p:nvSpPr>
          <p:cNvPr id="15" name="Shape 13"/>
          <p:cNvSpPr/>
          <p:nvPr/>
        </p:nvSpPr>
        <p:spPr>
          <a:xfrm>
            <a:off x="628650" y="2748000"/>
            <a:ext cx="3283223" cy="0"/>
          </a:xfrm>
          <a:prstGeom prst="line">
            <a:avLst/>
          </a:prstGeom>
          <a:noFill/>
          <a:ln w="7144">
            <a:solidFill>
              <a:srgbClr val="134E4A"/>
            </a:solidFill>
            <a:prstDash val="solid"/>
          </a:ln>
        </p:spPr>
      </p:sp>
      <p:sp>
        <p:nvSpPr>
          <p:cNvPr id="16" name="Text 14"/>
          <p:cNvSpPr/>
          <p:nvPr/>
        </p:nvSpPr>
        <p:spPr>
          <a:xfrm>
            <a:off x="628650" y="2383668"/>
            <a:ext cx="800100" cy="169980"/>
          </a:xfrm>
          <a:prstGeom prst="rect">
            <a:avLst/>
          </a:prstGeom>
          <a:noFill/>
          <a:ln/>
        </p:spPr>
        <p:txBody>
          <a:bodyPr wrap="none" lIns="0" tIns="0" rIns="0" bIns="0" rtlCol="0" anchor="t"/>
          <a:lstStyle/>
          <a:p>
            <a:pPr algn="l" indent="0" marL="0">
              <a:lnSpc>
                <a:spcPts val="1221"/>
              </a:lnSpc>
              <a:buNone/>
            </a:pPr>
            <a:r>
              <a:rPr lang="en-US" sz="800" dirty="0">
                <a:solidFill>
                  <a:srgbClr val="134E4A"/>
                </a:solidFill>
                <a:latin typeface="Liberation Sans Narrow" pitchFamily="34" charset="0"/>
                <a:ea typeface="Liberation Sans Narrow" pitchFamily="34" charset="-122"/>
                <a:cs typeface="Liberation Sans Narrow" pitchFamily="34" charset="-120"/>
              </a:rPr>
              <a:t>2009</a:t>
            </a:r>
            <a:endParaRPr lang="en-US" sz="800" dirty="0"/>
          </a:p>
        </p:txBody>
      </p:sp>
      <p:sp>
        <p:nvSpPr>
          <p:cNvPr id="17" name="Text 15"/>
          <p:cNvSpPr/>
          <p:nvPr/>
        </p:nvSpPr>
        <p:spPr>
          <a:xfrm>
            <a:off x="1228725" y="2383668"/>
            <a:ext cx="2683148" cy="289322"/>
          </a:xfrm>
          <a:prstGeom prst="rect">
            <a:avLst/>
          </a:prstGeom>
          <a:noFill/>
          <a:ln/>
        </p:spPr>
        <p:txBody>
          <a:bodyPr wrap="square" lIns="0" tIns="0" rIns="0" bIns="0" rtlCol="0" anchor="t"/>
          <a:lstStyle/>
          <a:p>
            <a:pPr algn="l" indent="0" marL="0">
              <a:lnSpc>
                <a:spcPts val="1139"/>
              </a:lnSpc>
              <a:buNone/>
            </a:pPr>
            <a:r>
              <a:rPr lang="en-US" sz="800" dirty="0">
                <a:solidFill>
                  <a:srgbClr val="0F172A"/>
                </a:solidFill>
                <a:latin typeface="Carlito" pitchFamily="34" charset="0"/>
                <a:ea typeface="Carlito" pitchFamily="34" charset="-122"/>
                <a:cs typeface="Carlito" pitchFamily="34" charset="-120"/>
              </a:rPr>
              <a:t>PRISMA pertama (27 item + diagram alur) menggantikan QUOROM.</a:t>
            </a:r>
            <a:endParaRPr lang="en-US" sz="800" dirty="0"/>
          </a:p>
        </p:txBody>
      </p:sp>
      <p:sp>
        <p:nvSpPr>
          <p:cNvPr id="18" name="Shape 16"/>
          <p:cNvSpPr/>
          <p:nvPr/>
        </p:nvSpPr>
        <p:spPr>
          <a:xfrm>
            <a:off x="628650" y="3052949"/>
            <a:ext cx="3283223" cy="0"/>
          </a:xfrm>
          <a:prstGeom prst="line">
            <a:avLst/>
          </a:prstGeom>
          <a:noFill/>
          <a:ln w="7144">
            <a:solidFill>
              <a:srgbClr val="134E4A"/>
            </a:solidFill>
            <a:prstDash val="solid"/>
          </a:ln>
        </p:spPr>
      </p:sp>
      <p:sp>
        <p:nvSpPr>
          <p:cNvPr id="19" name="Text 17"/>
          <p:cNvSpPr/>
          <p:nvPr/>
        </p:nvSpPr>
        <p:spPr>
          <a:xfrm>
            <a:off x="628650" y="2823009"/>
            <a:ext cx="800100" cy="154930"/>
          </a:xfrm>
          <a:prstGeom prst="rect">
            <a:avLst/>
          </a:prstGeom>
          <a:noFill/>
          <a:ln/>
        </p:spPr>
        <p:txBody>
          <a:bodyPr wrap="none" lIns="0" tIns="0" rIns="0" bIns="0" rtlCol="0" anchor="t"/>
          <a:lstStyle/>
          <a:p>
            <a:pPr algn="l" indent="0" marL="0">
              <a:lnSpc>
                <a:spcPts val="1221"/>
              </a:lnSpc>
              <a:buNone/>
            </a:pPr>
            <a:r>
              <a:rPr lang="en-US" sz="800" dirty="0">
                <a:solidFill>
                  <a:srgbClr val="134E4A"/>
                </a:solidFill>
                <a:latin typeface="Liberation Sans Narrow" pitchFamily="34" charset="0"/>
                <a:ea typeface="Liberation Sans Narrow" pitchFamily="34" charset="-122"/>
                <a:cs typeface="Liberation Sans Narrow" pitchFamily="34" charset="-120"/>
              </a:rPr>
              <a:t>2015</a:t>
            </a:r>
            <a:endParaRPr lang="en-US" sz="800" dirty="0"/>
          </a:p>
        </p:txBody>
      </p:sp>
      <p:sp>
        <p:nvSpPr>
          <p:cNvPr id="20" name="Text 18"/>
          <p:cNvSpPr/>
          <p:nvPr/>
        </p:nvSpPr>
        <p:spPr>
          <a:xfrm>
            <a:off x="1228725" y="2823009"/>
            <a:ext cx="2792876" cy="154930"/>
          </a:xfrm>
          <a:prstGeom prst="rect">
            <a:avLst/>
          </a:prstGeom>
          <a:noFill/>
          <a:ln/>
        </p:spPr>
        <p:txBody>
          <a:bodyPr wrap="square" lIns="0" tIns="0" rIns="0" bIns="0" rtlCol="0" anchor="t"/>
          <a:lstStyle/>
          <a:p>
            <a:pPr algn="l" indent="0" marL="0">
              <a:lnSpc>
                <a:spcPts val="1139"/>
              </a:lnSpc>
              <a:buNone/>
            </a:pPr>
            <a:r>
              <a:rPr lang="en-US" sz="800" dirty="0">
                <a:solidFill>
                  <a:srgbClr val="0F172A"/>
                </a:solidFill>
                <a:latin typeface="Carlito" pitchFamily="34" charset="0"/>
                <a:ea typeface="Carlito" pitchFamily="34" charset="-122"/>
                <a:cs typeface="Carlito" pitchFamily="34" charset="-120"/>
              </a:rPr>
              <a:t>PRISMA-P untuk protokol review sistematik.</a:t>
            </a:r>
            <a:endParaRPr lang="en-US" sz="800" dirty="0"/>
          </a:p>
        </p:txBody>
      </p:sp>
      <p:sp>
        <p:nvSpPr>
          <p:cNvPr id="21" name="Text 19"/>
          <p:cNvSpPr/>
          <p:nvPr/>
        </p:nvSpPr>
        <p:spPr>
          <a:xfrm>
            <a:off x="628650" y="3127958"/>
            <a:ext cx="800100" cy="169980"/>
          </a:xfrm>
          <a:prstGeom prst="rect">
            <a:avLst/>
          </a:prstGeom>
          <a:noFill/>
          <a:ln/>
        </p:spPr>
        <p:txBody>
          <a:bodyPr wrap="none" lIns="0" tIns="0" rIns="0" bIns="0" rtlCol="0" anchor="t"/>
          <a:lstStyle/>
          <a:p>
            <a:pPr algn="l" indent="0" marL="0">
              <a:lnSpc>
                <a:spcPts val="1221"/>
              </a:lnSpc>
              <a:buNone/>
            </a:pPr>
            <a:r>
              <a:rPr lang="en-US" sz="800" dirty="0">
                <a:solidFill>
                  <a:srgbClr val="134E4A"/>
                </a:solidFill>
                <a:latin typeface="Liberation Sans Narrow" pitchFamily="34" charset="0"/>
                <a:ea typeface="Liberation Sans Narrow" pitchFamily="34" charset="-122"/>
                <a:cs typeface="Liberation Sans Narrow" pitchFamily="34" charset="-120"/>
              </a:rPr>
              <a:t>2020</a:t>
            </a:r>
            <a:endParaRPr lang="en-US" sz="800" dirty="0"/>
          </a:p>
        </p:txBody>
      </p:sp>
      <p:sp>
        <p:nvSpPr>
          <p:cNvPr id="22" name="Text 20"/>
          <p:cNvSpPr/>
          <p:nvPr/>
        </p:nvSpPr>
        <p:spPr>
          <a:xfrm>
            <a:off x="1228725" y="3127958"/>
            <a:ext cx="2683148" cy="493776"/>
          </a:xfrm>
          <a:prstGeom prst="rect">
            <a:avLst/>
          </a:prstGeom>
          <a:noFill/>
          <a:ln/>
        </p:spPr>
        <p:txBody>
          <a:bodyPr wrap="square" lIns="0" tIns="0" rIns="0" bIns="0" rtlCol="0" anchor="t"/>
          <a:lstStyle/>
          <a:p>
            <a:pPr algn="l" indent="0" marL="0">
              <a:lnSpc>
                <a:spcPts val="1139"/>
              </a:lnSpc>
              <a:buNone/>
            </a:pPr>
            <a:r>
              <a:rPr lang="en-US" sz="800" dirty="0">
                <a:solidFill>
                  <a:srgbClr val="0F172A"/>
                </a:solidFill>
                <a:latin typeface="Carlito" pitchFamily="34" charset="0"/>
                <a:ea typeface="Carlito" pitchFamily="34" charset="-122"/>
                <a:cs typeface="Carlito" pitchFamily="34" charset="-120"/>
              </a:rPr>
              <a:t>PRISMA 2020 update besar: 27 item lama menjadi 27 item baru + 5 alur opsional, dengan checklist dan diagram yang dimodernisasi.</a:t>
            </a:r>
            <a:endParaRPr lang="en-US" sz="800" dirty="0"/>
          </a:p>
        </p:txBody>
      </p:sp>
      <p:sp>
        <p:nvSpPr>
          <p:cNvPr id="23" name="Text 21"/>
          <p:cNvSpPr/>
          <p:nvPr/>
        </p:nvSpPr>
        <p:spPr>
          <a:xfrm>
            <a:off x="628650" y="3690528"/>
            <a:ext cx="3283223" cy="170021"/>
          </a:xfrm>
          <a:prstGeom prst="rect">
            <a:avLst/>
          </a:prstGeom>
          <a:noFill/>
          <a:ln/>
        </p:spPr>
        <p:txBody>
          <a:bodyPr wrap="square" lIns="0" tIns="0" rIns="0" bIns="0" rtlCol="0" anchor="t"/>
          <a:lstStyle/>
          <a:p>
            <a:pPr algn="l" indent="0" marL="0">
              <a:lnSpc>
                <a:spcPts val="1046"/>
              </a:lnSpc>
              <a:buNone/>
            </a:pPr>
            <a:r>
              <a:rPr lang="en-US" sz="675" dirty="0">
                <a:solidFill>
                  <a:srgbClr val="64748B"/>
                </a:solidFill>
                <a:latin typeface="Carlito" pitchFamily="34" charset="0"/>
                <a:ea typeface="Carlito" pitchFamily="34" charset="-122"/>
                <a:cs typeface="Carlito" pitchFamily="34" charset="-120"/>
              </a:rPr>
              <a:t>PRISMA 2020 diterbitkan di BMJ &amp; J Clin Epidemiol oleh Page et al.</a:t>
            </a:r>
            <a:endParaRPr lang="en-US" sz="675" dirty="0"/>
          </a:p>
        </p:txBody>
      </p:sp>
      <p:sp>
        <p:nvSpPr>
          <p:cNvPr id="24" name="Text 22"/>
          <p:cNvSpPr/>
          <p:nvPr/>
        </p:nvSpPr>
        <p:spPr>
          <a:xfrm>
            <a:off x="4258345" y="1335100"/>
            <a:ext cx="4424772" cy="2747218"/>
          </a:xfrm>
          <a:prstGeom prst="roundRect">
            <a:avLst>
              <a:gd name="adj" fmla="val 4161"/>
            </a:avLst>
          </a:prstGeom>
          <a:solidFill>
            <a:srgbClr val="FFFFFF"/>
          </a:solidFill>
          <a:ln w="7144">
            <a:solidFill>
              <a:srgbClr val="D8DEE2"/>
            </a:solidFill>
            <a:prstDash val="solid"/>
          </a:ln>
        </p:spPr>
        <p:txBody>
          <a:bodyPr wrap="square" rtlCol="0" anchor="ctr"/>
          <a:lstStyle/>
          <a:p>
            <a:pPr indent="0" marL="0">
              <a:buNone/>
            </a:pPr>
            <a:endParaRPr lang="en-US" dirty="0"/>
          </a:p>
        </p:txBody>
      </p:sp>
      <p:sp>
        <p:nvSpPr>
          <p:cNvPr id="25" name="Text 23"/>
          <p:cNvSpPr/>
          <p:nvPr/>
        </p:nvSpPr>
        <p:spPr>
          <a:xfrm>
            <a:off x="4433367" y="1510122"/>
            <a:ext cx="4074728" cy="189979"/>
          </a:xfrm>
          <a:prstGeom prst="roundRect">
            <a:avLst>
              <a:gd name="adj" fmla="val 5008698"/>
            </a:avLst>
          </a:prstGeom>
          <a:solidFill>
            <a:srgbClr val="FFF1E6"/>
          </a:solidFill>
          <a:ln/>
        </p:spPr>
        <p:txBody>
          <a:bodyPr wrap="square" rtlCol="0" anchor="ctr"/>
          <a:lstStyle/>
          <a:p>
            <a:pPr indent="0" marL="0">
              <a:buNone/>
            </a:pPr>
            <a:endParaRPr lang="en-US" dirty="0"/>
          </a:p>
        </p:txBody>
      </p:sp>
      <p:sp>
        <p:nvSpPr>
          <p:cNvPr id="26" name="Text 24"/>
          <p:cNvSpPr/>
          <p:nvPr/>
        </p:nvSpPr>
        <p:spPr>
          <a:xfrm>
            <a:off x="4433367" y="1510122"/>
            <a:ext cx="4074728" cy="189979"/>
          </a:xfrm>
          <a:prstGeom prst="rect">
            <a:avLst/>
          </a:prstGeom>
          <a:noFill/>
          <a:ln/>
        </p:spPr>
        <p:txBody>
          <a:bodyPr wrap="none" lIns="0" tIns="0" rIns="0" bIns="0" rtlCol="0" anchor="ctr"/>
          <a:lstStyle/>
          <a:p>
            <a:pPr algn="ctr" indent="0" marL="0">
              <a:lnSpc>
                <a:spcPts val="1046"/>
              </a:lnSpc>
              <a:buNone/>
            </a:pPr>
            <a:r>
              <a:rPr lang="en-US" sz="800" spc="27" kern="0" dirty="0">
                <a:solidFill>
                  <a:srgbClr val="EA680C"/>
                </a:solidFill>
                <a:latin typeface="Liberation Sans Narrow" pitchFamily="34" charset="0"/>
                <a:ea typeface="Liberation Sans Narrow" pitchFamily="34" charset="-122"/>
                <a:cs typeface="Liberation Sans Narrow" pitchFamily="34" charset="-120"/>
              </a:rPr>
              <a:t>PRINSIP INTI 2020</a:t>
            </a:r>
            <a:endParaRPr lang="en-US" sz="800" dirty="0"/>
          </a:p>
        </p:txBody>
      </p:sp>
      <p:sp>
        <p:nvSpPr>
          <p:cNvPr id="27" name="Text 25"/>
          <p:cNvSpPr/>
          <p:nvPr/>
        </p:nvSpPr>
        <p:spPr>
          <a:xfrm>
            <a:off x="4433367" y="1771538"/>
            <a:ext cx="4074728" cy="185166"/>
          </a:xfrm>
          <a:prstGeom prst="rect">
            <a:avLst/>
          </a:prstGeom>
          <a:noFill/>
          <a:ln/>
        </p:spPr>
        <p:txBody>
          <a:bodyPr wrap="none" lIns="0" tIns="0" rIns="0" bIns="0" rtlCol="0" anchor="t"/>
          <a:lstStyle/>
          <a:p>
            <a:pPr algn="l" indent="0" marL="0">
              <a:lnSpc>
                <a:spcPts val="1350"/>
              </a:lnSpc>
              <a:buNone/>
            </a:pPr>
            <a:r>
              <a:rPr lang="en-US" sz="1125" dirty="0">
                <a:solidFill>
                  <a:srgbClr val="134E4A"/>
                </a:solidFill>
                <a:latin typeface="Tinos" pitchFamily="34" charset="0"/>
                <a:ea typeface="Tinos" pitchFamily="34" charset="-122"/>
                <a:cs typeface="Tinos" pitchFamily="34" charset="-120"/>
              </a:rPr>
              <a:t>Empat Pilar Pelaporan</a:t>
            </a:r>
            <a:endParaRPr lang="en-US" sz="1125" dirty="0"/>
          </a:p>
        </p:txBody>
      </p:sp>
      <p:sp>
        <p:nvSpPr>
          <p:cNvPr id="28" name="Shape 26"/>
          <p:cNvSpPr/>
          <p:nvPr/>
        </p:nvSpPr>
        <p:spPr>
          <a:xfrm>
            <a:off x="4433367" y="2434791"/>
            <a:ext cx="4074728" cy="0"/>
          </a:xfrm>
          <a:prstGeom prst="line">
            <a:avLst/>
          </a:prstGeom>
          <a:noFill/>
          <a:ln w="7144">
            <a:solidFill>
              <a:srgbClr val="E2E8F0"/>
            </a:solidFill>
            <a:prstDash val="solid"/>
          </a:ln>
        </p:spPr>
      </p:sp>
      <p:sp>
        <p:nvSpPr>
          <p:cNvPr id="29" name="Text 27"/>
          <p:cNvSpPr/>
          <p:nvPr/>
        </p:nvSpPr>
        <p:spPr>
          <a:xfrm>
            <a:off x="4433367" y="2071576"/>
            <a:ext cx="142875" cy="142875"/>
          </a:xfrm>
          <a:prstGeom prst="rect">
            <a:avLst/>
          </a:prstGeom>
          <a:noFill/>
          <a:ln/>
        </p:spPr>
        <p:txBody>
          <a:bodyPr wrap="none" lIns="0" tIns="0" rIns="0" bIns="0" rtlCol="0" anchor="ctr"/>
          <a:lstStyle/>
          <a:p>
            <a:pPr algn="ctr" indent="0" marL="0">
              <a:buNone/>
            </a:pPr>
            <a:r>
              <a:rPr lang="en-US" sz="1406" dirty="0">
                <a:solidFill>
                  <a:srgbClr val="F97316"/>
                </a:solidFill>
                <a:latin typeface="Segoe UI Symbol" pitchFamily="34" charset="0"/>
                <a:ea typeface="Segoe UI Symbol" pitchFamily="34" charset="-122"/>
                <a:cs typeface="Segoe UI Symbol" pitchFamily="34" charset="-120"/>
              </a:rPr>
              <a:t>✓</a:t>
            </a:r>
            <a:endParaRPr lang="en-US" sz="1406" dirty="0"/>
          </a:p>
        </p:txBody>
      </p:sp>
      <p:sp>
        <p:nvSpPr>
          <p:cNvPr id="30" name="Text 28"/>
          <p:cNvSpPr/>
          <p:nvPr/>
        </p:nvSpPr>
        <p:spPr>
          <a:xfrm>
            <a:off x="4719117" y="2071576"/>
            <a:ext cx="3788978" cy="121471"/>
          </a:xfrm>
          <a:prstGeom prst="rect">
            <a:avLst/>
          </a:prstGeom>
          <a:noFill/>
          <a:ln/>
        </p:spPr>
        <p:txBody>
          <a:bodyPr wrap="none" lIns="0" tIns="0" rIns="0" bIns="0" rtlCol="0" anchor="t">
            <a:normAutofit/>
          </a:bodyPr>
          <a:lstStyle/>
          <a:p>
            <a:pPr algn="l" indent="0" marL="0">
              <a:lnSpc>
                <a:spcPts val="1060"/>
              </a:lnSpc>
              <a:buNone/>
            </a:pPr>
            <a:r>
              <a:rPr lang="en-US" sz="816" b="1" dirty="0">
                <a:solidFill>
                  <a:srgbClr val="134E4A"/>
                </a:solidFill>
                <a:latin typeface="Carlito" pitchFamily="34" charset="0"/>
                <a:ea typeface="Carlito" pitchFamily="34" charset="-122"/>
                <a:cs typeface="Carlito" pitchFamily="34" charset="-120"/>
              </a:rPr>
              <a:t>Transparansi</a:t>
            </a:r>
            <a:endParaRPr lang="en-US" sz="816" dirty="0"/>
          </a:p>
        </p:txBody>
      </p:sp>
      <p:sp>
        <p:nvSpPr>
          <p:cNvPr id="31" name="Text 29"/>
          <p:cNvSpPr/>
          <p:nvPr/>
        </p:nvSpPr>
        <p:spPr>
          <a:xfrm>
            <a:off x="4719117" y="2220478"/>
            <a:ext cx="3788978" cy="139303"/>
          </a:xfrm>
          <a:prstGeom prst="rect">
            <a:avLst/>
          </a:prstGeom>
          <a:noFill/>
          <a:ln/>
        </p:spPr>
        <p:txBody>
          <a:bodyPr wrap="square" lIns="0" tIns="0" rIns="0" bIns="0" rtlCol="0" anchor="t"/>
          <a:lstStyle/>
          <a:p>
            <a:pPr algn="l" indent="0" marL="0">
              <a:lnSpc>
                <a:spcPts val="1097"/>
              </a:lnSpc>
              <a:buNone/>
            </a:pPr>
            <a:r>
              <a:rPr lang="en-US" sz="800" dirty="0">
                <a:solidFill>
                  <a:srgbClr val="475569"/>
                </a:solidFill>
                <a:latin typeface="Carlito" pitchFamily="34" charset="0"/>
                <a:ea typeface="Carlito" pitchFamily="34" charset="-122"/>
                <a:cs typeface="Carlito" pitchFamily="34" charset="-120"/>
              </a:rPr>
              <a:t>Setiap langkah pelaporan dapat ditelusuri ulang oleh pembaca.</a:t>
            </a:r>
            <a:endParaRPr lang="en-US" sz="800" dirty="0"/>
          </a:p>
        </p:txBody>
      </p:sp>
      <p:sp>
        <p:nvSpPr>
          <p:cNvPr id="32" name="Shape 30"/>
          <p:cNvSpPr/>
          <p:nvPr/>
        </p:nvSpPr>
        <p:spPr>
          <a:xfrm>
            <a:off x="4433367" y="2873015"/>
            <a:ext cx="4074728" cy="0"/>
          </a:xfrm>
          <a:prstGeom prst="line">
            <a:avLst/>
          </a:prstGeom>
          <a:noFill/>
          <a:ln w="7144">
            <a:solidFill>
              <a:srgbClr val="E2E8F0"/>
            </a:solidFill>
            <a:prstDash val="solid"/>
          </a:ln>
        </p:spPr>
      </p:sp>
      <p:sp>
        <p:nvSpPr>
          <p:cNvPr id="33" name="Text 31"/>
          <p:cNvSpPr/>
          <p:nvPr/>
        </p:nvSpPr>
        <p:spPr>
          <a:xfrm>
            <a:off x="4433367" y="2509800"/>
            <a:ext cx="142875" cy="142875"/>
          </a:xfrm>
          <a:prstGeom prst="rect">
            <a:avLst/>
          </a:prstGeom>
          <a:noFill/>
          <a:ln/>
        </p:spPr>
        <p:txBody>
          <a:bodyPr wrap="none" lIns="0" tIns="0" rIns="0" bIns="0" rtlCol="0" anchor="ctr"/>
          <a:lstStyle/>
          <a:p>
            <a:pPr algn="ctr" indent="0" marL="0">
              <a:buNone/>
            </a:pPr>
            <a:r>
              <a:rPr lang="en-US" sz="1406" dirty="0">
                <a:solidFill>
                  <a:srgbClr val="F97316"/>
                </a:solidFill>
                <a:latin typeface="Segoe UI Symbol" pitchFamily="34" charset="0"/>
                <a:ea typeface="Segoe UI Symbol" pitchFamily="34" charset="-122"/>
                <a:cs typeface="Segoe UI Symbol" pitchFamily="34" charset="-120"/>
              </a:rPr>
              <a:t>✓</a:t>
            </a:r>
            <a:endParaRPr lang="en-US" sz="1406" dirty="0"/>
          </a:p>
        </p:txBody>
      </p:sp>
      <p:sp>
        <p:nvSpPr>
          <p:cNvPr id="34" name="Text 32"/>
          <p:cNvSpPr/>
          <p:nvPr/>
        </p:nvSpPr>
        <p:spPr>
          <a:xfrm>
            <a:off x="4719117" y="2509800"/>
            <a:ext cx="3788978" cy="121471"/>
          </a:xfrm>
          <a:prstGeom prst="rect">
            <a:avLst/>
          </a:prstGeom>
          <a:noFill/>
          <a:ln/>
        </p:spPr>
        <p:txBody>
          <a:bodyPr wrap="none" lIns="0" tIns="0" rIns="0" bIns="0" rtlCol="0" anchor="t">
            <a:normAutofit/>
          </a:bodyPr>
          <a:lstStyle/>
          <a:p>
            <a:pPr algn="l" indent="0" marL="0">
              <a:lnSpc>
                <a:spcPts val="1060"/>
              </a:lnSpc>
              <a:buNone/>
            </a:pPr>
            <a:r>
              <a:rPr lang="en-US" sz="816" b="1" dirty="0">
                <a:solidFill>
                  <a:srgbClr val="134E4A"/>
                </a:solidFill>
                <a:latin typeface="Carlito" pitchFamily="34" charset="0"/>
                <a:ea typeface="Carlito" pitchFamily="34" charset="-122"/>
                <a:cs typeface="Carlito" pitchFamily="34" charset="-120"/>
              </a:rPr>
              <a:t>Reproducibility</a:t>
            </a:r>
            <a:endParaRPr lang="en-US" sz="816" dirty="0"/>
          </a:p>
        </p:txBody>
      </p:sp>
      <p:sp>
        <p:nvSpPr>
          <p:cNvPr id="35" name="Text 33"/>
          <p:cNvSpPr/>
          <p:nvPr/>
        </p:nvSpPr>
        <p:spPr>
          <a:xfrm>
            <a:off x="4719117" y="2658703"/>
            <a:ext cx="3788978" cy="139303"/>
          </a:xfrm>
          <a:prstGeom prst="rect">
            <a:avLst/>
          </a:prstGeom>
          <a:noFill/>
          <a:ln/>
        </p:spPr>
        <p:txBody>
          <a:bodyPr wrap="square" lIns="0" tIns="0" rIns="0" bIns="0" rtlCol="0" anchor="t"/>
          <a:lstStyle/>
          <a:p>
            <a:pPr algn="l" indent="0" marL="0">
              <a:lnSpc>
                <a:spcPts val="1097"/>
              </a:lnSpc>
              <a:buNone/>
            </a:pPr>
            <a:r>
              <a:rPr lang="en-US" sz="800" dirty="0">
                <a:solidFill>
                  <a:srgbClr val="475569"/>
                </a:solidFill>
                <a:latin typeface="Carlito" pitchFamily="34" charset="0"/>
                <a:ea typeface="Carlito" pitchFamily="34" charset="-122"/>
                <a:cs typeface="Carlito" pitchFamily="34" charset="-120"/>
              </a:rPr>
              <a:t>Proses didokumentasikan cukup detail untuk diulang peneliti lain.</a:t>
            </a:r>
            <a:endParaRPr lang="en-US" sz="800" dirty="0"/>
          </a:p>
        </p:txBody>
      </p:sp>
      <p:sp>
        <p:nvSpPr>
          <p:cNvPr id="36" name="Shape 34"/>
          <p:cNvSpPr/>
          <p:nvPr/>
        </p:nvSpPr>
        <p:spPr>
          <a:xfrm>
            <a:off x="4433367" y="3311240"/>
            <a:ext cx="4074728" cy="0"/>
          </a:xfrm>
          <a:prstGeom prst="line">
            <a:avLst/>
          </a:prstGeom>
          <a:noFill/>
          <a:ln w="7144">
            <a:solidFill>
              <a:srgbClr val="E2E8F0"/>
            </a:solidFill>
            <a:prstDash val="solid"/>
          </a:ln>
        </p:spPr>
      </p:sp>
      <p:sp>
        <p:nvSpPr>
          <p:cNvPr id="37" name="Text 35"/>
          <p:cNvSpPr/>
          <p:nvPr/>
        </p:nvSpPr>
        <p:spPr>
          <a:xfrm>
            <a:off x="4433367" y="2948025"/>
            <a:ext cx="142875" cy="142875"/>
          </a:xfrm>
          <a:prstGeom prst="rect">
            <a:avLst/>
          </a:prstGeom>
          <a:noFill/>
          <a:ln/>
        </p:spPr>
        <p:txBody>
          <a:bodyPr wrap="none" lIns="0" tIns="0" rIns="0" bIns="0" rtlCol="0" anchor="ctr"/>
          <a:lstStyle/>
          <a:p>
            <a:pPr algn="ctr" indent="0" marL="0">
              <a:buNone/>
            </a:pPr>
            <a:r>
              <a:rPr lang="en-US" sz="1406" dirty="0">
                <a:solidFill>
                  <a:srgbClr val="F97316"/>
                </a:solidFill>
                <a:latin typeface="Segoe UI Symbol" pitchFamily="34" charset="0"/>
                <a:ea typeface="Segoe UI Symbol" pitchFamily="34" charset="-122"/>
                <a:cs typeface="Segoe UI Symbol" pitchFamily="34" charset="-120"/>
              </a:rPr>
              <a:t>✓</a:t>
            </a:r>
            <a:endParaRPr lang="en-US" sz="1406" dirty="0"/>
          </a:p>
        </p:txBody>
      </p:sp>
      <p:sp>
        <p:nvSpPr>
          <p:cNvPr id="38" name="Text 36"/>
          <p:cNvSpPr/>
          <p:nvPr/>
        </p:nvSpPr>
        <p:spPr>
          <a:xfrm>
            <a:off x="4719117" y="2948025"/>
            <a:ext cx="3788978" cy="121471"/>
          </a:xfrm>
          <a:prstGeom prst="rect">
            <a:avLst/>
          </a:prstGeom>
          <a:noFill/>
          <a:ln/>
        </p:spPr>
        <p:txBody>
          <a:bodyPr wrap="none" lIns="0" tIns="0" rIns="0" bIns="0" rtlCol="0" anchor="t">
            <a:normAutofit/>
          </a:bodyPr>
          <a:lstStyle/>
          <a:p>
            <a:pPr algn="l" indent="0" marL="0">
              <a:lnSpc>
                <a:spcPts val="1060"/>
              </a:lnSpc>
              <a:buNone/>
            </a:pPr>
            <a:r>
              <a:rPr lang="en-US" sz="816" b="1" dirty="0">
                <a:solidFill>
                  <a:srgbClr val="134E4A"/>
                </a:solidFill>
                <a:latin typeface="Carlito" pitchFamily="34" charset="0"/>
                <a:ea typeface="Carlito" pitchFamily="34" charset="-122"/>
                <a:cs typeface="Carlito" pitchFamily="34" charset="-120"/>
              </a:rPr>
              <a:t>Penilaian Kualitas</a:t>
            </a:r>
            <a:endParaRPr lang="en-US" sz="816" dirty="0"/>
          </a:p>
        </p:txBody>
      </p:sp>
      <p:sp>
        <p:nvSpPr>
          <p:cNvPr id="39" name="Text 37"/>
          <p:cNvSpPr/>
          <p:nvPr/>
        </p:nvSpPr>
        <p:spPr>
          <a:xfrm>
            <a:off x="4719117" y="3096927"/>
            <a:ext cx="3788978" cy="139303"/>
          </a:xfrm>
          <a:prstGeom prst="rect">
            <a:avLst/>
          </a:prstGeom>
          <a:noFill/>
          <a:ln/>
        </p:spPr>
        <p:txBody>
          <a:bodyPr wrap="square" lIns="0" tIns="0" rIns="0" bIns="0" rtlCol="0" anchor="t"/>
          <a:lstStyle/>
          <a:p>
            <a:pPr algn="l" indent="0" marL="0">
              <a:lnSpc>
                <a:spcPts val="1097"/>
              </a:lnSpc>
              <a:buNone/>
            </a:pPr>
            <a:r>
              <a:rPr lang="en-US" sz="800" dirty="0">
                <a:solidFill>
                  <a:srgbClr val="475569"/>
                </a:solidFill>
                <a:latin typeface="Carlito" pitchFamily="34" charset="0"/>
                <a:ea typeface="Carlito" pitchFamily="34" charset="-122"/>
                <a:cs typeface="Carlito" pitchFamily="34" charset="-120"/>
              </a:rPr>
              <a:t>Risk of bias dan certainty of evidence dilaporkan eksplisit.</a:t>
            </a:r>
            <a:endParaRPr lang="en-US" sz="800" dirty="0"/>
          </a:p>
        </p:txBody>
      </p:sp>
      <p:sp>
        <p:nvSpPr>
          <p:cNvPr id="40" name="Text 38"/>
          <p:cNvSpPr/>
          <p:nvPr/>
        </p:nvSpPr>
        <p:spPr>
          <a:xfrm>
            <a:off x="4433367" y="3386249"/>
            <a:ext cx="142875" cy="142875"/>
          </a:xfrm>
          <a:prstGeom prst="rect">
            <a:avLst/>
          </a:prstGeom>
          <a:noFill/>
          <a:ln/>
        </p:spPr>
        <p:txBody>
          <a:bodyPr wrap="none" lIns="0" tIns="0" rIns="0" bIns="0" rtlCol="0" anchor="ctr"/>
          <a:lstStyle/>
          <a:p>
            <a:pPr algn="ctr" indent="0" marL="0">
              <a:buNone/>
            </a:pPr>
            <a:r>
              <a:rPr lang="en-US" sz="1406" dirty="0">
                <a:solidFill>
                  <a:srgbClr val="F97316"/>
                </a:solidFill>
                <a:latin typeface="Segoe UI Symbol" pitchFamily="34" charset="0"/>
                <a:ea typeface="Segoe UI Symbol" pitchFamily="34" charset="-122"/>
                <a:cs typeface="Segoe UI Symbol" pitchFamily="34" charset="-120"/>
              </a:rPr>
              <a:t>✓</a:t>
            </a:r>
            <a:endParaRPr lang="en-US" sz="1406" dirty="0"/>
          </a:p>
        </p:txBody>
      </p:sp>
      <p:sp>
        <p:nvSpPr>
          <p:cNvPr id="41" name="Text 39"/>
          <p:cNvSpPr/>
          <p:nvPr/>
        </p:nvSpPr>
        <p:spPr>
          <a:xfrm>
            <a:off x="4719117" y="3386249"/>
            <a:ext cx="3788978" cy="121471"/>
          </a:xfrm>
          <a:prstGeom prst="rect">
            <a:avLst/>
          </a:prstGeom>
          <a:noFill/>
          <a:ln/>
        </p:spPr>
        <p:txBody>
          <a:bodyPr wrap="none" lIns="0" tIns="0" rIns="0" bIns="0" rtlCol="0" anchor="t">
            <a:normAutofit/>
          </a:bodyPr>
          <a:lstStyle/>
          <a:p>
            <a:pPr algn="l" indent="0" marL="0">
              <a:lnSpc>
                <a:spcPts val="1060"/>
              </a:lnSpc>
              <a:buNone/>
            </a:pPr>
            <a:r>
              <a:rPr lang="en-US" sz="816" b="1" dirty="0">
                <a:solidFill>
                  <a:srgbClr val="134E4A"/>
                </a:solidFill>
                <a:latin typeface="Carlito" pitchFamily="34" charset="0"/>
                <a:ea typeface="Carlito" pitchFamily="34" charset="-122"/>
                <a:cs typeface="Carlito" pitchFamily="34" charset="-120"/>
              </a:rPr>
              <a:t>Pendaftaran Protokol</a:t>
            </a:r>
            <a:endParaRPr lang="en-US" sz="816" dirty="0"/>
          </a:p>
        </p:txBody>
      </p:sp>
      <p:sp>
        <p:nvSpPr>
          <p:cNvPr id="42" name="Text 40"/>
          <p:cNvSpPr/>
          <p:nvPr/>
        </p:nvSpPr>
        <p:spPr>
          <a:xfrm>
            <a:off x="4719117" y="3535152"/>
            <a:ext cx="3788978" cy="164592"/>
          </a:xfrm>
          <a:prstGeom prst="rect">
            <a:avLst/>
          </a:prstGeom>
          <a:noFill/>
          <a:ln/>
        </p:spPr>
        <p:txBody>
          <a:bodyPr wrap="square" lIns="0" tIns="0" rIns="0" bIns="0" rtlCol="0" anchor="t"/>
          <a:lstStyle/>
          <a:p>
            <a:pPr algn="l" indent="0" marL="0">
              <a:lnSpc>
                <a:spcPts val="1097"/>
              </a:lnSpc>
              <a:buNone/>
            </a:pPr>
            <a:r>
              <a:rPr lang="en-US" sz="800" dirty="0">
                <a:solidFill>
                  <a:srgbClr val="475569"/>
                </a:solidFill>
                <a:latin typeface="Carlito" pitchFamily="34" charset="0"/>
                <a:ea typeface="Carlito" pitchFamily="34" charset="-122"/>
                <a:cs typeface="Carlito" pitchFamily="34" charset="-120"/>
              </a:rPr>
              <a:t>Review harus terdaftar (PROSPERO) sebelum screening dimulai.</a:t>
            </a:r>
            <a:endParaRPr lang="en-US" sz="800" dirty="0"/>
          </a:p>
        </p:txBody>
      </p:sp>
      <p:sp>
        <p:nvSpPr>
          <p:cNvPr id="43" name="Text 41"/>
          <p:cNvSpPr/>
          <p:nvPr/>
        </p:nvSpPr>
        <p:spPr>
          <a:xfrm>
            <a:off x="4433367" y="3817330"/>
            <a:ext cx="4074728" cy="132829"/>
          </a:xfrm>
          <a:prstGeom prst="rect">
            <a:avLst/>
          </a:prstGeom>
          <a:noFill/>
          <a:ln/>
        </p:spPr>
        <p:txBody>
          <a:bodyPr wrap="square" lIns="0" tIns="0" rIns="0" bIns="0" rtlCol="0" anchor="t"/>
          <a:lstStyle/>
          <a:p>
            <a:pPr algn="l" indent="0" marL="0">
              <a:lnSpc>
                <a:spcPts val="1046"/>
              </a:lnSpc>
              <a:buNone/>
            </a:pPr>
            <a:r>
              <a:rPr lang="en-US" sz="800" i="1" dirty="0">
                <a:solidFill>
                  <a:srgbClr val="64748B"/>
                </a:solidFill>
                <a:latin typeface="Carlito" pitchFamily="34" charset="0"/>
                <a:ea typeface="Carlito" pitchFamily="34" charset="-122"/>
                <a:cs typeface="Carlito" pitchFamily="34" charset="-120"/>
              </a:rPr>
              <a:t>Sumber: Page MJ, et al. The PRISMA 2020 statement. BMJ 2021;372:n71.</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134E4A"/>
          </a:solidFill>
          <a:ln/>
        </p:spPr>
        <p:txBody>
          <a:bodyPr wrap="square" rtlCol="0" anchor="ctr"/>
          <a:lstStyle/>
          <a:p>
            <a:pPr indent="0" marL="0">
              <a:buNone/>
            </a:pPr>
            <a:endParaRPr lang="en-US" dirty="0"/>
          </a:p>
        </p:txBody>
      </p:sp>
      <p:sp>
        <p:nvSpPr>
          <p:cNvPr id="3" name="Text 1"/>
          <p:cNvSpPr/>
          <p:nvPr/>
        </p:nvSpPr>
        <p:spPr>
          <a:xfrm>
            <a:off x="6553391" y="3486150"/>
            <a:ext cx="2590610" cy="1543050"/>
          </a:xfrm>
          <a:prstGeom prst="rect">
            <a:avLst/>
          </a:prstGeom>
          <a:noFill/>
          <a:ln/>
        </p:spPr>
        <p:txBody>
          <a:bodyPr wrap="square" lIns="0" tIns="0" rIns="0" bIns="0" rtlCol="0" anchor="t"/>
          <a:lstStyle/>
          <a:p>
            <a:pPr algn="l" indent="0" marL="0">
              <a:lnSpc>
                <a:spcPts val="11250"/>
              </a:lnSpc>
              <a:buNone/>
            </a:pPr>
            <a:r>
              <a:rPr lang="en-US" sz="11250" spc="-450" kern="0" dirty="0">
                <a:solidFill>
                  <a:srgbClr val="FFFFFF">
                    <a:alpha val="8000"/>
                  </a:srgbClr>
                </a:solidFill>
                <a:latin typeface="Liberation Sans Narrow" pitchFamily="34" charset="0"/>
                <a:ea typeface="Liberation Sans Narrow" pitchFamily="34" charset="-122"/>
                <a:cs typeface="Liberation Sans Narrow" pitchFamily="34" charset="-120"/>
              </a:rPr>
              <a:t>02</a:t>
            </a:r>
            <a:endParaRPr lang="en-US" sz="11250" dirty="0"/>
          </a:p>
        </p:txBody>
      </p:sp>
      <p:sp>
        <p:nvSpPr>
          <p:cNvPr id="4" name="Text 2"/>
          <p:cNvSpPr/>
          <p:nvPr/>
        </p:nvSpPr>
        <p:spPr>
          <a:xfrm>
            <a:off x="457200" y="457200"/>
            <a:ext cx="8636000" cy="164592"/>
          </a:xfrm>
          <a:prstGeom prst="rect">
            <a:avLst/>
          </a:prstGeom>
          <a:noFill/>
          <a:ln/>
        </p:spPr>
        <p:txBody>
          <a:bodyPr wrap="none" lIns="0" tIns="0" rIns="0" bIns="0" rtlCol="0" anchor="t"/>
          <a:lstStyle/>
          <a:p>
            <a:pPr algn="l" indent="0" marL="0">
              <a:lnSpc>
                <a:spcPts val="1181"/>
              </a:lnSpc>
              <a:buNone/>
            </a:pPr>
            <a:r>
              <a:rPr lang="en-US" sz="800" spc="126" kern="0" dirty="0">
                <a:solidFill>
                  <a:srgbClr val="F97316"/>
                </a:solidFill>
                <a:latin typeface="Liberation Sans Narrow" pitchFamily="34" charset="0"/>
                <a:ea typeface="Liberation Sans Narrow" pitchFamily="34" charset="-122"/>
                <a:cs typeface="Liberation Sans Narrow" pitchFamily="34" charset="-120"/>
              </a:rPr>
              <a:t>BAB 02 / 04</a:t>
            </a:r>
            <a:endParaRPr lang="en-US" sz="800" dirty="0"/>
          </a:p>
        </p:txBody>
      </p:sp>
      <p:sp>
        <p:nvSpPr>
          <p:cNvPr id="5" name="Text 3"/>
          <p:cNvSpPr/>
          <p:nvPr/>
        </p:nvSpPr>
        <p:spPr>
          <a:xfrm>
            <a:off x="457200" y="1767408"/>
            <a:ext cx="8636000" cy="610951"/>
          </a:xfrm>
          <a:prstGeom prst="rect">
            <a:avLst/>
          </a:prstGeom>
          <a:noFill/>
          <a:ln/>
        </p:spPr>
        <p:txBody>
          <a:bodyPr wrap="none" lIns="0" tIns="0" rIns="0" bIns="0" rtlCol="0" anchor="t"/>
          <a:lstStyle/>
          <a:p>
            <a:pPr algn="l" indent="0" marL="0">
              <a:lnSpc>
                <a:spcPts val="4455"/>
              </a:lnSpc>
              <a:buNone/>
            </a:pPr>
            <a:r>
              <a:rPr lang="en-US" sz="4050" spc="-61" kern="0" dirty="0">
                <a:solidFill>
                  <a:srgbClr val="FFFFFF"/>
                </a:solidFill>
                <a:latin typeface="Tinos" pitchFamily="34" charset="0"/>
                <a:ea typeface="Tinos" pitchFamily="34" charset="-122"/>
                <a:cs typeface="Tinos" pitchFamily="34" charset="-120"/>
              </a:rPr>
              <a:t>Persiapan &amp; Perencanaan</a:t>
            </a:r>
            <a:endParaRPr lang="en-US" sz="4050" dirty="0"/>
          </a:p>
        </p:txBody>
      </p:sp>
      <p:sp>
        <p:nvSpPr>
          <p:cNvPr id="6" name="Text 4"/>
          <p:cNvSpPr/>
          <p:nvPr/>
        </p:nvSpPr>
        <p:spPr>
          <a:xfrm>
            <a:off x="457200" y="2504554"/>
            <a:ext cx="857250" cy="28575"/>
          </a:xfrm>
          <a:prstGeom prst="rect">
            <a:avLst/>
          </a:prstGeom>
          <a:solidFill>
            <a:srgbClr val="F97316"/>
          </a:solidFill>
          <a:ln/>
        </p:spPr>
        <p:txBody>
          <a:bodyPr wrap="square" rtlCol="0" anchor="ctr"/>
          <a:lstStyle/>
          <a:p>
            <a:pPr indent="0" marL="0">
              <a:buNone/>
            </a:pPr>
            <a:endParaRPr lang="en-US" dirty="0"/>
          </a:p>
        </p:txBody>
      </p:sp>
      <p:sp>
        <p:nvSpPr>
          <p:cNvPr id="7" name="Text 5"/>
          <p:cNvSpPr/>
          <p:nvPr/>
        </p:nvSpPr>
        <p:spPr>
          <a:xfrm>
            <a:off x="457200" y="2733154"/>
            <a:ext cx="5000625" cy="694373"/>
          </a:xfrm>
          <a:prstGeom prst="rect">
            <a:avLst/>
          </a:prstGeom>
          <a:noFill/>
          <a:ln/>
        </p:spPr>
        <p:txBody>
          <a:bodyPr wrap="square" lIns="0" tIns="0" rIns="0" bIns="0" rtlCol="0" anchor="t"/>
          <a:lstStyle/>
          <a:p>
            <a:pPr algn="l" indent="0" marL="0">
              <a:lnSpc>
                <a:spcPts val="1688"/>
              </a:lnSpc>
              <a:buNone/>
            </a:pPr>
            <a:r>
              <a:rPr lang="en-US" sz="1125" dirty="0">
                <a:solidFill>
                  <a:srgbClr val="E0ECEB"/>
                </a:solidFill>
                <a:latin typeface="Carlito" pitchFamily="34" charset="0"/>
                <a:ea typeface="Carlito" pitchFamily="34" charset="-122"/>
                <a:cs typeface="Carlito" pitchFamily="34" charset="-120"/>
              </a:rPr>
              <a:t>Menyusun pertanyaan riset dengan framework PICO/PICOC, menetapkan kriteria inklusi-eksklusi, dan merancang strategi pencarian database yang reproducible.</a:t>
            </a:r>
            <a:endParaRPr lang="en-US" sz="1125" dirty="0"/>
          </a:p>
        </p:txBody>
      </p:sp>
      <p:sp>
        <p:nvSpPr>
          <p:cNvPr id="8" name="Text 6"/>
          <p:cNvSpPr/>
          <p:nvPr/>
        </p:nvSpPr>
        <p:spPr>
          <a:xfrm>
            <a:off x="457200" y="4729163"/>
            <a:ext cx="3536821" cy="164592"/>
          </a:xfrm>
          <a:prstGeom prst="rect">
            <a:avLst/>
          </a:prstGeom>
          <a:noFill/>
          <a:ln/>
        </p:spPr>
        <p:txBody>
          <a:bodyPr wrap="square" lIns="0" tIns="0" rIns="0" bIns="0" rtlCol="0" anchor="t"/>
          <a:lstStyle/>
          <a:p>
            <a:pPr algn="l" indent="0" marL="0">
              <a:lnSpc>
                <a:spcPts val="1013"/>
              </a:lnSpc>
              <a:buNone/>
            </a:pPr>
            <a:r>
              <a:rPr lang="en-US" sz="800" spc="81" kern="0" dirty="0">
                <a:solidFill>
                  <a:srgbClr val="FFFFFF">
                    <a:alpha val="55000"/>
                  </a:srgbClr>
                </a:solidFill>
                <a:latin typeface="Carlito" pitchFamily="34" charset="0"/>
                <a:ea typeface="Carlito" pitchFamily="34" charset="-122"/>
                <a:cs typeface="Carlito" pitchFamily="34" charset="-120"/>
              </a:rPr>
              <a:t>TAHAPAN SLR · PRISMA 2020 · PERSIAPAN &amp; PERENCANAAN</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F5F7F8"/>
          </a:solidFill>
          <a:ln/>
        </p:spPr>
        <p:txBody>
          <a:bodyPr wrap="square" rtlCol="0" anchor="ctr"/>
          <a:lstStyle/>
          <a:p>
            <a:pPr indent="0" marL="0">
              <a:buNone/>
            </a:pPr>
            <a:endParaRPr lang="en-US" dirty="0"/>
          </a:p>
        </p:txBody>
      </p:sp>
      <p:sp>
        <p:nvSpPr>
          <p:cNvPr id="3" name="Text 1"/>
          <p:cNvSpPr/>
          <p:nvPr/>
        </p:nvSpPr>
        <p:spPr>
          <a:xfrm>
            <a:off x="400050" y="171450"/>
            <a:ext cx="1605335" cy="185738"/>
          </a:xfrm>
          <a:prstGeom prst="roundRect">
            <a:avLst>
              <a:gd name="adj" fmla="val 5123063"/>
            </a:avLst>
          </a:prstGeom>
          <a:solidFill>
            <a:srgbClr val="E0ECEB"/>
          </a:solidFill>
          <a:ln/>
        </p:spPr>
        <p:txBody>
          <a:bodyPr wrap="square" rtlCol="0" anchor="ctr"/>
          <a:lstStyle/>
          <a:p>
            <a:pPr indent="0" marL="0">
              <a:buNone/>
            </a:pPr>
            <a:endParaRPr lang="en-US" dirty="0"/>
          </a:p>
        </p:txBody>
      </p:sp>
      <p:sp>
        <p:nvSpPr>
          <p:cNvPr id="4" name="Text 2"/>
          <p:cNvSpPr/>
          <p:nvPr/>
        </p:nvSpPr>
        <p:spPr>
          <a:xfrm>
            <a:off x="400050" y="171450"/>
            <a:ext cx="7908020" cy="237744"/>
          </a:xfrm>
          <a:prstGeom prst="rect">
            <a:avLst/>
          </a:prstGeom>
          <a:noFill/>
          <a:ln/>
        </p:spPr>
        <p:txBody>
          <a:bodyPr wrap="none" lIns="71438" tIns="28575" rIns="71438" bIns="28575" rtlCol="0" anchor="t"/>
          <a:lstStyle/>
          <a:p>
            <a:pPr algn="l" indent="0" marL="0">
              <a:lnSpc>
                <a:spcPts val="1013"/>
              </a:lnSpc>
              <a:buNone/>
            </a:pPr>
            <a:r>
              <a:rPr lang="en-US" sz="800" spc="27" kern="0" dirty="0">
                <a:solidFill>
                  <a:srgbClr val="134E4A"/>
                </a:solidFill>
                <a:latin typeface="Liberation Sans Narrow" pitchFamily="34" charset="0"/>
                <a:ea typeface="Liberation Sans Narrow" pitchFamily="34" charset="-122"/>
                <a:cs typeface="Liberation Sans Narrow" pitchFamily="34" charset="-120"/>
              </a:rPr>
              <a:t>BAB 02 · PERTANYAAN RISET</a:t>
            </a:r>
            <a:endParaRPr lang="en-US" sz="800" dirty="0"/>
          </a:p>
        </p:txBody>
      </p:sp>
      <p:sp>
        <p:nvSpPr>
          <p:cNvPr id="5" name="Text 3"/>
          <p:cNvSpPr/>
          <p:nvPr/>
        </p:nvSpPr>
        <p:spPr>
          <a:xfrm>
            <a:off x="8322357" y="189309"/>
            <a:ext cx="573366" cy="164592"/>
          </a:xfrm>
          <a:prstGeom prst="rect">
            <a:avLst/>
          </a:prstGeom>
          <a:noFill/>
          <a:ln/>
        </p:spPr>
        <p:txBody>
          <a:bodyPr wrap="none" lIns="0" tIns="0" rIns="0" bIns="0" rtlCol="0" anchor="t"/>
          <a:lstStyle/>
          <a:p>
            <a:pPr algn="l" indent="0" marL="0">
              <a:lnSpc>
                <a:spcPts val="1181"/>
              </a:lnSpc>
              <a:buNone/>
            </a:pPr>
            <a:r>
              <a:rPr lang="en-US" sz="800" dirty="0">
                <a:solidFill>
                  <a:srgbClr val="64748B"/>
                </a:solidFill>
                <a:latin typeface="Liberation Sans Narrow" pitchFamily="34" charset="0"/>
                <a:ea typeface="Liberation Sans Narrow" pitchFamily="34" charset="-122"/>
                <a:cs typeface="Liberation Sans Narrow" pitchFamily="34" charset="-120"/>
              </a:rPr>
              <a:t>07 / 18</a:t>
            </a:r>
            <a:endParaRPr lang="en-US" sz="800" dirty="0"/>
          </a:p>
        </p:txBody>
      </p:sp>
      <p:sp>
        <p:nvSpPr>
          <p:cNvPr id="6" name="Text 4"/>
          <p:cNvSpPr/>
          <p:nvPr/>
        </p:nvSpPr>
        <p:spPr>
          <a:xfrm>
            <a:off x="400050" y="442913"/>
            <a:ext cx="8636000" cy="277749"/>
          </a:xfrm>
          <a:prstGeom prst="rect">
            <a:avLst/>
          </a:prstGeom>
          <a:noFill/>
          <a:ln/>
        </p:spPr>
        <p:txBody>
          <a:bodyPr wrap="square" lIns="0" tIns="0" rIns="0" bIns="0" rtlCol="0" anchor="t"/>
          <a:lstStyle/>
          <a:p>
            <a:pPr algn="l" indent="0" marL="0">
              <a:lnSpc>
                <a:spcPts val="2025"/>
              </a:lnSpc>
              <a:buNone/>
            </a:pPr>
            <a:r>
              <a:rPr lang="en-US" sz="1688" spc="-17" kern="0" dirty="0">
                <a:solidFill>
                  <a:srgbClr val="134E4A"/>
                </a:solidFill>
                <a:latin typeface="Tinos" pitchFamily="34" charset="0"/>
                <a:ea typeface="Tinos" pitchFamily="34" charset="-122"/>
                <a:cs typeface="Tinos" pitchFamily="34" charset="-120"/>
              </a:rPr>
              <a:t>Menyusun Pertanyaan Riset dengan PICO/PICOC</a:t>
            </a:r>
            <a:endParaRPr lang="en-US" sz="1688" dirty="0"/>
          </a:p>
        </p:txBody>
      </p:sp>
      <p:sp>
        <p:nvSpPr>
          <p:cNvPr id="7" name="Text 5"/>
          <p:cNvSpPr/>
          <p:nvPr/>
        </p:nvSpPr>
        <p:spPr>
          <a:xfrm>
            <a:off x="400050" y="771525"/>
            <a:ext cx="428625" cy="21431"/>
          </a:xfrm>
          <a:prstGeom prst="rect">
            <a:avLst/>
          </a:prstGeom>
          <a:solidFill>
            <a:srgbClr val="134E4A"/>
          </a:solidFill>
          <a:ln/>
        </p:spPr>
        <p:txBody>
          <a:bodyPr wrap="square" rtlCol="0" anchor="ctr"/>
          <a:lstStyle/>
          <a:p>
            <a:pPr indent="0" marL="0">
              <a:buNone/>
            </a:pPr>
            <a:endParaRPr lang="en-US" dirty="0"/>
          </a:p>
        </p:txBody>
      </p:sp>
      <p:sp>
        <p:nvSpPr>
          <p:cNvPr id="8" name="Text 6"/>
          <p:cNvSpPr/>
          <p:nvPr/>
        </p:nvSpPr>
        <p:spPr>
          <a:xfrm>
            <a:off x="400050" y="907256"/>
            <a:ext cx="7858125" cy="347186"/>
          </a:xfrm>
          <a:prstGeom prst="rect">
            <a:avLst/>
          </a:prstGeom>
          <a:noFill/>
          <a:ln/>
        </p:spPr>
        <p:txBody>
          <a:bodyPr wrap="square" lIns="0" tIns="0" rIns="0" bIns="0" rtlCol="0" anchor="t"/>
          <a:lstStyle/>
          <a:p>
            <a:pPr algn="l" indent="0" marL="0">
              <a:lnSpc>
                <a:spcPts val="1266"/>
              </a:lnSpc>
              <a:buNone/>
            </a:pPr>
            <a:r>
              <a:rPr lang="en-US" sz="844" dirty="0">
                <a:solidFill>
                  <a:srgbClr val="475569"/>
                </a:solidFill>
                <a:latin typeface="Carlito" pitchFamily="34" charset="0"/>
                <a:ea typeface="Carlito" pitchFamily="34" charset="-122"/>
                <a:cs typeface="Carlito" pitchFamily="34" charset="-120"/>
              </a:rPr>
              <a:t>Framework PICO (atau PICOC untuk konteks sosial) memastikan pertanyaan riset terfokus, terukur, dan dapat ditelusuni melalui strategi pencarian yang sistematis.</a:t>
            </a:r>
            <a:endParaRPr lang="en-US" sz="844" dirty="0"/>
          </a:p>
        </p:txBody>
      </p:sp>
      <p:sp>
        <p:nvSpPr>
          <p:cNvPr id="9" name="Text 7"/>
          <p:cNvSpPr/>
          <p:nvPr/>
        </p:nvSpPr>
        <p:spPr>
          <a:xfrm>
            <a:off x="403622" y="1375172"/>
            <a:ext cx="1570174" cy="1409998"/>
          </a:xfrm>
          <a:prstGeom prst="roundRect">
            <a:avLst>
              <a:gd name="adj" fmla="val 8106"/>
            </a:avLst>
          </a:prstGeom>
          <a:solidFill>
            <a:srgbClr val="FFFFFF"/>
          </a:solidFill>
          <a:ln w="7144">
            <a:solidFill>
              <a:srgbClr val="D8DEE2"/>
            </a:solidFill>
            <a:prstDash val="solid"/>
          </a:ln>
        </p:spPr>
        <p:txBody>
          <a:bodyPr wrap="square" rtlCol="0" anchor="ctr"/>
          <a:lstStyle/>
          <a:p>
            <a:pPr indent="0" marL="0">
              <a:buNone/>
            </a:pPr>
            <a:endParaRPr lang="en-US" dirty="0"/>
          </a:p>
        </p:txBody>
      </p:sp>
      <p:sp>
        <p:nvSpPr>
          <p:cNvPr id="10" name="Text 8"/>
          <p:cNvSpPr/>
          <p:nvPr/>
        </p:nvSpPr>
        <p:spPr>
          <a:xfrm>
            <a:off x="550069" y="1521619"/>
            <a:ext cx="1277280" cy="308610"/>
          </a:xfrm>
          <a:prstGeom prst="rect">
            <a:avLst/>
          </a:prstGeom>
          <a:noFill/>
          <a:ln/>
        </p:spPr>
        <p:txBody>
          <a:bodyPr wrap="none" lIns="0" tIns="0" rIns="0" bIns="0" rtlCol="0" anchor="t"/>
          <a:lstStyle/>
          <a:p>
            <a:pPr algn="l" indent="0" marL="0">
              <a:lnSpc>
                <a:spcPts val="2250"/>
              </a:lnSpc>
              <a:buNone/>
            </a:pPr>
            <a:r>
              <a:rPr lang="en-US" sz="2250" dirty="0">
                <a:solidFill>
                  <a:srgbClr val="134E4A"/>
                </a:solidFill>
                <a:latin typeface="Tinos" pitchFamily="34" charset="0"/>
                <a:ea typeface="Tinos" pitchFamily="34" charset="-122"/>
                <a:cs typeface="Tinos" pitchFamily="34" charset="-120"/>
              </a:rPr>
              <a:t>P</a:t>
            </a:r>
            <a:endParaRPr lang="en-US" sz="2250" dirty="0"/>
          </a:p>
        </p:txBody>
      </p:sp>
      <p:sp>
        <p:nvSpPr>
          <p:cNvPr id="11" name="Text 9"/>
          <p:cNvSpPr/>
          <p:nvPr/>
        </p:nvSpPr>
        <p:spPr>
          <a:xfrm>
            <a:off x="527209" y="1855518"/>
            <a:ext cx="717456" cy="168021"/>
          </a:xfrm>
          <a:prstGeom prst="roundRect">
            <a:avLst>
              <a:gd name="adj" fmla="val 5663265"/>
            </a:avLst>
          </a:prstGeom>
          <a:solidFill>
            <a:srgbClr val="E0ECEB"/>
          </a:solidFill>
          <a:ln/>
        </p:spPr>
        <p:txBody>
          <a:bodyPr wrap="square" rtlCol="0" anchor="ctr"/>
          <a:lstStyle/>
          <a:p>
            <a:pPr indent="0" marL="0">
              <a:buNone/>
            </a:pPr>
            <a:endParaRPr lang="en-US" dirty="0"/>
          </a:p>
        </p:txBody>
      </p:sp>
      <p:sp>
        <p:nvSpPr>
          <p:cNvPr id="12" name="Text 10"/>
          <p:cNvSpPr/>
          <p:nvPr/>
        </p:nvSpPr>
        <p:spPr>
          <a:xfrm>
            <a:off x="496504" y="1864519"/>
            <a:ext cx="778866" cy="150019"/>
          </a:xfrm>
          <a:prstGeom prst="rect">
            <a:avLst/>
          </a:prstGeom>
          <a:noFill/>
          <a:ln/>
        </p:spPr>
        <p:txBody>
          <a:bodyPr wrap="none" lIns="0" tIns="0" rIns="0" bIns="0" rtlCol="0" anchor="ctr"/>
          <a:lstStyle/>
          <a:p>
            <a:pPr algn="ctr" indent="0" marL="0">
              <a:lnSpc>
                <a:spcPts val="844"/>
              </a:lnSpc>
              <a:buNone/>
            </a:pPr>
            <a:r>
              <a:rPr lang="en-US" sz="800" spc="34" kern="0" dirty="0">
                <a:solidFill>
                  <a:srgbClr val="134E4A"/>
                </a:solidFill>
                <a:latin typeface="Carlito" pitchFamily="34" charset="0"/>
                <a:ea typeface="Carlito" pitchFamily="34" charset="-122"/>
                <a:cs typeface="Carlito" pitchFamily="34" charset="-120"/>
              </a:rPr>
              <a:t>POPULATION</a:t>
            </a:r>
            <a:endParaRPr lang="en-US" sz="800" dirty="0"/>
          </a:p>
        </p:txBody>
      </p:sp>
      <p:sp>
        <p:nvSpPr>
          <p:cNvPr id="13" name="Text 11"/>
          <p:cNvSpPr/>
          <p:nvPr/>
        </p:nvSpPr>
        <p:spPr>
          <a:xfrm>
            <a:off x="550069" y="2100263"/>
            <a:ext cx="1353917" cy="477159"/>
          </a:xfrm>
          <a:prstGeom prst="rect">
            <a:avLst/>
          </a:prstGeom>
          <a:noFill/>
          <a:ln/>
        </p:spPr>
        <p:txBody>
          <a:bodyPr wrap="square" lIns="0" tIns="0" rIns="0" bIns="0" rtlCol="0" anchor="t"/>
          <a:lstStyle/>
          <a:p>
            <a:pPr algn="l" indent="0" marL="0">
              <a:lnSpc>
                <a:spcPts val="1060"/>
              </a:lnSpc>
              <a:buNone/>
            </a:pPr>
            <a:r>
              <a:rPr lang="en-US" sz="800" dirty="0">
                <a:solidFill>
                  <a:srgbClr val="0F172A"/>
                </a:solidFill>
                <a:latin typeface="Carlito" pitchFamily="34" charset="0"/>
                <a:ea typeface="Carlito" pitchFamily="34" charset="-122"/>
                <a:cs typeface="Carlito" pitchFamily="34" charset="-120"/>
              </a:rPr>
              <a:t>Populasi atau subjek penelitian yang relevan — siapa/apa yang diteliti.</a:t>
            </a:r>
            <a:endParaRPr lang="en-US" sz="800" dirty="0"/>
          </a:p>
        </p:txBody>
      </p:sp>
      <p:sp>
        <p:nvSpPr>
          <p:cNvPr id="14" name="Text 12"/>
          <p:cNvSpPr/>
          <p:nvPr/>
        </p:nvSpPr>
        <p:spPr>
          <a:xfrm>
            <a:off x="2095240" y="1375172"/>
            <a:ext cx="1570174" cy="1409998"/>
          </a:xfrm>
          <a:prstGeom prst="roundRect">
            <a:avLst>
              <a:gd name="adj" fmla="val 8106"/>
            </a:avLst>
          </a:prstGeom>
          <a:solidFill>
            <a:srgbClr val="FFFFFF"/>
          </a:solidFill>
          <a:ln w="7144">
            <a:solidFill>
              <a:srgbClr val="D8DEE2"/>
            </a:solidFill>
            <a:prstDash val="solid"/>
          </a:ln>
        </p:spPr>
        <p:txBody>
          <a:bodyPr wrap="square" rtlCol="0" anchor="ctr"/>
          <a:lstStyle/>
          <a:p>
            <a:pPr indent="0" marL="0">
              <a:buNone/>
            </a:pPr>
            <a:endParaRPr lang="en-US" dirty="0"/>
          </a:p>
        </p:txBody>
      </p:sp>
      <p:sp>
        <p:nvSpPr>
          <p:cNvPr id="15" name="Text 13"/>
          <p:cNvSpPr/>
          <p:nvPr/>
        </p:nvSpPr>
        <p:spPr>
          <a:xfrm>
            <a:off x="2241686" y="1521619"/>
            <a:ext cx="1277280" cy="308610"/>
          </a:xfrm>
          <a:prstGeom prst="rect">
            <a:avLst/>
          </a:prstGeom>
          <a:noFill/>
          <a:ln/>
        </p:spPr>
        <p:txBody>
          <a:bodyPr wrap="none" lIns="0" tIns="0" rIns="0" bIns="0" rtlCol="0" anchor="t"/>
          <a:lstStyle/>
          <a:p>
            <a:pPr algn="l" indent="0" marL="0">
              <a:lnSpc>
                <a:spcPts val="2250"/>
              </a:lnSpc>
              <a:buNone/>
            </a:pPr>
            <a:r>
              <a:rPr lang="en-US" sz="2250" dirty="0">
                <a:solidFill>
                  <a:srgbClr val="134E4A"/>
                </a:solidFill>
                <a:latin typeface="Tinos" pitchFamily="34" charset="0"/>
                <a:ea typeface="Tinos" pitchFamily="34" charset="-122"/>
                <a:cs typeface="Tinos" pitchFamily="34" charset="-120"/>
              </a:rPr>
              <a:t>I</a:t>
            </a:r>
            <a:endParaRPr lang="en-US" sz="2250" dirty="0"/>
          </a:p>
        </p:txBody>
      </p:sp>
      <p:sp>
        <p:nvSpPr>
          <p:cNvPr id="16" name="Text 14"/>
          <p:cNvSpPr/>
          <p:nvPr/>
        </p:nvSpPr>
        <p:spPr>
          <a:xfrm>
            <a:off x="2218826" y="1855518"/>
            <a:ext cx="810101" cy="168021"/>
          </a:xfrm>
          <a:prstGeom prst="roundRect">
            <a:avLst>
              <a:gd name="adj" fmla="val 5663265"/>
            </a:avLst>
          </a:prstGeom>
          <a:solidFill>
            <a:srgbClr val="E0ECEB"/>
          </a:solidFill>
          <a:ln/>
        </p:spPr>
        <p:txBody>
          <a:bodyPr wrap="square" rtlCol="0" anchor="ctr"/>
          <a:lstStyle/>
          <a:p>
            <a:pPr indent="0" marL="0">
              <a:buNone/>
            </a:pPr>
            <a:endParaRPr lang="en-US" dirty="0"/>
          </a:p>
        </p:txBody>
      </p:sp>
      <p:sp>
        <p:nvSpPr>
          <p:cNvPr id="17" name="Text 15"/>
          <p:cNvSpPr/>
          <p:nvPr/>
        </p:nvSpPr>
        <p:spPr>
          <a:xfrm>
            <a:off x="2160114" y="1864519"/>
            <a:ext cx="927527" cy="150019"/>
          </a:xfrm>
          <a:prstGeom prst="rect">
            <a:avLst/>
          </a:prstGeom>
          <a:noFill/>
          <a:ln/>
        </p:spPr>
        <p:txBody>
          <a:bodyPr wrap="none" lIns="0" tIns="0" rIns="0" bIns="0" rtlCol="0" anchor="ctr"/>
          <a:lstStyle/>
          <a:p>
            <a:pPr algn="ctr" indent="0" marL="0">
              <a:lnSpc>
                <a:spcPts val="844"/>
              </a:lnSpc>
              <a:buNone/>
            </a:pPr>
            <a:r>
              <a:rPr lang="en-US" sz="800" spc="34" kern="0" dirty="0">
                <a:solidFill>
                  <a:srgbClr val="134E4A"/>
                </a:solidFill>
                <a:latin typeface="Carlito" pitchFamily="34" charset="0"/>
                <a:ea typeface="Carlito" pitchFamily="34" charset="-122"/>
                <a:cs typeface="Carlito" pitchFamily="34" charset="-120"/>
              </a:rPr>
              <a:t>INTERVENTION</a:t>
            </a:r>
            <a:endParaRPr lang="en-US" sz="800" dirty="0"/>
          </a:p>
        </p:txBody>
      </p:sp>
      <p:sp>
        <p:nvSpPr>
          <p:cNvPr id="18" name="Text 16"/>
          <p:cNvSpPr/>
          <p:nvPr/>
        </p:nvSpPr>
        <p:spPr>
          <a:xfrm>
            <a:off x="2241686" y="2100263"/>
            <a:ext cx="1353917" cy="477159"/>
          </a:xfrm>
          <a:prstGeom prst="rect">
            <a:avLst/>
          </a:prstGeom>
          <a:noFill/>
          <a:ln/>
        </p:spPr>
        <p:txBody>
          <a:bodyPr wrap="square" lIns="0" tIns="0" rIns="0" bIns="0" rtlCol="0" anchor="t"/>
          <a:lstStyle/>
          <a:p>
            <a:pPr algn="l" indent="0" marL="0">
              <a:lnSpc>
                <a:spcPts val="1060"/>
              </a:lnSpc>
              <a:buNone/>
            </a:pPr>
            <a:r>
              <a:rPr lang="en-US" sz="800" dirty="0">
                <a:solidFill>
                  <a:srgbClr val="0F172A"/>
                </a:solidFill>
                <a:latin typeface="Carlito" pitchFamily="34" charset="0"/>
                <a:ea typeface="Carlito" pitchFamily="34" charset="-122"/>
                <a:cs typeface="Carlito" pitchFamily="34" charset="-120"/>
              </a:rPr>
              <a:t>Intervensi, eksposur, atau pendekatan yang sedang dievaluasi.</a:t>
            </a:r>
            <a:endParaRPr lang="en-US" sz="800" dirty="0"/>
          </a:p>
        </p:txBody>
      </p:sp>
      <p:sp>
        <p:nvSpPr>
          <p:cNvPr id="19" name="Text 17"/>
          <p:cNvSpPr/>
          <p:nvPr/>
        </p:nvSpPr>
        <p:spPr>
          <a:xfrm>
            <a:off x="3786857" y="1375172"/>
            <a:ext cx="1570174" cy="1409998"/>
          </a:xfrm>
          <a:prstGeom prst="roundRect">
            <a:avLst>
              <a:gd name="adj" fmla="val 8106"/>
            </a:avLst>
          </a:prstGeom>
          <a:solidFill>
            <a:srgbClr val="FFFFFF"/>
          </a:solidFill>
          <a:ln w="7144">
            <a:solidFill>
              <a:srgbClr val="D8DEE2"/>
            </a:solidFill>
            <a:prstDash val="solid"/>
          </a:ln>
        </p:spPr>
        <p:txBody>
          <a:bodyPr wrap="square" rtlCol="0" anchor="ctr"/>
          <a:lstStyle/>
          <a:p>
            <a:pPr indent="0" marL="0">
              <a:buNone/>
            </a:pPr>
            <a:endParaRPr lang="en-US" dirty="0"/>
          </a:p>
        </p:txBody>
      </p:sp>
      <p:sp>
        <p:nvSpPr>
          <p:cNvPr id="20" name="Text 18"/>
          <p:cNvSpPr/>
          <p:nvPr/>
        </p:nvSpPr>
        <p:spPr>
          <a:xfrm>
            <a:off x="3933304" y="1521619"/>
            <a:ext cx="1277280" cy="308610"/>
          </a:xfrm>
          <a:prstGeom prst="rect">
            <a:avLst/>
          </a:prstGeom>
          <a:noFill/>
          <a:ln/>
        </p:spPr>
        <p:txBody>
          <a:bodyPr wrap="none" lIns="0" tIns="0" rIns="0" bIns="0" rtlCol="0" anchor="t"/>
          <a:lstStyle/>
          <a:p>
            <a:pPr algn="l" indent="0" marL="0">
              <a:lnSpc>
                <a:spcPts val="2250"/>
              </a:lnSpc>
              <a:buNone/>
            </a:pPr>
            <a:r>
              <a:rPr lang="en-US" sz="2250" dirty="0">
                <a:solidFill>
                  <a:srgbClr val="134E4A"/>
                </a:solidFill>
                <a:latin typeface="Tinos" pitchFamily="34" charset="0"/>
                <a:ea typeface="Tinos" pitchFamily="34" charset="-122"/>
                <a:cs typeface="Tinos" pitchFamily="34" charset="-120"/>
              </a:rPr>
              <a:t>C</a:t>
            </a:r>
            <a:endParaRPr lang="en-US" sz="2250" dirty="0"/>
          </a:p>
        </p:txBody>
      </p:sp>
      <p:sp>
        <p:nvSpPr>
          <p:cNvPr id="21" name="Text 19"/>
          <p:cNvSpPr/>
          <p:nvPr/>
        </p:nvSpPr>
        <p:spPr>
          <a:xfrm>
            <a:off x="3910444" y="1855518"/>
            <a:ext cx="741789" cy="168021"/>
          </a:xfrm>
          <a:prstGeom prst="roundRect">
            <a:avLst>
              <a:gd name="adj" fmla="val 5663265"/>
            </a:avLst>
          </a:prstGeom>
          <a:solidFill>
            <a:srgbClr val="E0ECEB"/>
          </a:solidFill>
          <a:ln/>
        </p:spPr>
        <p:txBody>
          <a:bodyPr wrap="square" rtlCol="0" anchor="ctr"/>
          <a:lstStyle/>
          <a:p>
            <a:pPr indent="0" marL="0">
              <a:buNone/>
            </a:pPr>
            <a:endParaRPr lang="en-US" dirty="0"/>
          </a:p>
        </p:txBody>
      </p:sp>
      <p:sp>
        <p:nvSpPr>
          <p:cNvPr id="22" name="Text 20"/>
          <p:cNvSpPr/>
          <p:nvPr/>
        </p:nvSpPr>
        <p:spPr>
          <a:xfrm>
            <a:off x="3891906" y="1864519"/>
            <a:ext cx="778866" cy="150019"/>
          </a:xfrm>
          <a:prstGeom prst="rect">
            <a:avLst/>
          </a:prstGeom>
          <a:noFill/>
          <a:ln/>
        </p:spPr>
        <p:txBody>
          <a:bodyPr wrap="none" lIns="0" tIns="0" rIns="0" bIns="0" rtlCol="0" anchor="ctr"/>
          <a:lstStyle/>
          <a:p>
            <a:pPr algn="ctr" indent="0" marL="0">
              <a:lnSpc>
                <a:spcPts val="844"/>
              </a:lnSpc>
              <a:buNone/>
            </a:pPr>
            <a:r>
              <a:rPr lang="en-US" sz="800" spc="34" kern="0" dirty="0">
                <a:solidFill>
                  <a:srgbClr val="134E4A"/>
                </a:solidFill>
                <a:latin typeface="Carlito" pitchFamily="34" charset="0"/>
                <a:ea typeface="Carlito" pitchFamily="34" charset="-122"/>
                <a:cs typeface="Carlito" pitchFamily="34" charset="-120"/>
              </a:rPr>
              <a:t>COMPARISON</a:t>
            </a:r>
            <a:endParaRPr lang="en-US" sz="800" dirty="0"/>
          </a:p>
        </p:txBody>
      </p:sp>
      <p:sp>
        <p:nvSpPr>
          <p:cNvPr id="23" name="Text 21"/>
          <p:cNvSpPr/>
          <p:nvPr/>
        </p:nvSpPr>
        <p:spPr>
          <a:xfrm>
            <a:off x="3933304" y="2100263"/>
            <a:ext cx="1353917" cy="477159"/>
          </a:xfrm>
          <a:prstGeom prst="rect">
            <a:avLst/>
          </a:prstGeom>
          <a:noFill/>
          <a:ln/>
        </p:spPr>
        <p:txBody>
          <a:bodyPr wrap="square" lIns="0" tIns="0" rIns="0" bIns="0" rtlCol="0" anchor="t"/>
          <a:lstStyle/>
          <a:p>
            <a:pPr algn="l" indent="0" marL="0">
              <a:lnSpc>
                <a:spcPts val="1060"/>
              </a:lnSpc>
              <a:buNone/>
            </a:pPr>
            <a:r>
              <a:rPr lang="en-US" sz="800" dirty="0">
                <a:solidFill>
                  <a:srgbClr val="0F172A"/>
                </a:solidFill>
                <a:latin typeface="Carlito" pitchFamily="34" charset="0"/>
                <a:ea typeface="Carlito" pitchFamily="34" charset="-122"/>
                <a:cs typeface="Carlito" pitchFamily="34" charset="-120"/>
              </a:rPr>
              <a:t>Pembanding — kontrol, alternatif, atau kondisi baseline.</a:t>
            </a:r>
            <a:endParaRPr lang="en-US" sz="800" dirty="0"/>
          </a:p>
        </p:txBody>
      </p:sp>
      <p:sp>
        <p:nvSpPr>
          <p:cNvPr id="24" name="Text 22"/>
          <p:cNvSpPr/>
          <p:nvPr/>
        </p:nvSpPr>
        <p:spPr>
          <a:xfrm>
            <a:off x="5478475" y="1375172"/>
            <a:ext cx="1570174" cy="1409998"/>
          </a:xfrm>
          <a:prstGeom prst="roundRect">
            <a:avLst>
              <a:gd name="adj" fmla="val 8106"/>
            </a:avLst>
          </a:prstGeom>
          <a:solidFill>
            <a:srgbClr val="FFFFFF"/>
          </a:solidFill>
          <a:ln w="7144">
            <a:solidFill>
              <a:srgbClr val="D8DEE2"/>
            </a:solidFill>
            <a:prstDash val="solid"/>
          </a:ln>
        </p:spPr>
        <p:txBody>
          <a:bodyPr wrap="square" rtlCol="0" anchor="ctr"/>
          <a:lstStyle/>
          <a:p>
            <a:pPr indent="0" marL="0">
              <a:buNone/>
            </a:pPr>
            <a:endParaRPr lang="en-US" dirty="0"/>
          </a:p>
        </p:txBody>
      </p:sp>
      <p:sp>
        <p:nvSpPr>
          <p:cNvPr id="25" name="Text 23"/>
          <p:cNvSpPr/>
          <p:nvPr/>
        </p:nvSpPr>
        <p:spPr>
          <a:xfrm>
            <a:off x="5624922" y="1521619"/>
            <a:ext cx="1277280" cy="308610"/>
          </a:xfrm>
          <a:prstGeom prst="rect">
            <a:avLst/>
          </a:prstGeom>
          <a:noFill/>
          <a:ln/>
        </p:spPr>
        <p:txBody>
          <a:bodyPr wrap="none" lIns="0" tIns="0" rIns="0" bIns="0" rtlCol="0" anchor="t"/>
          <a:lstStyle/>
          <a:p>
            <a:pPr algn="l" indent="0" marL="0">
              <a:lnSpc>
                <a:spcPts val="2250"/>
              </a:lnSpc>
              <a:buNone/>
            </a:pPr>
            <a:r>
              <a:rPr lang="en-US" sz="2250" dirty="0">
                <a:solidFill>
                  <a:srgbClr val="134E4A"/>
                </a:solidFill>
                <a:latin typeface="Tinos" pitchFamily="34" charset="0"/>
                <a:ea typeface="Tinos" pitchFamily="34" charset="-122"/>
                <a:cs typeface="Tinos" pitchFamily="34" charset="-120"/>
              </a:rPr>
              <a:t>O</a:t>
            </a:r>
            <a:endParaRPr lang="en-US" sz="2250" dirty="0"/>
          </a:p>
        </p:txBody>
      </p:sp>
      <p:sp>
        <p:nvSpPr>
          <p:cNvPr id="26" name="Text 24"/>
          <p:cNvSpPr/>
          <p:nvPr/>
        </p:nvSpPr>
        <p:spPr>
          <a:xfrm>
            <a:off x="5603129" y="1855518"/>
            <a:ext cx="588408" cy="168021"/>
          </a:xfrm>
          <a:prstGeom prst="roundRect">
            <a:avLst>
              <a:gd name="adj" fmla="val 5663265"/>
            </a:avLst>
          </a:prstGeom>
          <a:solidFill>
            <a:srgbClr val="E0ECEB"/>
          </a:solidFill>
          <a:ln/>
        </p:spPr>
        <p:txBody>
          <a:bodyPr wrap="square" rtlCol="0" anchor="ctr"/>
          <a:lstStyle/>
          <a:p>
            <a:pPr indent="0" marL="0">
              <a:buNone/>
            </a:pPr>
            <a:endParaRPr lang="en-US" dirty="0"/>
          </a:p>
        </p:txBody>
      </p:sp>
      <p:sp>
        <p:nvSpPr>
          <p:cNvPr id="27" name="Text 25"/>
          <p:cNvSpPr/>
          <p:nvPr/>
        </p:nvSpPr>
        <p:spPr>
          <a:xfrm>
            <a:off x="5619396" y="1864519"/>
            <a:ext cx="555874" cy="150019"/>
          </a:xfrm>
          <a:prstGeom prst="rect">
            <a:avLst/>
          </a:prstGeom>
          <a:noFill/>
          <a:ln/>
        </p:spPr>
        <p:txBody>
          <a:bodyPr wrap="none" lIns="0" tIns="0" rIns="0" bIns="0" rtlCol="0" anchor="ctr"/>
          <a:lstStyle/>
          <a:p>
            <a:pPr algn="ctr" indent="0" marL="0">
              <a:lnSpc>
                <a:spcPts val="844"/>
              </a:lnSpc>
              <a:buNone/>
            </a:pPr>
            <a:r>
              <a:rPr lang="en-US" sz="800" spc="34" kern="0" dirty="0">
                <a:solidFill>
                  <a:srgbClr val="134E4A"/>
                </a:solidFill>
                <a:latin typeface="Carlito" pitchFamily="34" charset="0"/>
                <a:ea typeface="Carlito" pitchFamily="34" charset="-122"/>
                <a:cs typeface="Carlito" pitchFamily="34" charset="-120"/>
              </a:rPr>
              <a:t>OUTCOME</a:t>
            </a:r>
            <a:endParaRPr lang="en-US" sz="800" dirty="0"/>
          </a:p>
        </p:txBody>
      </p:sp>
      <p:sp>
        <p:nvSpPr>
          <p:cNvPr id="28" name="Text 26"/>
          <p:cNvSpPr/>
          <p:nvPr/>
        </p:nvSpPr>
        <p:spPr>
          <a:xfrm>
            <a:off x="5624922" y="2100263"/>
            <a:ext cx="1353917" cy="477159"/>
          </a:xfrm>
          <a:prstGeom prst="rect">
            <a:avLst/>
          </a:prstGeom>
          <a:noFill/>
          <a:ln/>
        </p:spPr>
        <p:txBody>
          <a:bodyPr wrap="square" lIns="0" tIns="0" rIns="0" bIns="0" rtlCol="0" anchor="t"/>
          <a:lstStyle/>
          <a:p>
            <a:pPr algn="l" indent="0" marL="0">
              <a:lnSpc>
                <a:spcPts val="1060"/>
              </a:lnSpc>
              <a:buNone/>
            </a:pPr>
            <a:r>
              <a:rPr lang="en-US" sz="800" dirty="0">
                <a:solidFill>
                  <a:srgbClr val="0F172A"/>
                </a:solidFill>
                <a:latin typeface="Carlito" pitchFamily="34" charset="0"/>
                <a:ea typeface="Carlito" pitchFamily="34" charset="-122"/>
                <a:cs typeface="Carlito" pitchFamily="34" charset="-120"/>
              </a:rPr>
              <a:t>Hasil yang diharapkan dan diukur secara terukur serta valid.</a:t>
            </a:r>
            <a:endParaRPr lang="en-US" sz="800" dirty="0"/>
          </a:p>
        </p:txBody>
      </p:sp>
      <p:sp>
        <p:nvSpPr>
          <p:cNvPr id="29" name="Text 27"/>
          <p:cNvSpPr/>
          <p:nvPr/>
        </p:nvSpPr>
        <p:spPr>
          <a:xfrm>
            <a:off x="7170093" y="1375172"/>
            <a:ext cx="1570286" cy="1409998"/>
          </a:xfrm>
          <a:prstGeom prst="roundRect">
            <a:avLst>
              <a:gd name="adj" fmla="val 8106"/>
            </a:avLst>
          </a:prstGeom>
          <a:solidFill>
            <a:srgbClr val="FFFFFF"/>
          </a:solidFill>
          <a:ln w="7144">
            <a:solidFill>
              <a:srgbClr val="D8DEE2"/>
            </a:solidFill>
            <a:prstDash val="solid"/>
          </a:ln>
        </p:spPr>
        <p:txBody>
          <a:bodyPr wrap="square" rtlCol="0" anchor="ctr"/>
          <a:lstStyle/>
          <a:p>
            <a:pPr indent="0" marL="0">
              <a:buNone/>
            </a:pPr>
            <a:endParaRPr lang="en-US" dirty="0"/>
          </a:p>
        </p:txBody>
      </p:sp>
      <p:sp>
        <p:nvSpPr>
          <p:cNvPr id="30" name="Text 28"/>
          <p:cNvSpPr/>
          <p:nvPr/>
        </p:nvSpPr>
        <p:spPr>
          <a:xfrm>
            <a:off x="7316539" y="1521619"/>
            <a:ext cx="1277392" cy="308610"/>
          </a:xfrm>
          <a:prstGeom prst="rect">
            <a:avLst/>
          </a:prstGeom>
          <a:noFill/>
          <a:ln/>
        </p:spPr>
        <p:txBody>
          <a:bodyPr wrap="none" lIns="0" tIns="0" rIns="0" bIns="0" rtlCol="0" anchor="t"/>
          <a:lstStyle/>
          <a:p>
            <a:pPr algn="l" indent="0" marL="0">
              <a:lnSpc>
                <a:spcPts val="2250"/>
              </a:lnSpc>
              <a:buNone/>
            </a:pPr>
            <a:r>
              <a:rPr lang="en-US" sz="2250" dirty="0">
                <a:solidFill>
                  <a:srgbClr val="134E4A"/>
                </a:solidFill>
                <a:latin typeface="Tinos" pitchFamily="34" charset="0"/>
                <a:ea typeface="Tinos" pitchFamily="34" charset="-122"/>
                <a:cs typeface="Tinos" pitchFamily="34" charset="-120"/>
              </a:rPr>
              <a:t>C</a:t>
            </a:r>
            <a:endParaRPr lang="en-US" sz="2250" dirty="0"/>
          </a:p>
        </p:txBody>
      </p:sp>
      <p:sp>
        <p:nvSpPr>
          <p:cNvPr id="31" name="Text 29"/>
          <p:cNvSpPr/>
          <p:nvPr/>
        </p:nvSpPr>
        <p:spPr>
          <a:xfrm>
            <a:off x="7293679" y="1855518"/>
            <a:ext cx="933331" cy="168021"/>
          </a:xfrm>
          <a:prstGeom prst="roundRect">
            <a:avLst>
              <a:gd name="adj" fmla="val 5663265"/>
            </a:avLst>
          </a:prstGeom>
          <a:solidFill>
            <a:srgbClr val="E0ECEB"/>
          </a:solidFill>
          <a:ln/>
        </p:spPr>
        <p:txBody>
          <a:bodyPr wrap="square" rtlCol="0" anchor="ctr"/>
          <a:lstStyle/>
          <a:p>
            <a:pPr indent="0" marL="0">
              <a:buNone/>
            </a:pPr>
            <a:endParaRPr lang="en-US" dirty="0"/>
          </a:p>
        </p:txBody>
      </p:sp>
      <p:sp>
        <p:nvSpPr>
          <p:cNvPr id="32" name="Text 30"/>
          <p:cNvSpPr/>
          <p:nvPr/>
        </p:nvSpPr>
        <p:spPr>
          <a:xfrm>
            <a:off x="7316539" y="1864519"/>
            <a:ext cx="887611" cy="150019"/>
          </a:xfrm>
          <a:prstGeom prst="rect">
            <a:avLst/>
          </a:prstGeom>
          <a:noFill/>
          <a:ln/>
        </p:spPr>
        <p:txBody>
          <a:bodyPr wrap="none" lIns="0" tIns="0" rIns="0" bIns="0" rtlCol="0" anchor="ctr"/>
          <a:lstStyle/>
          <a:p>
            <a:pPr algn="ctr" indent="0" marL="0">
              <a:lnSpc>
                <a:spcPts val="844"/>
              </a:lnSpc>
              <a:buNone/>
            </a:pPr>
            <a:r>
              <a:rPr lang="en-US" sz="800" spc="34" kern="0" dirty="0">
                <a:solidFill>
                  <a:srgbClr val="134E4A"/>
                </a:solidFill>
                <a:latin typeface="Carlito" pitchFamily="34" charset="0"/>
                <a:ea typeface="Carlito" pitchFamily="34" charset="-122"/>
                <a:cs typeface="Carlito" pitchFamily="34" charset="-120"/>
              </a:rPr>
              <a:t>CONTEXT (PICOC)</a:t>
            </a:r>
            <a:endParaRPr lang="en-US" sz="800" dirty="0"/>
          </a:p>
        </p:txBody>
      </p:sp>
      <p:sp>
        <p:nvSpPr>
          <p:cNvPr id="33" name="Text 31"/>
          <p:cNvSpPr/>
          <p:nvPr/>
        </p:nvSpPr>
        <p:spPr>
          <a:xfrm>
            <a:off x="7316539" y="2100263"/>
            <a:ext cx="1354035" cy="538460"/>
          </a:xfrm>
          <a:prstGeom prst="rect">
            <a:avLst/>
          </a:prstGeom>
          <a:noFill/>
          <a:ln/>
        </p:spPr>
        <p:txBody>
          <a:bodyPr wrap="square" lIns="0" tIns="0" rIns="0" bIns="0" rtlCol="0" anchor="t"/>
          <a:lstStyle/>
          <a:p>
            <a:pPr algn="l" indent="0" marL="0">
              <a:lnSpc>
                <a:spcPts val="1060"/>
              </a:lnSpc>
              <a:buNone/>
            </a:pPr>
            <a:r>
              <a:rPr lang="en-US" sz="800" dirty="0">
                <a:solidFill>
                  <a:srgbClr val="0F172A"/>
                </a:solidFill>
                <a:latin typeface="Carlito" pitchFamily="34" charset="0"/>
                <a:ea typeface="Carlito" pitchFamily="34" charset="-122"/>
                <a:cs typeface="Carlito" pitchFamily="34" charset="-120"/>
              </a:rPr>
              <a:t>Konteks atau setting tambahan — sektor, geografis, atau batasan etis.</a:t>
            </a:r>
            <a:endParaRPr lang="en-US" sz="800" dirty="0"/>
          </a:p>
        </p:txBody>
      </p:sp>
      <p:sp>
        <p:nvSpPr>
          <p:cNvPr id="34" name="Text 32"/>
          <p:cNvSpPr/>
          <p:nvPr/>
        </p:nvSpPr>
        <p:spPr>
          <a:xfrm>
            <a:off x="400050" y="2931616"/>
            <a:ext cx="8343900" cy="1022003"/>
          </a:xfrm>
          <a:prstGeom prst="roundRect">
            <a:avLst>
              <a:gd name="adj" fmla="val 7456"/>
            </a:avLst>
          </a:prstGeom>
          <a:solidFill>
            <a:srgbClr val="FFF1E6"/>
          </a:solidFill>
          <a:ln/>
        </p:spPr>
        <p:txBody>
          <a:bodyPr wrap="square" rtlCol="0" anchor="ctr"/>
          <a:lstStyle/>
          <a:p>
            <a:pPr indent="0" marL="0">
              <a:buNone/>
            </a:pPr>
            <a:endParaRPr lang="en-US" dirty="0"/>
          </a:p>
        </p:txBody>
      </p:sp>
      <p:sp>
        <p:nvSpPr>
          <p:cNvPr id="35" name="Shape 33"/>
          <p:cNvSpPr/>
          <p:nvPr/>
        </p:nvSpPr>
        <p:spPr>
          <a:xfrm>
            <a:off x="414338" y="2931616"/>
            <a:ext cx="0" cy="1022003"/>
          </a:xfrm>
          <a:prstGeom prst="line">
            <a:avLst/>
          </a:prstGeom>
          <a:noFill/>
          <a:ln w="28575">
            <a:solidFill>
              <a:srgbClr val="F97316"/>
            </a:solidFill>
            <a:prstDash val="solid"/>
          </a:ln>
        </p:spPr>
      </p:sp>
      <p:sp>
        <p:nvSpPr>
          <p:cNvPr id="36" name="Text 34"/>
          <p:cNvSpPr/>
          <p:nvPr/>
        </p:nvSpPr>
        <p:spPr>
          <a:xfrm>
            <a:off x="548640" y="3063347"/>
            <a:ext cx="619899" cy="208026"/>
          </a:xfrm>
          <a:prstGeom prst="roundRect">
            <a:avLst>
              <a:gd name="adj" fmla="val 4574176"/>
            </a:avLst>
          </a:prstGeom>
          <a:solidFill>
            <a:srgbClr val="FFF1E6"/>
          </a:solidFill>
          <a:ln/>
        </p:spPr>
        <p:txBody>
          <a:bodyPr wrap="square" rtlCol="0" anchor="ctr"/>
          <a:lstStyle/>
          <a:p>
            <a:pPr indent="0" marL="0">
              <a:buNone/>
            </a:pPr>
            <a:endParaRPr lang="en-US" dirty="0"/>
          </a:p>
        </p:txBody>
      </p:sp>
      <p:sp>
        <p:nvSpPr>
          <p:cNvPr id="37" name="Text 35"/>
          <p:cNvSpPr/>
          <p:nvPr/>
        </p:nvSpPr>
        <p:spPr>
          <a:xfrm>
            <a:off x="571500" y="3074491"/>
            <a:ext cx="574179" cy="185738"/>
          </a:xfrm>
          <a:prstGeom prst="rect">
            <a:avLst/>
          </a:prstGeom>
          <a:noFill/>
          <a:ln/>
        </p:spPr>
        <p:txBody>
          <a:bodyPr wrap="none" lIns="0" tIns="0" rIns="0" bIns="0" rtlCol="0" anchor="ctr"/>
          <a:lstStyle/>
          <a:p>
            <a:pPr algn="ctr" indent="0" marL="0">
              <a:lnSpc>
                <a:spcPts val="1013"/>
              </a:lnSpc>
              <a:buNone/>
            </a:pPr>
            <a:r>
              <a:rPr lang="en-US" sz="800" spc="27" kern="0" dirty="0">
                <a:solidFill>
                  <a:srgbClr val="EA680C"/>
                </a:solidFill>
                <a:latin typeface="Carlito" pitchFamily="34" charset="0"/>
                <a:ea typeface="Carlito" pitchFamily="34" charset="-122"/>
                <a:cs typeface="Carlito" pitchFamily="34" charset="-120"/>
              </a:rPr>
              <a:t>CONTOH</a:t>
            </a:r>
            <a:endParaRPr lang="en-US" sz="800" dirty="0"/>
          </a:p>
        </p:txBody>
      </p:sp>
      <p:sp>
        <p:nvSpPr>
          <p:cNvPr id="38" name="Text 36"/>
          <p:cNvSpPr/>
          <p:nvPr/>
        </p:nvSpPr>
        <p:spPr>
          <a:xfrm>
            <a:off x="571500" y="3331666"/>
            <a:ext cx="4286250" cy="479078"/>
          </a:xfrm>
          <a:prstGeom prst="rect">
            <a:avLst/>
          </a:prstGeom>
          <a:noFill/>
          <a:ln/>
        </p:spPr>
        <p:txBody>
          <a:bodyPr wrap="square" lIns="0" tIns="0" rIns="0" bIns="0" rtlCol="0" anchor="t"/>
          <a:lstStyle/>
          <a:p>
            <a:pPr algn="l" indent="0" marL="0">
              <a:lnSpc>
                <a:spcPts val="1221"/>
              </a:lnSpc>
              <a:buNone/>
            </a:pPr>
            <a:r>
              <a:rPr lang="en-US" sz="800" dirty="0">
                <a:solidFill>
                  <a:srgbClr val="0F172A"/>
                </a:solidFill>
                <a:latin typeface="Carlito" pitchFamily="34" charset="0"/>
                <a:ea typeface="Carlito" pitchFamily="34" charset="-122"/>
                <a:cs typeface="Carlito" pitchFamily="34" charset="-120"/>
              </a:rPr>
              <a:t>Dampak penggunaan AI generatif (I) terhadap hasil belajar mahasiswa (P) dibandingkan pembelajaran konvensional (C) pada perguruan tinggi Indonesia (C) dalam 2020–2025 (O).</a:t>
            </a:r>
            <a:endParaRPr lang="en-US" sz="800" dirty="0"/>
          </a:p>
        </p:txBody>
      </p:sp>
      <p:sp>
        <p:nvSpPr>
          <p:cNvPr id="39" name="Shape 37"/>
          <p:cNvSpPr/>
          <p:nvPr/>
        </p:nvSpPr>
        <p:spPr>
          <a:xfrm>
            <a:off x="5032772" y="3074491"/>
            <a:ext cx="0" cy="736253"/>
          </a:xfrm>
          <a:prstGeom prst="line">
            <a:avLst/>
          </a:prstGeom>
          <a:noFill/>
          <a:ln w="7144">
            <a:solidFill>
              <a:srgbClr val="EA680C"/>
            </a:solidFill>
            <a:prstDash val="solid"/>
          </a:ln>
        </p:spPr>
      </p:sp>
      <p:sp>
        <p:nvSpPr>
          <p:cNvPr id="40" name="Text 38"/>
          <p:cNvSpPr/>
          <p:nvPr/>
        </p:nvSpPr>
        <p:spPr>
          <a:xfrm>
            <a:off x="5163511" y="3062490"/>
            <a:ext cx="424098" cy="224028"/>
          </a:xfrm>
          <a:prstGeom prst="roundRect">
            <a:avLst>
              <a:gd name="adj" fmla="val 4247449"/>
            </a:avLst>
          </a:prstGeom>
          <a:noFill/>
          <a:ln w="7144">
            <a:solidFill>
              <a:srgbClr val="4A8480"/>
            </a:solidFill>
            <a:prstDash val="solid"/>
          </a:ln>
        </p:spPr>
        <p:txBody>
          <a:bodyPr wrap="square" rtlCol="0" anchor="ctr"/>
          <a:lstStyle/>
          <a:p>
            <a:pPr indent="0" marL="0">
              <a:buNone/>
            </a:pPr>
            <a:endParaRPr lang="en-US" dirty="0"/>
          </a:p>
        </p:txBody>
      </p:sp>
      <p:sp>
        <p:nvSpPr>
          <p:cNvPr id="41" name="Text 39"/>
          <p:cNvSpPr/>
          <p:nvPr/>
        </p:nvSpPr>
        <p:spPr>
          <a:xfrm>
            <a:off x="5179219" y="3074491"/>
            <a:ext cx="392683" cy="200025"/>
          </a:xfrm>
          <a:prstGeom prst="rect">
            <a:avLst/>
          </a:prstGeom>
          <a:noFill/>
          <a:ln/>
        </p:spPr>
        <p:txBody>
          <a:bodyPr wrap="none" lIns="0" tIns="0" rIns="0" bIns="0" rtlCol="0" anchor="ctr"/>
          <a:lstStyle/>
          <a:p>
            <a:pPr algn="ctr" indent="0" marL="0">
              <a:lnSpc>
                <a:spcPts val="1013"/>
              </a:lnSpc>
              <a:buNone/>
            </a:pPr>
            <a:r>
              <a:rPr lang="en-US" sz="800" spc="41" kern="0" dirty="0">
                <a:solidFill>
                  <a:srgbClr val="134E4A"/>
                </a:solidFill>
                <a:latin typeface="Carlito" pitchFamily="34" charset="0"/>
                <a:ea typeface="Carlito" pitchFamily="34" charset="-122"/>
                <a:cs typeface="Carlito" pitchFamily="34" charset="-120"/>
              </a:rPr>
              <a:t>TIPS</a:t>
            </a:r>
            <a:endParaRPr lang="en-US" sz="800" dirty="0"/>
          </a:p>
        </p:txBody>
      </p:sp>
      <p:sp>
        <p:nvSpPr>
          <p:cNvPr id="42" name="Text 40"/>
          <p:cNvSpPr/>
          <p:nvPr/>
        </p:nvSpPr>
        <p:spPr>
          <a:xfrm>
            <a:off x="5179219" y="3345954"/>
            <a:ext cx="3421856" cy="464790"/>
          </a:xfrm>
          <a:prstGeom prst="rect">
            <a:avLst/>
          </a:prstGeom>
          <a:noFill/>
          <a:ln/>
        </p:spPr>
        <p:txBody>
          <a:bodyPr wrap="square" lIns="0" tIns="0" rIns="0" bIns="0" rtlCol="0" anchor="t"/>
          <a:lstStyle/>
          <a:p>
            <a:pPr algn="l" indent="0" marL="0">
              <a:lnSpc>
                <a:spcPts val="1221"/>
              </a:lnSpc>
              <a:buNone/>
            </a:pPr>
            <a:r>
              <a:rPr lang="en-US" sz="800" dirty="0">
                <a:solidFill>
                  <a:srgbClr val="0F172A"/>
                </a:solidFill>
                <a:latin typeface="Carlito" pitchFamily="34" charset="0"/>
                <a:ea typeface="Carlito" pitchFamily="34" charset="-122"/>
                <a:cs typeface="Carlito" pitchFamily="34" charset="-120"/>
              </a:rPr>
              <a:t>Setiap elemen PICO menjadi dasar keyword boolean untuk pencarian database — gunakan sinonim dan controlled vocabulary (MeSH, Thesaurus).</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F5F7F8"/>
          </a:solidFill>
          <a:ln/>
        </p:spPr>
        <p:txBody>
          <a:bodyPr wrap="square" rtlCol="0" anchor="ctr"/>
          <a:lstStyle/>
          <a:p>
            <a:pPr indent="0" marL="0">
              <a:buNone/>
            </a:pPr>
            <a:endParaRPr lang="en-US" dirty="0"/>
          </a:p>
        </p:txBody>
      </p:sp>
      <p:sp>
        <p:nvSpPr>
          <p:cNvPr id="3" name="Text 1"/>
          <p:cNvSpPr/>
          <p:nvPr/>
        </p:nvSpPr>
        <p:spPr>
          <a:xfrm>
            <a:off x="400050" y="171450"/>
            <a:ext cx="1536129" cy="185738"/>
          </a:xfrm>
          <a:prstGeom prst="roundRect">
            <a:avLst>
              <a:gd name="adj" fmla="val 5123063"/>
            </a:avLst>
          </a:prstGeom>
          <a:solidFill>
            <a:srgbClr val="E0ECEB"/>
          </a:solidFill>
          <a:ln/>
        </p:spPr>
        <p:txBody>
          <a:bodyPr wrap="square" rtlCol="0" anchor="ctr"/>
          <a:lstStyle/>
          <a:p>
            <a:pPr indent="0" marL="0">
              <a:buNone/>
            </a:pPr>
            <a:endParaRPr lang="en-US" dirty="0"/>
          </a:p>
        </p:txBody>
      </p:sp>
      <p:sp>
        <p:nvSpPr>
          <p:cNvPr id="4" name="Text 2"/>
          <p:cNvSpPr/>
          <p:nvPr/>
        </p:nvSpPr>
        <p:spPr>
          <a:xfrm>
            <a:off x="400050" y="171450"/>
            <a:ext cx="7908020" cy="237744"/>
          </a:xfrm>
          <a:prstGeom prst="rect">
            <a:avLst/>
          </a:prstGeom>
          <a:noFill/>
          <a:ln/>
        </p:spPr>
        <p:txBody>
          <a:bodyPr wrap="none" lIns="71438" tIns="28575" rIns="71438" bIns="28575" rtlCol="0" anchor="t"/>
          <a:lstStyle/>
          <a:p>
            <a:pPr algn="l" indent="0" marL="0">
              <a:lnSpc>
                <a:spcPts val="1013"/>
              </a:lnSpc>
              <a:buNone/>
            </a:pPr>
            <a:r>
              <a:rPr lang="en-US" sz="800" spc="27" kern="0" dirty="0">
                <a:solidFill>
                  <a:srgbClr val="134E4A"/>
                </a:solidFill>
                <a:latin typeface="Liberation Sans Narrow" pitchFamily="34" charset="0"/>
                <a:ea typeface="Liberation Sans Narrow" pitchFamily="34" charset="-122"/>
                <a:cs typeface="Liberation Sans Narrow" pitchFamily="34" charset="-120"/>
              </a:rPr>
              <a:t>BAB 02 · KRITERIA SELEKSI</a:t>
            </a:r>
            <a:endParaRPr lang="en-US" sz="800" dirty="0"/>
          </a:p>
        </p:txBody>
      </p:sp>
      <p:sp>
        <p:nvSpPr>
          <p:cNvPr id="5" name="Text 3"/>
          <p:cNvSpPr/>
          <p:nvPr/>
        </p:nvSpPr>
        <p:spPr>
          <a:xfrm>
            <a:off x="8322357" y="189309"/>
            <a:ext cx="573366" cy="164592"/>
          </a:xfrm>
          <a:prstGeom prst="rect">
            <a:avLst/>
          </a:prstGeom>
          <a:noFill/>
          <a:ln/>
        </p:spPr>
        <p:txBody>
          <a:bodyPr wrap="none" lIns="0" tIns="0" rIns="0" bIns="0" rtlCol="0" anchor="t"/>
          <a:lstStyle/>
          <a:p>
            <a:pPr algn="l" indent="0" marL="0">
              <a:lnSpc>
                <a:spcPts val="1181"/>
              </a:lnSpc>
              <a:buNone/>
            </a:pPr>
            <a:r>
              <a:rPr lang="en-US" sz="800" dirty="0">
                <a:solidFill>
                  <a:srgbClr val="64748B"/>
                </a:solidFill>
                <a:latin typeface="Liberation Sans Narrow" pitchFamily="34" charset="0"/>
                <a:ea typeface="Liberation Sans Narrow" pitchFamily="34" charset="-122"/>
                <a:cs typeface="Liberation Sans Narrow" pitchFamily="34" charset="-120"/>
              </a:rPr>
              <a:t>08 / 18</a:t>
            </a:r>
            <a:endParaRPr lang="en-US" sz="800" dirty="0"/>
          </a:p>
        </p:txBody>
      </p:sp>
      <p:sp>
        <p:nvSpPr>
          <p:cNvPr id="6" name="Text 4"/>
          <p:cNvSpPr/>
          <p:nvPr/>
        </p:nvSpPr>
        <p:spPr>
          <a:xfrm>
            <a:off x="400050" y="414338"/>
            <a:ext cx="8636000" cy="277749"/>
          </a:xfrm>
          <a:prstGeom prst="rect">
            <a:avLst/>
          </a:prstGeom>
          <a:noFill/>
          <a:ln/>
        </p:spPr>
        <p:txBody>
          <a:bodyPr wrap="square" lIns="0" tIns="0" rIns="0" bIns="0" rtlCol="0" anchor="t"/>
          <a:lstStyle/>
          <a:p>
            <a:pPr algn="l" indent="0" marL="0">
              <a:lnSpc>
                <a:spcPts val="2025"/>
              </a:lnSpc>
              <a:buNone/>
            </a:pPr>
            <a:r>
              <a:rPr lang="en-US" sz="1688" spc="-17" kern="0" dirty="0">
                <a:solidFill>
                  <a:srgbClr val="134E4A"/>
                </a:solidFill>
                <a:latin typeface="Tinos" pitchFamily="34" charset="0"/>
                <a:ea typeface="Tinos" pitchFamily="34" charset="-122"/>
                <a:cs typeface="Tinos" pitchFamily="34" charset="-120"/>
              </a:rPr>
              <a:t>Kriteria Inklusi &amp; Eksklusi</a:t>
            </a:r>
            <a:endParaRPr lang="en-US" sz="1688" dirty="0"/>
          </a:p>
        </p:txBody>
      </p:sp>
      <p:sp>
        <p:nvSpPr>
          <p:cNvPr id="7" name="Text 5"/>
          <p:cNvSpPr/>
          <p:nvPr/>
        </p:nvSpPr>
        <p:spPr>
          <a:xfrm>
            <a:off x="400050" y="742950"/>
            <a:ext cx="428625" cy="21431"/>
          </a:xfrm>
          <a:prstGeom prst="rect">
            <a:avLst/>
          </a:prstGeom>
          <a:solidFill>
            <a:srgbClr val="134E4A"/>
          </a:solidFill>
          <a:ln/>
        </p:spPr>
        <p:txBody>
          <a:bodyPr wrap="square" rtlCol="0" anchor="ctr"/>
          <a:lstStyle/>
          <a:p>
            <a:pPr indent="0" marL="0">
              <a:buNone/>
            </a:pPr>
            <a:endParaRPr lang="en-US" dirty="0"/>
          </a:p>
        </p:txBody>
      </p:sp>
      <p:sp>
        <p:nvSpPr>
          <p:cNvPr id="8" name="Text 6"/>
          <p:cNvSpPr/>
          <p:nvPr/>
        </p:nvSpPr>
        <p:spPr>
          <a:xfrm>
            <a:off x="400050" y="864394"/>
            <a:ext cx="7858125" cy="347186"/>
          </a:xfrm>
          <a:prstGeom prst="rect">
            <a:avLst/>
          </a:prstGeom>
          <a:noFill/>
          <a:ln/>
        </p:spPr>
        <p:txBody>
          <a:bodyPr wrap="square" lIns="0" tIns="0" rIns="0" bIns="0" rtlCol="0" anchor="t"/>
          <a:lstStyle/>
          <a:p>
            <a:pPr algn="l" indent="0" marL="0">
              <a:lnSpc>
                <a:spcPts val="1266"/>
              </a:lnSpc>
              <a:buNone/>
            </a:pPr>
            <a:r>
              <a:rPr lang="en-US" sz="844" dirty="0">
                <a:solidFill>
                  <a:srgbClr val="475569"/>
                </a:solidFill>
                <a:latin typeface="Carlito" pitchFamily="34" charset="0"/>
                <a:ea typeface="Carlito" pitchFamily="34" charset="-122"/>
                <a:cs typeface="Carlito" pitchFamily="34" charset="-120"/>
              </a:rPr>
              <a:t>Kriteria seleksi ditetapkan sebelum pencarian dimulai dan harus dapat diuji secara objektif oleh dua reviewer independen — kunci transparansi PRISMA.</a:t>
            </a:r>
            <a:endParaRPr lang="en-US" sz="844" dirty="0"/>
          </a:p>
        </p:txBody>
      </p:sp>
      <p:sp>
        <p:nvSpPr>
          <p:cNvPr id="9" name="Text 7"/>
          <p:cNvSpPr/>
          <p:nvPr/>
        </p:nvSpPr>
        <p:spPr>
          <a:xfrm>
            <a:off x="400050" y="1314450"/>
            <a:ext cx="4071938" cy="2703686"/>
          </a:xfrm>
          <a:prstGeom prst="roundRect">
            <a:avLst>
              <a:gd name="adj" fmla="val 4228"/>
            </a:avLst>
          </a:prstGeom>
          <a:solidFill>
            <a:srgbClr val="FFFFFF"/>
          </a:solidFill>
          <a:ln/>
        </p:spPr>
        <p:txBody>
          <a:bodyPr wrap="square" rtlCol="0" anchor="ctr"/>
          <a:lstStyle/>
          <a:p>
            <a:pPr indent="0" marL="0">
              <a:buNone/>
            </a:pPr>
            <a:endParaRPr lang="en-US" dirty="0"/>
          </a:p>
        </p:txBody>
      </p:sp>
      <p:sp>
        <p:nvSpPr>
          <p:cNvPr id="10" name="Shape 8"/>
          <p:cNvSpPr/>
          <p:nvPr/>
        </p:nvSpPr>
        <p:spPr>
          <a:xfrm>
            <a:off x="400050" y="1318022"/>
            <a:ext cx="4071938" cy="0"/>
          </a:xfrm>
          <a:prstGeom prst="line">
            <a:avLst/>
          </a:prstGeom>
          <a:noFill/>
          <a:ln w="7144">
            <a:solidFill>
              <a:srgbClr val="D8DEE2"/>
            </a:solidFill>
            <a:prstDash val="solid"/>
          </a:ln>
        </p:spPr>
      </p:sp>
      <p:sp>
        <p:nvSpPr>
          <p:cNvPr id="11" name="Shape 9"/>
          <p:cNvSpPr/>
          <p:nvPr/>
        </p:nvSpPr>
        <p:spPr>
          <a:xfrm>
            <a:off x="4468416" y="1314450"/>
            <a:ext cx="0" cy="2703686"/>
          </a:xfrm>
          <a:prstGeom prst="line">
            <a:avLst/>
          </a:prstGeom>
          <a:noFill/>
          <a:ln w="7144">
            <a:solidFill>
              <a:srgbClr val="D8DEE2"/>
            </a:solidFill>
            <a:prstDash val="solid"/>
          </a:ln>
        </p:spPr>
      </p:sp>
      <p:sp>
        <p:nvSpPr>
          <p:cNvPr id="12" name="Shape 10"/>
          <p:cNvSpPr/>
          <p:nvPr/>
        </p:nvSpPr>
        <p:spPr>
          <a:xfrm>
            <a:off x="400050" y="4014564"/>
            <a:ext cx="4071938" cy="0"/>
          </a:xfrm>
          <a:prstGeom prst="line">
            <a:avLst/>
          </a:prstGeom>
          <a:noFill/>
          <a:ln w="7144">
            <a:solidFill>
              <a:srgbClr val="D8DEE2"/>
            </a:solidFill>
            <a:prstDash val="solid"/>
          </a:ln>
        </p:spPr>
      </p:sp>
      <p:sp>
        <p:nvSpPr>
          <p:cNvPr id="13" name="Shape 11"/>
          <p:cNvSpPr/>
          <p:nvPr/>
        </p:nvSpPr>
        <p:spPr>
          <a:xfrm>
            <a:off x="414338" y="1314450"/>
            <a:ext cx="0" cy="2703686"/>
          </a:xfrm>
          <a:prstGeom prst="line">
            <a:avLst/>
          </a:prstGeom>
          <a:noFill/>
          <a:ln w="28575">
            <a:solidFill>
              <a:srgbClr val="134E4A"/>
            </a:solidFill>
            <a:prstDash val="solid"/>
          </a:ln>
        </p:spPr>
      </p:sp>
      <p:sp>
        <p:nvSpPr>
          <p:cNvPr id="14" name="Text 12"/>
          <p:cNvSpPr/>
          <p:nvPr/>
        </p:nvSpPr>
        <p:spPr>
          <a:xfrm>
            <a:off x="628650" y="1493044"/>
            <a:ext cx="257175" cy="257175"/>
          </a:xfrm>
          <a:prstGeom prst="rect">
            <a:avLst/>
          </a:prstGeom>
          <a:noFill/>
          <a:ln/>
        </p:spPr>
        <p:txBody>
          <a:bodyPr wrap="none" lIns="0" tIns="0" rIns="0" bIns="0" rtlCol="0" anchor="ctr"/>
          <a:lstStyle/>
          <a:p>
            <a:pPr algn="ctr" indent="0" marL="0">
              <a:buNone/>
            </a:pPr>
            <a:r>
              <a:rPr lang="en-US" sz="2531" dirty="0">
                <a:solidFill>
                  <a:srgbClr val="134E4A"/>
                </a:solidFill>
                <a:latin typeface="Segoe UI Symbol" pitchFamily="34" charset="0"/>
                <a:ea typeface="Segoe UI Symbol" pitchFamily="34" charset="-122"/>
                <a:cs typeface="Segoe UI Symbol" pitchFamily="34" charset="-120"/>
              </a:rPr>
              <a:t>✓</a:t>
            </a:r>
            <a:endParaRPr lang="en-US" sz="2531" dirty="0"/>
          </a:p>
        </p:txBody>
      </p:sp>
      <p:sp>
        <p:nvSpPr>
          <p:cNvPr id="15" name="Text 13"/>
          <p:cNvSpPr/>
          <p:nvPr/>
        </p:nvSpPr>
        <p:spPr>
          <a:xfrm>
            <a:off x="985838" y="1517618"/>
            <a:ext cx="551855" cy="208026"/>
          </a:xfrm>
          <a:prstGeom prst="roundRect">
            <a:avLst>
              <a:gd name="adj" fmla="val 4574176"/>
            </a:avLst>
          </a:prstGeom>
          <a:solidFill>
            <a:srgbClr val="E0ECEB"/>
          </a:solidFill>
          <a:ln/>
        </p:spPr>
        <p:txBody>
          <a:bodyPr wrap="square" rtlCol="0" anchor="ctr"/>
          <a:lstStyle/>
          <a:p>
            <a:pPr indent="0" marL="0">
              <a:buNone/>
            </a:pPr>
            <a:endParaRPr lang="en-US" dirty="0"/>
          </a:p>
        </p:txBody>
      </p:sp>
      <p:sp>
        <p:nvSpPr>
          <p:cNvPr id="16" name="Text 14"/>
          <p:cNvSpPr/>
          <p:nvPr/>
        </p:nvSpPr>
        <p:spPr>
          <a:xfrm>
            <a:off x="983828" y="1528763"/>
            <a:ext cx="555874" cy="185738"/>
          </a:xfrm>
          <a:prstGeom prst="rect">
            <a:avLst/>
          </a:prstGeom>
          <a:noFill/>
          <a:ln/>
        </p:spPr>
        <p:txBody>
          <a:bodyPr wrap="none" lIns="0" tIns="0" rIns="0" bIns="0" rtlCol="0" anchor="ctr"/>
          <a:lstStyle/>
          <a:p>
            <a:pPr algn="ctr" indent="0" marL="0">
              <a:lnSpc>
                <a:spcPts val="1013"/>
              </a:lnSpc>
              <a:buNone/>
            </a:pPr>
            <a:r>
              <a:rPr lang="en-US" sz="800" spc="27" kern="0" dirty="0">
                <a:solidFill>
                  <a:srgbClr val="134E4A"/>
                </a:solidFill>
                <a:latin typeface="Carlito" pitchFamily="34" charset="0"/>
                <a:ea typeface="Carlito" pitchFamily="34" charset="-122"/>
                <a:cs typeface="Carlito" pitchFamily="34" charset="-120"/>
              </a:rPr>
              <a:t>INKLUSI</a:t>
            </a:r>
            <a:endParaRPr lang="en-US" sz="800" dirty="0"/>
          </a:p>
        </p:txBody>
      </p:sp>
      <p:sp>
        <p:nvSpPr>
          <p:cNvPr id="17" name="Text 15"/>
          <p:cNvSpPr/>
          <p:nvPr/>
        </p:nvSpPr>
        <p:spPr>
          <a:xfrm>
            <a:off x="628650" y="1935956"/>
            <a:ext cx="3636169" cy="203610"/>
          </a:xfrm>
          <a:prstGeom prst="rect">
            <a:avLst/>
          </a:prstGeom>
          <a:noFill/>
          <a:ln/>
        </p:spPr>
        <p:txBody>
          <a:bodyPr wrap="none" lIns="0" tIns="0" rIns="0" bIns="0" rtlCol="0" anchor="t"/>
          <a:lstStyle/>
          <a:p>
            <a:pPr algn="l" indent="0" marL="0">
              <a:lnSpc>
                <a:spcPts val="1485"/>
              </a:lnSpc>
              <a:buNone/>
            </a:pPr>
            <a:r>
              <a:rPr lang="en-US" sz="1238" dirty="0">
                <a:solidFill>
                  <a:srgbClr val="134E4A"/>
                </a:solidFill>
                <a:latin typeface="Tinos" pitchFamily="34" charset="0"/>
                <a:ea typeface="Tinos" pitchFamily="34" charset="-122"/>
                <a:cs typeface="Tinos" pitchFamily="34" charset="-120"/>
              </a:rPr>
              <a:t>Studi yang Disertakan</a:t>
            </a:r>
            <a:endParaRPr lang="en-US" sz="1238" dirty="0"/>
          </a:p>
        </p:txBody>
      </p:sp>
      <p:sp>
        <p:nvSpPr>
          <p:cNvPr id="18" name="Shape 16"/>
          <p:cNvSpPr/>
          <p:nvPr/>
        </p:nvSpPr>
        <p:spPr>
          <a:xfrm>
            <a:off x="628650" y="2487364"/>
            <a:ext cx="3636169" cy="0"/>
          </a:xfrm>
          <a:prstGeom prst="line">
            <a:avLst/>
          </a:prstGeom>
          <a:noFill/>
          <a:ln w="7144">
            <a:solidFill>
              <a:srgbClr val="E2E8F0"/>
            </a:solidFill>
            <a:prstDash val="dash"/>
          </a:ln>
        </p:spPr>
      </p:sp>
      <p:sp>
        <p:nvSpPr>
          <p:cNvPr id="19" name="Text 17"/>
          <p:cNvSpPr/>
          <p:nvPr/>
        </p:nvSpPr>
        <p:spPr>
          <a:xfrm>
            <a:off x="628650" y="2295934"/>
            <a:ext cx="128588" cy="128588"/>
          </a:xfrm>
          <a:prstGeom prst="rect">
            <a:avLst/>
          </a:prstGeom>
          <a:noFill/>
          <a:ln/>
        </p:spPr>
        <p:txBody>
          <a:bodyPr wrap="none" lIns="0" tIns="0" rIns="0" bIns="0" rtlCol="0" anchor="ctr"/>
          <a:lstStyle/>
          <a:p>
            <a:pPr algn="ctr" indent="0" marL="0">
              <a:buNone/>
            </a:pPr>
            <a:r>
              <a:rPr lang="en-US" sz="1266" dirty="0">
                <a:solidFill>
                  <a:srgbClr val="134E4A"/>
                </a:solidFill>
                <a:latin typeface="Segoe UI Symbol" pitchFamily="34" charset="0"/>
                <a:ea typeface="Segoe UI Symbol" pitchFamily="34" charset="-122"/>
                <a:cs typeface="Segoe UI Symbol" pitchFamily="34" charset="-120"/>
              </a:rPr>
              <a:t>✓</a:t>
            </a:r>
            <a:endParaRPr lang="en-US" sz="1266" dirty="0"/>
          </a:p>
        </p:txBody>
      </p:sp>
      <p:sp>
        <p:nvSpPr>
          <p:cNvPr id="20" name="Text 18"/>
          <p:cNvSpPr/>
          <p:nvPr/>
        </p:nvSpPr>
        <p:spPr>
          <a:xfrm>
            <a:off x="828675" y="2281647"/>
            <a:ext cx="3436144" cy="144996"/>
          </a:xfrm>
          <a:prstGeom prst="rect">
            <a:avLst/>
          </a:prstGeom>
          <a:noFill/>
          <a:ln/>
        </p:spPr>
        <p:txBody>
          <a:bodyPr wrap="square" lIns="0" tIns="0" rIns="0" bIns="0" rtlCol="0" anchor="t"/>
          <a:lstStyle/>
          <a:p>
            <a:pPr algn="l" indent="0" marL="0">
              <a:lnSpc>
                <a:spcPts val="1142"/>
              </a:lnSpc>
              <a:buNone/>
            </a:pPr>
            <a:r>
              <a:rPr lang="en-US" sz="800" dirty="0">
                <a:solidFill>
                  <a:srgbClr val="0F172A"/>
                </a:solidFill>
                <a:latin typeface="Carlito" pitchFamily="34" charset="0"/>
                <a:ea typeface="Carlito" pitchFamily="34" charset="-122"/>
                <a:cs typeface="Carlito" pitchFamily="34" charset="-120"/>
              </a:rPr>
              <a:t>Studi empiris peer-reviewed, terbit 2020–2025.</a:t>
            </a:r>
            <a:endParaRPr lang="en-US" sz="800" dirty="0"/>
          </a:p>
        </p:txBody>
      </p:sp>
      <p:sp>
        <p:nvSpPr>
          <p:cNvPr id="21" name="Shape 19"/>
          <p:cNvSpPr/>
          <p:nvPr/>
        </p:nvSpPr>
        <p:spPr>
          <a:xfrm>
            <a:off x="628650" y="2753804"/>
            <a:ext cx="3636169" cy="0"/>
          </a:xfrm>
          <a:prstGeom prst="line">
            <a:avLst/>
          </a:prstGeom>
          <a:noFill/>
          <a:ln w="7144">
            <a:solidFill>
              <a:srgbClr val="E2E8F0"/>
            </a:solidFill>
            <a:prstDash val="dash"/>
          </a:ln>
        </p:spPr>
      </p:sp>
      <p:sp>
        <p:nvSpPr>
          <p:cNvPr id="22" name="Text 20"/>
          <p:cNvSpPr/>
          <p:nvPr/>
        </p:nvSpPr>
        <p:spPr>
          <a:xfrm>
            <a:off x="628650" y="2562374"/>
            <a:ext cx="128588" cy="128588"/>
          </a:xfrm>
          <a:prstGeom prst="rect">
            <a:avLst/>
          </a:prstGeom>
          <a:noFill/>
          <a:ln/>
        </p:spPr>
        <p:txBody>
          <a:bodyPr wrap="none" lIns="0" tIns="0" rIns="0" bIns="0" rtlCol="0" anchor="ctr"/>
          <a:lstStyle/>
          <a:p>
            <a:pPr algn="ctr" indent="0" marL="0">
              <a:buNone/>
            </a:pPr>
            <a:r>
              <a:rPr lang="en-US" sz="1266" dirty="0">
                <a:solidFill>
                  <a:srgbClr val="134E4A"/>
                </a:solidFill>
                <a:latin typeface="Segoe UI Symbol" pitchFamily="34" charset="0"/>
                <a:ea typeface="Segoe UI Symbol" pitchFamily="34" charset="-122"/>
                <a:cs typeface="Segoe UI Symbol" pitchFamily="34" charset="-120"/>
              </a:rPr>
              <a:t>✓</a:t>
            </a:r>
            <a:endParaRPr lang="en-US" sz="1266" dirty="0"/>
          </a:p>
        </p:txBody>
      </p:sp>
      <p:sp>
        <p:nvSpPr>
          <p:cNvPr id="23" name="Text 21"/>
          <p:cNvSpPr/>
          <p:nvPr/>
        </p:nvSpPr>
        <p:spPr>
          <a:xfrm>
            <a:off x="828675" y="2548086"/>
            <a:ext cx="3436144" cy="144996"/>
          </a:xfrm>
          <a:prstGeom prst="rect">
            <a:avLst/>
          </a:prstGeom>
          <a:noFill/>
          <a:ln/>
        </p:spPr>
        <p:txBody>
          <a:bodyPr wrap="square" lIns="0" tIns="0" rIns="0" bIns="0" rtlCol="0" anchor="t"/>
          <a:lstStyle/>
          <a:p>
            <a:pPr algn="l" indent="0" marL="0">
              <a:lnSpc>
                <a:spcPts val="1142"/>
              </a:lnSpc>
              <a:buNone/>
            </a:pPr>
            <a:r>
              <a:rPr lang="en-US" sz="800" dirty="0">
                <a:solidFill>
                  <a:srgbClr val="0F172A"/>
                </a:solidFill>
                <a:latin typeface="Carlito" pitchFamily="34" charset="0"/>
                <a:ea typeface="Carlito" pitchFamily="34" charset="-122"/>
                <a:cs typeface="Carlito" pitchFamily="34" charset="-120"/>
              </a:rPr>
              <a:t>Topik relevan dengan pertanyaan PICO yang ditetapkan.</a:t>
            </a:r>
            <a:endParaRPr lang="en-US" sz="800" dirty="0"/>
          </a:p>
        </p:txBody>
      </p:sp>
      <p:sp>
        <p:nvSpPr>
          <p:cNvPr id="24" name="Shape 22"/>
          <p:cNvSpPr/>
          <p:nvPr/>
        </p:nvSpPr>
        <p:spPr>
          <a:xfrm>
            <a:off x="628650" y="3020244"/>
            <a:ext cx="3636169" cy="0"/>
          </a:xfrm>
          <a:prstGeom prst="line">
            <a:avLst/>
          </a:prstGeom>
          <a:noFill/>
          <a:ln w="7144">
            <a:solidFill>
              <a:srgbClr val="E2E8F0"/>
            </a:solidFill>
            <a:prstDash val="dash"/>
          </a:ln>
        </p:spPr>
      </p:sp>
      <p:sp>
        <p:nvSpPr>
          <p:cNvPr id="25" name="Text 23"/>
          <p:cNvSpPr/>
          <p:nvPr/>
        </p:nvSpPr>
        <p:spPr>
          <a:xfrm>
            <a:off x="628650" y="2828813"/>
            <a:ext cx="128588" cy="128588"/>
          </a:xfrm>
          <a:prstGeom prst="rect">
            <a:avLst/>
          </a:prstGeom>
          <a:noFill/>
          <a:ln/>
        </p:spPr>
        <p:txBody>
          <a:bodyPr wrap="none" lIns="0" tIns="0" rIns="0" bIns="0" rtlCol="0" anchor="ctr"/>
          <a:lstStyle/>
          <a:p>
            <a:pPr algn="ctr" indent="0" marL="0">
              <a:buNone/>
            </a:pPr>
            <a:r>
              <a:rPr lang="en-US" sz="1266" dirty="0">
                <a:solidFill>
                  <a:srgbClr val="134E4A"/>
                </a:solidFill>
                <a:latin typeface="Segoe UI Symbol" pitchFamily="34" charset="0"/>
                <a:ea typeface="Segoe UI Symbol" pitchFamily="34" charset="-122"/>
                <a:cs typeface="Segoe UI Symbol" pitchFamily="34" charset="-120"/>
              </a:rPr>
              <a:t>✓</a:t>
            </a:r>
            <a:endParaRPr lang="en-US" sz="1266" dirty="0"/>
          </a:p>
        </p:txBody>
      </p:sp>
      <p:sp>
        <p:nvSpPr>
          <p:cNvPr id="26" name="Text 24"/>
          <p:cNvSpPr/>
          <p:nvPr/>
        </p:nvSpPr>
        <p:spPr>
          <a:xfrm>
            <a:off x="828675" y="2814526"/>
            <a:ext cx="3436144" cy="144996"/>
          </a:xfrm>
          <a:prstGeom prst="rect">
            <a:avLst/>
          </a:prstGeom>
          <a:noFill/>
          <a:ln/>
        </p:spPr>
        <p:txBody>
          <a:bodyPr wrap="square" lIns="0" tIns="0" rIns="0" bIns="0" rtlCol="0" anchor="t"/>
          <a:lstStyle/>
          <a:p>
            <a:pPr algn="l" indent="0" marL="0">
              <a:lnSpc>
                <a:spcPts val="1142"/>
              </a:lnSpc>
              <a:buNone/>
            </a:pPr>
            <a:r>
              <a:rPr lang="en-US" sz="800" dirty="0">
                <a:solidFill>
                  <a:srgbClr val="0F172A"/>
                </a:solidFill>
                <a:latin typeface="Carlito" pitchFamily="34" charset="0"/>
                <a:ea typeface="Carlito" pitchFamily="34" charset="-122"/>
                <a:cs typeface="Carlito" pitchFamily="34" charset="-120"/>
              </a:rPr>
              <a:t>Bahasa: Inggris atau Indonesia.</a:t>
            </a:r>
            <a:endParaRPr lang="en-US" sz="800" dirty="0"/>
          </a:p>
        </p:txBody>
      </p:sp>
      <p:sp>
        <p:nvSpPr>
          <p:cNvPr id="27" name="Shape 25"/>
          <p:cNvSpPr/>
          <p:nvPr/>
        </p:nvSpPr>
        <p:spPr>
          <a:xfrm>
            <a:off x="628650" y="3286683"/>
            <a:ext cx="3636169" cy="0"/>
          </a:xfrm>
          <a:prstGeom prst="line">
            <a:avLst/>
          </a:prstGeom>
          <a:noFill/>
          <a:ln w="7144">
            <a:solidFill>
              <a:srgbClr val="E2E8F0"/>
            </a:solidFill>
            <a:prstDash val="dash"/>
          </a:ln>
        </p:spPr>
      </p:sp>
      <p:sp>
        <p:nvSpPr>
          <p:cNvPr id="28" name="Text 26"/>
          <p:cNvSpPr/>
          <p:nvPr/>
        </p:nvSpPr>
        <p:spPr>
          <a:xfrm>
            <a:off x="628650" y="3095253"/>
            <a:ext cx="128588" cy="128588"/>
          </a:xfrm>
          <a:prstGeom prst="rect">
            <a:avLst/>
          </a:prstGeom>
          <a:noFill/>
          <a:ln/>
        </p:spPr>
        <p:txBody>
          <a:bodyPr wrap="none" lIns="0" tIns="0" rIns="0" bIns="0" rtlCol="0" anchor="ctr"/>
          <a:lstStyle/>
          <a:p>
            <a:pPr algn="ctr" indent="0" marL="0">
              <a:buNone/>
            </a:pPr>
            <a:r>
              <a:rPr lang="en-US" sz="1266" dirty="0">
                <a:solidFill>
                  <a:srgbClr val="134E4A"/>
                </a:solidFill>
                <a:latin typeface="Segoe UI Symbol" pitchFamily="34" charset="0"/>
                <a:ea typeface="Segoe UI Symbol" pitchFamily="34" charset="-122"/>
                <a:cs typeface="Segoe UI Symbol" pitchFamily="34" charset="-120"/>
              </a:rPr>
              <a:t>✓</a:t>
            </a:r>
            <a:endParaRPr lang="en-US" sz="1266" dirty="0"/>
          </a:p>
        </p:txBody>
      </p:sp>
      <p:sp>
        <p:nvSpPr>
          <p:cNvPr id="29" name="Text 27"/>
          <p:cNvSpPr/>
          <p:nvPr/>
        </p:nvSpPr>
        <p:spPr>
          <a:xfrm>
            <a:off x="828675" y="3080965"/>
            <a:ext cx="3436144" cy="144996"/>
          </a:xfrm>
          <a:prstGeom prst="rect">
            <a:avLst/>
          </a:prstGeom>
          <a:noFill/>
          <a:ln/>
        </p:spPr>
        <p:txBody>
          <a:bodyPr wrap="square" lIns="0" tIns="0" rIns="0" bIns="0" rtlCol="0" anchor="t"/>
          <a:lstStyle/>
          <a:p>
            <a:pPr algn="l" indent="0" marL="0">
              <a:lnSpc>
                <a:spcPts val="1142"/>
              </a:lnSpc>
              <a:buNone/>
            </a:pPr>
            <a:r>
              <a:rPr lang="en-US" sz="800" dirty="0">
                <a:solidFill>
                  <a:srgbClr val="0F172A"/>
                </a:solidFill>
                <a:latin typeface="Carlito" pitchFamily="34" charset="0"/>
                <a:ea typeface="Carlito" pitchFamily="34" charset="-122"/>
                <a:cs typeface="Carlito" pitchFamily="34" charset="-120"/>
              </a:rPr>
              <a:t>Akses full-text tersedia melalui institusi.</a:t>
            </a:r>
            <a:endParaRPr lang="en-US" sz="800" dirty="0"/>
          </a:p>
        </p:txBody>
      </p:sp>
      <p:sp>
        <p:nvSpPr>
          <p:cNvPr id="30" name="Text 28"/>
          <p:cNvSpPr/>
          <p:nvPr/>
        </p:nvSpPr>
        <p:spPr>
          <a:xfrm>
            <a:off x="628650" y="3361692"/>
            <a:ext cx="128588" cy="128588"/>
          </a:xfrm>
          <a:prstGeom prst="rect">
            <a:avLst/>
          </a:prstGeom>
          <a:noFill/>
          <a:ln/>
        </p:spPr>
        <p:txBody>
          <a:bodyPr wrap="none" lIns="0" tIns="0" rIns="0" bIns="0" rtlCol="0" anchor="ctr"/>
          <a:lstStyle/>
          <a:p>
            <a:pPr algn="ctr" indent="0" marL="0">
              <a:buNone/>
            </a:pPr>
            <a:r>
              <a:rPr lang="en-US" sz="1266" dirty="0">
                <a:solidFill>
                  <a:srgbClr val="134E4A"/>
                </a:solidFill>
                <a:latin typeface="Segoe UI Symbol" pitchFamily="34" charset="0"/>
                <a:ea typeface="Segoe UI Symbol" pitchFamily="34" charset="-122"/>
                <a:cs typeface="Segoe UI Symbol" pitchFamily="34" charset="-120"/>
              </a:rPr>
              <a:t>✓</a:t>
            </a:r>
            <a:endParaRPr lang="en-US" sz="1266" dirty="0"/>
          </a:p>
        </p:txBody>
      </p:sp>
      <p:sp>
        <p:nvSpPr>
          <p:cNvPr id="31" name="Text 29"/>
          <p:cNvSpPr/>
          <p:nvPr/>
        </p:nvSpPr>
        <p:spPr>
          <a:xfrm>
            <a:off x="828675" y="3347405"/>
            <a:ext cx="3436144" cy="159081"/>
          </a:xfrm>
          <a:prstGeom prst="rect">
            <a:avLst/>
          </a:prstGeom>
          <a:noFill/>
          <a:ln/>
        </p:spPr>
        <p:txBody>
          <a:bodyPr wrap="square" lIns="0" tIns="0" rIns="0" bIns="0" rtlCol="0" anchor="t"/>
          <a:lstStyle/>
          <a:p>
            <a:pPr algn="l" indent="0" marL="0">
              <a:lnSpc>
                <a:spcPts val="1142"/>
              </a:lnSpc>
              <a:buNone/>
            </a:pPr>
            <a:r>
              <a:rPr lang="en-US" sz="800" dirty="0">
                <a:solidFill>
                  <a:srgbClr val="0F172A"/>
                </a:solidFill>
                <a:latin typeface="Carlito" pitchFamily="34" charset="0"/>
                <a:ea typeface="Carlito" pitchFamily="34" charset="-122"/>
                <a:cs typeface="Carlito" pitchFamily="34" charset="-120"/>
              </a:rPr>
              <a:t>Memiliki outcome terukur dan dapat diekstrak datanya.</a:t>
            </a:r>
            <a:endParaRPr lang="en-US" sz="800" dirty="0"/>
          </a:p>
        </p:txBody>
      </p:sp>
      <p:sp>
        <p:nvSpPr>
          <p:cNvPr id="32" name="Text 30"/>
          <p:cNvSpPr/>
          <p:nvPr/>
        </p:nvSpPr>
        <p:spPr>
          <a:xfrm>
            <a:off x="4672013" y="1314450"/>
            <a:ext cx="4071938" cy="2703686"/>
          </a:xfrm>
          <a:prstGeom prst="roundRect">
            <a:avLst>
              <a:gd name="adj" fmla="val 4228"/>
            </a:avLst>
          </a:prstGeom>
          <a:solidFill>
            <a:srgbClr val="FFFFFF"/>
          </a:solidFill>
          <a:ln/>
        </p:spPr>
        <p:txBody>
          <a:bodyPr wrap="square" rtlCol="0" anchor="ctr"/>
          <a:lstStyle/>
          <a:p>
            <a:pPr indent="0" marL="0">
              <a:buNone/>
            </a:pPr>
            <a:endParaRPr lang="en-US" dirty="0"/>
          </a:p>
        </p:txBody>
      </p:sp>
      <p:sp>
        <p:nvSpPr>
          <p:cNvPr id="33" name="Shape 31"/>
          <p:cNvSpPr/>
          <p:nvPr/>
        </p:nvSpPr>
        <p:spPr>
          <a:xfrm>
            <a:off x="4672013" y="1318022"/>
            <a:ext cx="4071938" cy="0"/>
          </a:xfrm>
          <a:prstGeom prst="line">
            <a:avLst/>
          </a:prstGeom>
          <a:noFill/>
          <a:ln w="7144">
            <a:solidFill>
              <a:srgbClr val="D8DEE2"/>
            </a:solidFill>
            <a:prstDash val="solid"/>
          </a:ln>
        </p:spPr>
      </p:sp>
      <p:sp>
        <p:nvSpPr>
          <p:cNvPr id="34" name="Shape 32"/>
          <p:cNvSpPr/>
          <p:nvPr/>
        </p:nvSpPr>
        <p:spPr>
          <a:xfrm>
            <a:off x="8740378" y="1314450"/>
            <a:ext cx="0" cy="2703686"/>
          </a:xfrm>
          <a:prstGeom prst="line">
            <a:avLst/>
          </a:prstGeom>
          <a:noFill/>
          <a:ln w="7144">
            <a:solidFill>
              <a:srgbClr val="D8DEE2"/>
            </a:solidFill>
            <a:prstDash val="solid"/>
          </a:ln>
        </p:spPr>
      </p:sp>
      <p:sp>
        <p:nvSpPr>
          <p:cNvPr id="35" name="Shape 33"/>
          <p:cNvSpPr/>
          <p:nvPr/>
        </p:nvSpPr>
        <p:spPr>
          <a:xfrm>
            <a:off x="4672013" y="4014564"/>
            <a:ext cx="4071938" cy="0"/>
          </a:xfrm>
          <a:prstGeom prst="line">
            <a:avLst/>
          </a:prstGeom>
          <a:noFill/>
          <a:ln w="7144">
            <a:solidFill>
              <a:srgbClr val="D8DEE2"/>
            </a:solidFill>
            <a:prstDash val="solid"/>
          </a:ln>
        </p:spPr>
      </p:sp>
      <p:sp>
        <p:nvSpPr>
          <p:cNvPr id="36" name="Shape 34"/>
          <p:cNvSpPr/>
          <p:nvPr/>
        </p:nvSpPr>
        <p:spPr>
          <a:xfrm>
            <a:off x="4686300" y="1314450"/>
            <a:ext cx="0" cy="2703686"/>
          </a:xfrm>
          <a:prstGeom prst="line">
            <a:avLst/>
          </a:prstGeom>
          <a:noFill/>
          <a:ln w="28575">
            <a:solidFill>
              <a:srgbClr val="F97316"/>
            </a:solidFill>
            <a:prstDash val="solid"/>
          </a:ln>
        </p:spPr>
      </p:sp>
      <p:sp>
        <p:nvSpPr>
          <p:cNvPr id="37" name="Text 35"/>
          <p:cNvSpPr/>
          <p:nvPr/>
        </p:nvSpPr>
        <p:spPr>
          <a:xfrm>
            <a:off x="4900613" y="1493044"/>
            <a:ext cx="257175" cy="257175"/>
          </a:xfrm>
          <a:prstGeom prst="rect">
            <a:avLst/>
          </a:prstGeom>
          <a:noFill/>
          <a:ln/>
        </p:spPr>
        <p:txBody>
          <a:bodyPr wrap="none" lIns="0" tIns="0" rIns="0" bIns="0" rtlCol="0" anchor="ctr"/>
          <a:lstStyle/>
          <a:p>
            <a:pPr algn="ctr" indent="0" marL="0">
              <a:buNone/>
            </a:pPr>
            <a:r>
              <a:rPr lang="en-US" sz="2531" dirty="0">
                <a:solidFill>
                  <a:srgbClr val="F97316"/>
                </a:solidFill>
                <a:latin typeface="Segoe UI Symbol" pitchFamily="34" charset="0"/>
                <a:ea typeface="Segoe UI Symbol" pitchFamily="34" charset="-122"/>
                <a:cs typeface="Segoe UI Symbol" pitchFamily="34" charset="-120"/>
              </a:rPr>
              <a:t>✕</a:t>
            </a:r>
            <a:endParaRPr lang="en-US" sz="2531" dirty="0"/>
          </a:p>
        </p:txBody>
      </p:sp>
      <p:sp>
        <p:nvSpPr>
          <p:cNvPr id="38" name="Text 36"/>
          <p:cNvSpPr/>
          <p:nvPr/>
        </p:nvSpPr>
        <p:spPr>
          <a:xfrm>
            <a:off x="5257800" y="1517618"/>
            <a:ext cx="638361" cy="208026"/>
          </a:xfrm>
          <a:prstGeom prst="roundRect">
            <a:avLst>
              <a:gd name="adj" fmla="val 4574176"/>
            </a:avLst>
          </a:prstGeom>
          <a:solidFill>
            <a:srgbClr val="FFF1E6"/>
          </a:solidFill>
          <a:ln/>
        </p:spPr>
        <p:txBody>
          <a:bodyPr wrap="square" rtlCol="0" anchor="ctr"/>
          <a:lstStyle/>
          <a:p>
            <a:pPr indent="0" marL="0">
              <a:buNone/>
            </a:pPr>
            <a:endParaRPr lang="en-US" dirty="0"/>
          </a:p>
        </p:txBody>
      </p:sp>
      <p:sp>
        <p:nvSpPr>
          <p:cNvPr id="39" name="Text 37"/>
          <p:cNvSpPr/>
          <p:nvPr/>
        </p:nvSpPr>
        <p:spPr>
          <a:xfrm>
            <a:off x="5257800" y="1528763"/>
            <a:ext cx="638361" cy="185738"/>
          </a:xfrm>
          <a:prstGeom prst="rect">
            <a:avLst/>
          </a:prstGeom>
          <a:noFill/>
          <a:ln/>
        </p:spPr>
        <p:txBody>
          <a:bodyPr wrap="none" lIns="0" tIns="0" rIns="0" bIns="0" rtlCol="0" anchor="ctr"/>
          <a:lstStyle/>
          <a:p>
            <a:pPr algn="ctr" indent="0" marL="0">
              <a:lnSpc>
                <a:spcPts val="1013"/>
              </a:lnSpc>
              <a:buNone/>
            </a:pPr>
            <a:r>
              <a:rPr lang="en-US" sz="800" spc="27" kern="0" dirty="0">
                <a:solidFill>
                  <a:srgbClr val="EA680C"/>
                </a:solidFill>
                <a:latin typeface="Carlito" pitchFamily="34" charset="0"/>
                <a:ea typeface="Carlito" pitchFamily="34" charset="-122"/>
                <a:cs typeface="Carlito" pitchFamily="34" charset="-120"/>
              </a:rPr>
              <a:t>EKSKLUSI</a:t>
            </a:r>
            <a:endParaRPr lang="en-US" sz="800" dirty="0"/>
          </a:p>
        </p:txBody>
      </p:sp>
      <p:sp>
        <p:nvSpPr>
          <p:cNvPr id="40" name="Text 38"/>
          <p:cNvSpPr/>
          <p:nvPr/>
        </p:nvSpPr>
        <p:spPr>
          <a:xfrm>
            <a:off x="4900613" y="1935956"/>
            <a:ext cx="3636169" cy="203610"/>
          </a:xfrm>
          <a:prstGeom prst="rect">
            <a:avLst/>
          </a:prstGeom>
          <a:noFill/>
          <a:ln/>
        </p:spPr>
        <p:txBody>
          <a:bodyPr wrap="none" lIns="0" tIns="0" rIns="0" bIns="0" rtlCol="0" anchor="t"/>
          <a:lstStyle/>
          <a:p>
            <a:pPr algn="l" indent="0" marL="0">
              <a:lnSpc>
                <a:spcPts val="1485"/>
              </a:lnSpc>
              <a:buNone/>
            </a:pPr>
            <a:r>
              <a:rPr lang="en-US" sz="1238" dirty="0">
                <a:solidFill>
                  <a:srgbClr val="134E4A"/>
                </a:solidFill>
                <a:latin typeface="Tinos" pitchFamily="34" charset="0"/>
                <a:ea typeface="Tinos" pitchFamily="34" charset="-122"/>
                <a:cs typeface="Tinos" pitchFamily="34" charset="-120"/>
              </a:rPr>
              <a:t>Studi yang Dikeluarkan</a:t>
            </a:r>
            <a:endParaRPr lang="en-US" sz="1238" dirty="0"/>
          </a:p>
        </p:txBody>
      </p:sp>
      <p:sp>
        <p:nvSpPr>
          <p:cNvPr id="41" name="Shape 39"/>
          <p:cNvSpPr/>
          <p:nvPr/>
        </p:nvSpPr>
        <p:spPr>
          <a:xfrm>
            <a:off x="4900613" y="2632360"/>
            <a:ext cx="3636169" cy="0"/>
          </a:xfrm>
          <a:prstGeom prst="line">
            <a:avLst/>
          </a:prstGeom>
          <a:noFill/>
          <a:ln w="7144">
            <a:solidFill>
              <a:srgbClr val="E2E8F0"/>
            </a:solidFill>
            <a:prstDash val="dash"/>
          </a:ln>
        </p:spPr>
      </p:sp>
      <p:sp>
        <p:nvSpPr>
          <p:cNvPr id="42" name="Text 40"/>
          <p:cNvSpPr/>
          <p:nvPr/>
        </p:nvSpPr>
        <p:spPr>
          <a:xfrm>
            <a:off x="4900613" y="2295934"/>
            <a:ext cx="128588" cy="128588"/>
          </a:xfrm>
          <a:prstGeom prst="rect">
            <a:avLst/>
          </a:prstGeom>
          <a:noFill/>
          <a:ln/>
        </p:spPr>
        <p:txBody>
          <a:bodyPr wrap="none" lIns="0" tIns="0" rIns="0" bIns="0" rtlCol="0" anchor="ctr"/>
          <a:lstStyle/>
          <a:p>
            <a:pPr algn="ctr" indent="0" marL="0">
              <a:buNone/>
            </a:pPr>
            <a:r>
              <a:rPr lang="en-US" sz="1266" dirty="0">
                <a:solidFill>
                  <a:srgbClr val="F97316"/>
                </a:solidFill>
                <a:latin typeface="Segoe UI Symbol" pitchFamily="34" charset="0"/>
                <a:ea typeface="Segoe UI Symbol" pitchFamily="34" charset="-122"/>
                <a:cs typeface="Segoe UI Symbol" pitchFamily="34" charset="-120"/>
              </a:rPr>
              <a:t>✕</a:t>
            </a:r>
            <a:endParaRPr lang="en-US" sz="1266" dirty="0"/>
          </a:p>
        </p:txBody>
      </p:sp>
      <p:sp>
        <p:nvSpPr>
          <p:cNvPr id="43" name="Text 41"/>
          <p:cNvSpPr/>
          <p:nvPr/>
        </p:nvSpPr>
        <p:spPr>
          <a:xfrm>
            <a:off x="5100638" y="2281647"/>
            <a:ext cx="3436144" cy="289992"/>
          </a:xfrm>
          <a:prstGeom prst="rect">
            <a:avLst/>
          </a:prstGeom>
          <a:noFill/>
          <a:ln/>
        </p:spPr>
        <p:txBody>
          <a:bodyPr wrap="square" lIns="0" tIns="0" rIns="0" bIns="0" rtlCol="0" anchor="t"/>
          <a:lstStyle/>
          <a:p>
            <a:pPr algn="l" indent="0" marL="0">
              <a:lnSpc>
                <a:spcPts val="1142"/>
              </a:lnSpc>
              <a:buNone/>
            </a:pPr>
            <a:r>
              <a:rPr lang="en-US" sz="800" dirty="0">
                <a:solidFill>
                  <a:srgbClr val="0F172A"/>
                </a:solidFill>
                <a:latin typeface="Carlito" pitchFamily="34" charset="0"/>
                <a:ea typeface="Carlito" pitchFamily="34" charset="-122"/>
                <a:cs typeface="Carlito" pitchFamily="34" charset="-120"/>
              </a:rPr>
              <a:t>Review sekunder, editorial, opini, atau abstrak konferensi tanpa full paper.</a:t>
            </a:r>
            <a:endParaRPr lang="en-US" sz="800" dirty="0"/>
          </a:p>
        </p:txBody>
      </p:sp>
      <p:sp>
        <p:nvSpPr>
          <p:cNvPr id="44" name="Shape 42"/>
          <p:cNvSpPr/>
          <p:nvPr/>
        </p:nvSpPr>
        <p:spPr>
          <a:xfrm>
            <a:off x="4900613" y="2898800"/>
            <a:ext cx="3636169" cy="0"/>
          </a:xfrm>
          <a:prstGeom prst="line">
            <a:avLst/>
          </a:prstGeom>
          <a:noFill/>
          <a:ln w="7144">
            <a:solidFill>
              <a:srgbClr val="E2E8F0"/>
            </a:solidFill>
            <a:prstDash val="dash"/>
          </a:ln>
        </p:spPr>
      </p:sp>
      <p:sp>
        <p:nvSpPr>
          <p:cNvPr id="45" name="Text 43"/>
          <p:cNvSpPr/>
          <p:nvPr/>
        </p:nvSpPr>
        <p:spPr>
          <a:xfrm>
            <a:off x="4900613" y="2707370"/>
            <a:ext cx="128588" cy="128588"/>
          </a:xfrm>
          <a:prstGeom prst="rect">
            <a:avLst/>
          </a:prstGeom>
          <a:noFill/>
          <a:ln/>
        </p:spPr>
        <p:txBody>
          <a:bodyPr wrap="none" lIns="0" tIns="0" rIns="0" bIns="0" rtlCol="0" anchor="ctr"/>
          <a:lstStyle/>
          <a:p>
            <a:pPr algn="ctr" indent="0" marL="0">
              <a:buNone/>
            </a:pPr>
            <a:r>
              <a:rPr lang="en-US" sz="1266" dirty="0">
                <a:solidFill>
                  <a:srgbClr val="F97316"/>
                </a:solidFill>
                <a:latin typeface="Segoe UI Symbol" pitchFamily="34" charset="0"/>
                <a:ea typeface="Segoe UI Symbol" pitchFamily="34" charset="-122"/>
                <a:cs typeface="Segoe UI Symbol" pitchFamily="34" charset="-120"/>
              </a:rPr>
              <a:t>✕</a:t>
            </a:r>
            <a:endParaRPr lang="en-US" sz="1266" dirty="0"/>
          </a:p>
        </p:txBody>
      </p:sp>
      <p:sp>
        <p:nvSpPr>
          <p:cNvPr id="46" name="Text 44"/>
          <p:cNvSpPr/>
          <p:nvPr/>
        </p:nvSpPr>
        <p:spPr>
          <a:xfrm>
            <a:off x="5100638" y="2693082"/>
            <a:ext cx="3436144" cy="144996"/>
          </a:xfrm>
          <a:prstGeom prst="rect">
            <a:avLst/>
          </a:prstGeom>
          <a:noFill/>
          <a:ln/>
        </p:spPr>
        <p:txBody>
          <a:bodyPr wrap="square" lIns="0" tIns="0" rIns="0" bIns="0" rtlCol="0" anchor="t"/>
          <a:lstStyle/>
          <a:p>
            <a:pPr algn="l" indent="0" marL="0">
              <a:lnSpc>
                <a:spcPts val="1142"/>
              </a:lnSpc>
              <a:buNone/>
            </a:pPr>
            <a:r>
              <a:rPr lang="en-US" sz="800" dirty="0">
                <a:solidFill>
                  <a:srgbClr val="0F172A"/>
                </a:solidFill>
                <a:latin typeface="Carlito" pitchFamily="34" charset="0"/>
                <a:ea typeface="Carlito" pitchFamily="34" charset="-122"/>
                <a:cs typeface="Carlito" pitchFamily="34" charset="-120"/>
              </a:rPr>
              <a:t>Studi duplikat — publikasi ulang data yang sama.</a:t>
            </a:r>
            <a:endParaRPr lang="en-US" sz="800" dirty="0"/>
          </a:p>
        </p:txBody>
      </p:sp>
      <p:sp>
        <p:nvSpPr>
          <p:cNvPr id="47" name="Shape 45"/>
          <p:cNvSpPr/>
          <p:nvPr/>
        </p:nvSpPr>
        <p:spPr>
          <a:xfrm>
            <a:off x="4900613" y="3165239"/>
            <a:ext cx="3636169" cy="0"/>
          </a:xfrm>
          <a:prstGeom prst="line">
            <a:avLst/>
          </a:prstGeom>
          <a:noFill/>
          <a:ln w="7144">
            <a:solidFill>
              <a:srgbClr val="E2E8F0"/>
            </a:solidFill>
            <a:prstDash val="dash"/>
          </a:ln>
        </p:spPr>
      </p:sp>
      <p:sp>
        <p:nvSpPr>
          <p:cNvPr id="48" name="Text 46"/>
          <p:cNvSpPr/>
          <p:nvPr/>
        </p:nvSpPr>
        <p:spPr>
          <a:xfrm>
            <a:off x="4900613" y="2973809"/>
            <a:ext cx="128588" cy="128588"/>
          </a:xfrm>
          <a:prstGeom prst="rect">
            <a:avLst/>
          </a:prstGeom>
          <a:noFill/>
          <a:ln/>
        </p:spPr>
        <p:txBody>
          <a:bodyPr wrap="none" lIns="0" tIns="0" rIns="0" bIns="0" rtlCol="0" anchor="ctr"/>
          <a:lstStyle/>
          <a:p>
            <a:pPr algn="ctr" indent="0" marL="0">
              <a:buNone/>
            </a:pPr>
            <a:r>
              <a:rPr lang="en-US" sz="1266" dirty="0">
                <a:solidFill>
                  <a:srgbClr val="F97316"/>
                </a:solidFill>
                <a:latin typeface="Segoe UI Symbol" pitchFamily="34" charset="0"/>
                <a:ea typeface="Segoe UI Symbol" pitchFamily="34" charset="-122"/>
                <a:cs typeface="Segoe UI Symbol" pitchFamily="34" charset="-120"/>
              </a:rPr>
              <a:t>✕</a:t>
            </a:r>
            <a:endParaRPr lang="en-US" sz="1266" dirty="0"/>
          </a:p>
        </p:txBody>
      </p:sp>
      <p:sp>
        <p:nvSpPr>
          <p:cNvPr id="49" name="Text 47"/>
          <p:cNvSpPr/>
          <p:nvPr/>
        </p:nvSpPr>
        <p:spPr>
          <a:xfrm>
            <a:off x="5100638" y="2959522"/>
            <a:ext cx="3436144" cy="144996"/>
          </a:xfrm>
          <a:prstGeom prst="rect">
            <a:avLst/>
          </a:prstGeom>
          <a:noFill/>
          <a:ln/>
        </p:spPr>
        <p:txBody>
          <a:bodyPr wrap="square" lIns="0" tIns="0" rIns="0" bIns="0" rtlCol="0" anchor="t"/>
          <a:lstStyle/>
          <a:p>
            <a:pPr algn="l" indent="0" marL="0">
              <a:lnSpc>
                <a:spcPts val="1142"/>
              </a:lnSpc>
              <a:buNone/>
            </a:pPr>
            <a:r>
              <a:rPr lang="en-US" sz="800" dirty="0">
                <a:solidFill>
                  <a:srgbClr val="0F172A"/>
                </a:solidFill>
                <a:latin typeface="Carlito" pitchFamily="34" charset="0"/>
                <a:ea typeface="Carlito" pitchFamily="34" charset="-122"/>
                <a:cs typeface="Carlito" pitchFamily="34" charset="-120"/>
              </a:rPr>
              <a:t>Population/Intervention tidak sesuai PICO.</a:t>
            </a:r>
            <a:endParaRPr lang="en-US" sz="800" dirty="0"/>
          </a:p>
        </p:txBody>
      </p:sp>
      <p:sp>
        <p:nvSpPr>
          <p:cNvPr id="50" name="Shape 48"/>
          <p:cNvSpPr/>
          <p:nvPr/>
        </p:nvSpPr>
        <p:spPr>
          <a:xfrm>
            <a:off x="4900613" y="3431679"/>
            <a:ext cx="3636169" cy="0"/>
          </a:xfrm>
          <a:prstGeom prst="line">
            <a:avLst/>
          </a:prstGeom>
          <a:noFill/>
          <a:ln w="7144">
            <a:solidFill>
              <a:srgbClr val="E2E8F0"/>
            </a:solidFill>
            <a:prstDash val="dash"/>
          </a:ln>
        </p:spPr>
      </p:sp>
      <p:sp>
        <p:nvSpPr>
          <p:cNvPr id="51" name="Text 49"/>
          <p:cNvSpPr/>
          <p:nvPr/>
        </p:nvSpPr>
        <p:spPr>
          <a:xfrm>
            <a:off x="4900613" y="3240249"/>
            <a:ext cx="128588" cy="128588"/>
          </a:xfrm>
          <a:prstGeom prst="rect">
            <a:avLst/>
          </a:prstGeom>
          <a:noFill/>
          <a:ln/>
        </p:spPr>
        <p:txBody>
          <a:bodyPr wrap="none" lIns="0" tIns="0" rIns="0" bIns="0" rtlCol="0" anchor="ctr"/>
          <a:lstStyle/>
          <a:p>
            <a:pPr algn="ctr" indent="0" marL="0">
              <a:buNone/>
            </a:pPr>
            <a:r>
              <a:rPr lang="en-US" sz="1266" dirty="0">
                <a:solidFill>
                  <a:srgbClr val="F97316"/>
                </a:solidFill>
                <a:latin typeface="Segoe UI Symbol" pitchFamily="34" charset="0"/>
                <a:ea typeface="Segoe UI Symbol" pitchFamily="34" charset="-122"/>
                <a:cs typeface="Segoe UI Symbol" pitchFamily="34" charset="-120"/>
              </a:rPr>
              <a:t>✕</a:t>
            </a:r>
            <a:endParaRPr lang="en-US" sz="1266" dirty="0"/>
          </a:p>
        </p:txBody>
      </p:sp>
      <p:sp>
        <p:nvSpPr>
          <p:cNvPr id="52" name="Text 50"/>
          <p:cNvSpPr/>
          <p:nvPr/>
        </p:nvSpPr>
        <p:spPr>
          <a:xfrm>
            <a:off x="5100638" y="3225961"/>
            <a:ext cx="3436144" cy="144996"/>
          </a:xfrm>
          <a:prstGeom prst="rect">
            <a:avLst/>
          </a:prstGeom>
          <a:noFill/>
          <a:ln/>
        </p:spPr>
        <p:txBody>
          <a:bodyPr wrap="square" lIns="0" tIns="0" rIns="0" bIns="0" rtlCol="0" anchor="t"/>
          <a:lstStyle/>
          <a:p>
            <a:pPr algn="l" indent="0" marL="0">
              <a:lnSpc>
                <a:spcPts val="1142"/>
              </a:lnSpc>
              <a:buNone/>
            </a:pPr>
            <a:r>
              <a:rPr lang="en-US" sz="800" dirty="0">
                <a:solidFill>
                  <a:srgbClr val="0F172A"/>
                </a:solidFill>
                <a:latin typeface="Carlito" pitchFamily="34" charset="0"/>
                <a:ea typeface="Carlito" pitchFamily="34" charset="-122"/>
                <a:cs typeface="Carlito" pitchFamily="34" charset="-120"/>
              </a:rPr>
              <a:t>Tidak memiliki metodologi jelas atau data tidak lengkap.</a:t>
            </a:r>
            <a:endParaRPr lang="en-US" sz="800" dirty="0"/>
          </a:p>
        </p:txBody>
      </p:sp>
      <p:sp>
        <p:nvSpPr>
          <p:cNvPr id="53" name="Text 51"/>
          <p:cNvSpPr/>
          <p:nvPr/>
        </p:nvSpPr>
        <p:spPr>
          <a:xfrm>
            <a:off x="4900613" y="3506688"/>
            <a:ext cx="128588" cy="128588"/>
          </a:xfrm>
          <a:prstGeom prst="rect">
            <a:avLst/>
          </a:prstGeom>
          <a:noFill/>
          <a:ln/>
        </p:spPr>
        <p:txBody>
          <a:bodyPr wrap="none" lIns="0" tIns="0" rIns="0" bIns="0" rtlCol="0" anchor="ctr"/>
          <a:lstStyle/>
          <a:p>
            <a:pPr algn="ctr" indent="0" marL="0">
              <a:buNone/>
            </a:pPr>
            <a:r>
              <a:rPr lang="en-US" sz="1266" dirty="0">
                <a:solidFill>
                  <a:srgbClr val="F97316"/>
                </a:solidFill>
                <a:latin typeface="Segoe UI Symbol" pitchFamily="34" charset="0"/>
                <a:ea typeface="Segoe UI Symbol" pitchFamily="34" charset="-122"/>
                <a:cs typeface="Segoe UI Symbol" pitchFamily="34" charset="-120"/>
              </a:rPr>
              <a:t>✕</a:t>
            </a:r>
            <a:endParaRPr lang="en-US" sz="1266" dirty="0"/>
          </a:p>
        </p:txBody>
      </p:sp>
      <p:sp>
        <p:nvSpPr>
          <p:cNvPr id="54" name="Text 52"/>
          <p:cNvSpPr/>
          <p:nvPr/>
        </p:nvSpPr>
        <p:spPr>
          <a:xfrm>
            <a:off x="5100638" y="3492401"/>
            <a:ext cx="3436144" cy="318162"/>
          </a:xfrm>
          <a:prstGeom prst="rect">
            <a:avLst/>
          </a:prstGeom>
          <a:noFill/>
          <a:ln/>
        </p:spPr>
        <p:txBody>
          <a:bodyPr wrap="square" lIns="0" tIns="0" rIns="0" bIns="0" rtlCol="0" anchor="t"/>
          <a:lstStyle/>
          <a:p>
            <a:pPr algn="l" indent="0" marL="0">
              <a:lnSpc>
                <a:spcPts val="1142"/>
              </a:lnSpc>
              <a:buNone/>
            </a:pPr>
            <a:r>
              <a:rPr lang="en-US" sz="800" dirty="0">
                <a:solidFill>
                  <a:srgbClr val="0F172A"/>
                </a:solidFill>
                <a:latin typeface="Carlito" pitchFamily="34" charset="0"/>
                <a:ea typeface="Carlito" pitchFamily="34" charset="-122"/>
                <a:cs typeface="Carlito" pitchFamily="34" charset="-120"/>
              </a:rPr>
              <a:t>Akses full-text tidak tersedia setelah upaya wajar (inter-library loan).</a:t>
            </a:r>
            <a:endParaRPr lang="en-US" sz="800" dirty="0"/>
          </a:p>
        </p:txBody>
      </p:sp>
      <p:sp>
        <p:nvSpPr>
          <p:cNvPr id="55" name="Text 53"/>
          <p:cNvSpPr/>
          <p:nvPr/>
        </p:nvSpPr>
        <p:spPr>
          <a:xfrm>
            <a:off x="0" y="4018136"/>
            <a:ext cx="8636000" cy="292608"/>
          </a:xfrm>
          <a:prstGeom prst="rect">
            <a:avLst/>
          </a:prstGeom>
          <a:noFill/>
          <a:ln/>
        </p:spPr>
        <p:txBody>
          <a:bodyPr wrap="square" lIns="400050" tIns="100013" rIns="400050" bIns="0" rtlCol="0" anchor="t"/>
          <a:lstStyle/>
          <a:p>
            <a:pPr algn="ctr" indent="0" marL="0">
              <a:lnSpc>
                <a:spcPts val="1013"/>
              </a:lnSpc>
              <a:buNone/>
            </a:pPr>
            <a:r>
              <a:rPr lang="en-US" sz="800" i="1" dirty="0">
                <a:solidFill>
                  <a:srgbClr val="64748B"/>
                </a:solidFill>
                <a:latin typeface="Carlito" pitchFamily="34" charset="0"/>
                <a:ea typeface="Carlito" pitchFamily="34" charset="-122"/>
                <a:cs typeface="Carlito" pitchFamily="34" charset="-120"/>
              </a:rPr>
              <a:t>Setiap alasan eksklusi pada tahap full-text harus dicatat dengan alasan spesifik (PRISMA 2020 item 17).</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F5F7F8"/>
          </a:solidFill>
          <a:ln/>
        </p:spPr>
        <p:txBody>
          <a:bodyPr wrap="square" rtlCol="0" anchor="ctr"/>
          <a:lstStyle/>
          <a:p>
            <a:pPr indent="0" marL="0">
              <a:buNone/>
            </a:pPr>
            <a:endParaRPr lang="en-US" dirty="0"/>
          </a:p>
        </p:txBody>
      </p:sp>
      <p:sp>
        <p:nvSpPr>
          <p:cNvPr id="3" name="Text 1"/>
          <p:cNvSpPr/>
          <p:nvPr/>
        </p:nvSpPr>
        <p:spPr>
          <a:xfrm>
            <a:off x="400050" y="171450"/>
            <a:ext cx="1727336" cy="185738"/>
          </a:xfrm>
          <a:prstGeom prst="roundRect">
            <a:avLst>
              <a:gd name="adj" fmla="val 5123063"/>
            </a:avLst>
          </a:prstGeom>
          <a:solidFill>
            <a:srgbClr val="E0ECEB"/>
          </a:solidFill>
          <a:ln/>
        </p:spPr>
        <p:txBody>
          <a:bodyPr wrap="square" rtlCol="0" anchor="ctr"/>
          <a:lstStyle/>
          <a:p>
            <a:pPr indent="0" marL="0">
              <a:buNone/>
            </a:pPr>
            <a:endParaRPr lang="en-US" dirty="0"/>
          </a:p>
        </p:txBody>
      </p:sp>
      <p:sp>
        <p:nvSpPr>
          <p:cNvPr id="4" name="Text 2"/>
          <p:cNvSpPr/>
          <p:nvPr/>
        </p:nvSpPr>
        <p:spPr>
          <a:xfrm>
            <a:off x="400050" y="171450"/>
            <a:ext cx="7908020" cy="237744"/>
          </a:xfrm>
          <a:prstGeom prst="rect">
            <a:avLst/>
          </a:prstGeom>
          <a:noFill/>
          <a:ln/>
        </p:spPr>
        <p:txBody>
          <a:bodyPr wrap="none" lIns="71438" tIns="28575" rIns="71438" bIns="28575" rtlCol="0" anchor="t"/>
          <a:lstStyle/>
          <a:p>
            <a:pPr algn="l" indent="0" marL="0">
              <a:lnSpc>
                <a:spcPts val="1013"/>
              </a:lnSpc>
              <a:buNone/>
            </a:pPr>
            <a:r>
              <a:rPr lang="en-US" sz="800" spc="27" kern="0" dirty="0">
                <a:solidFill>
                  <a:srgbClr val="134E4A"/>
                </a:solidFill>
                <a:latin typeface="Liberation Sans Narrow" pitchFamily="34" charset="0"/>
                <a:ea typeface="Liberation Sans Narrow" pitchFamily="34" charset="-122"/>
                <a:cs typeface="Liberation Sans Narrow" pitchFamily="34" charset="-120"/>
              </a:rPr>
              <a:t>BAB 02 · STRATEGI PENCARIAN</a:t>
            </a:r>
            <a:endParaRPr lang="en-US" sz="800" dirty="0"/>
          </a:p>
        </p:txBody>
      </p:sp>
      <p:sp>
        <p:nvSpPr>
          <p:cNvPr id="5" name="Text 3"/>
          <p:cNvSpPr/>
          <p:nvPr/>
        </p:nvSpPr>
        <p:spPr>
          <a:xfrm>
            <a:off x="8322357" y="189309"/>
            <a:ext cx="573366" cy="164592"/>
          </a:xfrm>
          <a:prstGeom prst="rect">
            <a:avLst/>
          </a:prstGeom>
          <a:noFill/>
          <a:ln/>
        </p:spPr>
        <p:txBody>
          <a:bodyPr wrap="none" lIns="0" tIns="0" rIns="0" bIns="0" rtlCol="0" anchor="t"/>
          <a:lstStyle/>
          <a:p>
            <a:pPr algn="l" indent="0" marL="0">
              <a:lnSpc>
                <a:spcPts val="1181"/>
              </a:lnSpc>
              <a:buNone/>
            </a:pPr>
            <a:r>
              <a:rPr lang="en-US" sz="800" dirty="0">
                <a:solidFill>
                  <a:srgbClr val="64748B"/>
                </a:solidFill>
                <a:latin typeface="Liberation Sans Narrow" pitchFamily="34" charset="0"/>
                <a:ea typeface="Liberation Sans Narrow" pitchFamily="34" charset="-122"/>
                <a:cs typeface="Liberation Sans Narrow" pitchFamily="34" charset="-120"/>
              </a:rPr>
              <a:t>09 / 18</a:t>
            </a:r>
            <a:endParaRPr lang="en-US" sz="800" dirty="0"/>
          </a:p>
        </p:txBody>
      </p:sp>
      <p:sp>
        <p:nvSpPr>
          <p:cNvPr id="6" name="Text 4"/>
          <p:cNvSpPr/>
          <p:nvPr/>
        </p:nvSpPr>
        <p:spPr>
          <a:xfrm>
            <a:off x="400050" y="400050"/>
            <a:ext cx="8636000" cy="277749"/>
          </a:xfrm>
          <a:prstGeom prst="rect">
            <a:avLst/>
          </a:prstGeom>
          <a:noFill/>
          <a:ln/>
        </p:spPr>
        <p:txBody>
          <a:bodyPr wrap="square" lIns="0" tIns="0" rIns="0" bIns="0" rtlCol="0" anchor="t"/>
          <a:lstStyle/>
          <a:p>
            <a:pPr algn="l" indent="0" marL="0">
              <a:lnSpc>
                <a:spcPts val="2025"/>
              </a:lnSpc>
              <a:buNone/>
            </a:pPr>
            <a:r>
              <a:rPr lang="en-US" sz="1688" spc="-17" kern="0" dirty="0">
                <a:solidFill>
                  <a:srgbClr val="134E4A"/>
                </a:solidFill>
                <a:latin typeface="Tinos" pitchFamily="34" charset="0"/>
                <a:ea typeface="Tinos" pitchFamily="34" charset="-122"/>
                <a:cs typeface="Tinos" pitchFamily="34" charset="-120"/>
              </a:rPr>
              <a:t>Strategi Pencarian Database</a:t>
            </a:r>
            <a:endParaRPr lang="en-US" sz="1688" dirty="0"/>
          </a:p>
        </p:txBody>
      </p:sp>
      <p:sp>
        <p:nvSpPr>
          <p:cNvPr id="7" name="Text 5"/>
          <p:cNvSpPr/>
          <p:nvPr/>
        </p:nvSpPr>
        <p:spPr>
          <a:xfrm>
            <a:off x="400050" y="714375"/>
            <a:ext cx="428625" cy="21431"/>
          </a:xfrm>
          <a:prstGeom prst="rect">
            <a:avLst/>
          </a:prstGeom>
          <a:solidFill>
            <a:srgbClr val="134E4A"/>
          </a:solidFill>
          <a:ln/>
        </p:spPr>
        <p:txBody>
          <a:bodyPr wrap="square" rtlCol="0" anchor="ctr"/>
          <a:lstStyle/>
          <a:p>
            <a:pPr indent="0" marL="0">
              <a:buNone/>
            </a:pPr>
            <a:endParaRPr lang="en-US" dirty="0"/>
          </a:p>
        </p:txBody>
      </p:sp>
      <p:sp>
        <p:nvSpPr>
          <p:cNvPr id="8" name="Text 6"/>
          <p:cNvSpPr/>
          <p:nvPr/>
        </p:nvSpPr>
        <p:spPr>
          <a:xfrm>
            <a:off x="400050" y="821531"/>
            <a:ext cx="7858125" cy="347186"/>
          </a:xfrm>
          <a:prstGeom prst="rect">
            <a:avLst/>
          </a:prstGeom>
          <a:noFill/>
          <a:ln/>
        </p:spPr>
        <p:txBody>
          <a:bodyPr wrap="square" lIns="0" tIns="0" rIns="0" bIns="0" rtlCol="0" anchor="t"/>
          <a:lstStyle/>
          <a:p>
            <a:pPr algn="l" indent="0" marL="0">
              <a:lnSpc>
                <a:spcPts val="1266"/>
              </a:lnSpc>
              <a:buNone/>
            </a:pPr>
            <a:r>
              <a:rPr lang="en-US" sz="844" dirty="0">
                <a:solidFill>
                  <a:srgbClr val="475569"/>
                </a:solidFill>
                <a:latin typeface="Carlito" pitchFamily="34" charset="0"/>
                <a:ea typeface="Carlito" pitchFamily="34" charset="-122"/>
                <a:cs typeface="Carlito" pitchFamily="34" charset="-120"/>
              </a:rPr>
              <a:t>Pendekatan single-database: </a:t>
            </a:r>
            <a:pPr algn="l" indent="0" marL="0">
              <a:lnSpc>
                <a:spcPts val="1266"/>
              </a:lnSpc>
              <a:buNone/>
            </a:pPr>
            <a:r>
              <a:rPr lang="en-US" sz="844" dirty="0">
                <a:solidFill>
                  <a:srgbClr val="134E4A"/>
                </a:solidFill>
                <a:latin typeface="Carlito" pitchFamily="34" charset="0"/>
                <a:ea typeface="Carlito" pitchFamily="34" charset="-122"/>
                <a:cs typeface="Carlito" pitchFamily="34" charset="-120"/>
              </a:rPr>
              <a:t>Scopus</a:t>
            </a:r>
            <a:pPr algn="l" indent="0" marL="0">
              <a:lnSpc>
                <a:spcPts val="1266"/>
              </a:lnSpc>
              <a:buNone/>
            </a:pPr>
            <a:r>
              <a:rPr lang="en-US" sz="844" dirty="0">
                <a:solidFill>
                  <a:srgbClr val="475569"/>
                </a:solidFill>
                <a:latin typeface="Carlito" pitchFamily="34" charset="0"/>
                <a:ea typeface="Carlito" pitchFamily="34" charset="-122"/>
                <a:cs typeface="Carlito" pitchFamily="34" charset="-120"/>
              </a:rPr>
              <a:t> sebagai sumber utama (n = 7.058 record awal), dikombinasikan dengan strategi kompensasi multi-source untuk meminimalkan publication bias.</a:t>
            </a:r>
            <a:endParaRPr lang="en-US" sz="844" dirty="0"/>
          </a:p>
        </p:txBody>
      </p:sp>
      <p:sp>
        <p:nvSpPr>
          <p:cNvPr id="9" name="Text 7"/>
          <p:cNvSpPr/>
          <p:nvPr/>
        </p:nvSpPr>
        <p:spPr>
          <a:xfrm>
            <a:off x="407194" y="1278731"/>
            <a:ext cx="1985963" cy="1672307"/>
          </a:xfrm>
          <a:prstGeom prst="roundRect">
            <a:avLst>
              <a:gd name="adj" fmla="val 6835"/>
            </a:avLst>
          </a:prstGeom>
          <a:solidFill>
            <a:srgbClr val="E0ECEB"/>
          </a:solidFill>
          <a:ln w="14288">
            <a:solidFill>
              <a:srgbClr val="F97316"/>
            </a:solidFill>
            <a:prstDash val="solid"/>
          </a:ln>
        </p:spPr>
        <p:txBody>
          <a:bodyPr wrap="square" rtlCol="0" anchor="ctr"/>
          <a:lstStyle/>
          <a:p>
            <a:pPr indent="0" marL="0">
              <a:buNone/>
            </a:pPr>
            <a:endParaRPr lang="en-US" dirty="0"/>
          </a:p>
        </p:txBody>
      </p:sp>
      <p:sp>
        <p:nvSpPr>
          <p:cNvPr id="10" name="Text 8"/>
          <p:cNvSpPr/>
          <p:nvPr/>
        </p:nvSpPr>
        <p:spPr>
          <a:xfrm>
            <a:off x="2100263" y="1414463"/>
            <a:ext cx="157163" cy="157163"/>
          </a:xfrm>
          <a:prstGeom prst="rect">
            <a:avLst/>
          </a:prstGeom>
          <a:noFill/>
          <a:ln/>
        </p:spPr>
        <p:txBody>
          <a:bodyPr wrap="none" lIns="0" tIns="0" rIns="0" bIns="0" rtlCol="0" anchor="ctr"/>
          <a:lstStyle/>
          <a:p>
            <a:pPr algn="ctr" indent="0" marL="0">
              <a:buNone/>
            </a:pPr>
            <a:r>
              <a:rPr lang="en-US" sz="1547" dirty="0">
                <a:solidFill>
                  <a:srgbClr val="F97316"/>
                </a:solidFill>
                <a:latin typeface="Segoe UI Symbol" pitchFamily="34" charset="0"/>
                <a:ea typeface="Segoe UI Symbol" pitchFamily="34" charset="-122"/>
                <a:cs typeface="Segoe UI Symbol" pitchFamily="34" charset="-120"/>
              </a:rPr>
              <a:t>▦</a:t>
            </a:r>
            <a:endParaRPr lang="en-US" sz="1547" dirty="0"/>
          </a:p>
        </p:txBody>
      </p:sp>
      <p:sp>
        <p:nvSpPr>
          <p:cNvPr id="11" name="Text 9"/>
          <p:cNvSpPr/>
          <p:nvPr/>
        </p:nvSpPr>
        <p:spPr>
          <a:xfrm>
            <a:off x="534353" y="1405461"/>
            <a:ext cx="979542" cy="168021"/>
          </a:xfrm>
          <a:prstGeom prst="roundRect">
            <a:avLst>
              <a:gd name="adj" fmla="val 5663265"/>
            </a:avLst>
          </a:prstGeom>
          <a:solidFill>
            <a:srgbClr val="F97316"/>
          </a:solidFill>
          <a:ln/>
        </p:spPr>
        <p:txBody>
          <a:bodyPr wrap="square" rtlCol="0" anchor="ctr"/>
          <a:lstStyle/>
          <a:p>
            <a:pPr indent="0" marL="0">
              <a:buNone/>
            </a:pPr>
            <a:endParaRPr lang="en-US" dirty="0"/>
          </a:p>
        </p:txBody>
      </p:sp>
      <p:sp>
        <p:nvSpPr>
          <p:cNvPr id="12" name="Text 10"/>
          <p:cNvSpPr/>
          <p:nvPr/>
        </p:nvSpPr>
        <p:spPr>
          <a:xfrm>
            <a:off x="557213" y="1414463"/>
            <a:ext cx="933822" cy="150019"/>
          </a:xfrm>
          <a:prstGeom prst="rect">
            <a:avLst/>
          </a:prstGeom>
          <a:noFill/>
          <a:ln/>
        </p:spPr>
        <p:txBody>
          <a:bodyPr wrap="none" lIns="0" tIns="0" rIns="0" bIns="0" rtlCol="0" anchor="ctr"/>
          <a:lstStyle/>
          <a:p>
            <a:pPr algn="ctr" indent="0" marL="0">
              <a:lnSpc>
                <a:spcPts val="844"/>
              </a:lnSpc>
              <a:buNone/>
            </a:pPr>
            <a:r>
              <a:rPr lang="en-US" sz="800" b="1" spc="45" kern="0" dirty="0">
                <a:solidFill>
                  <a:srgbClr val="FFFFFF"/>
                </a:solidFill>
                <a:latin typeface="Carlito" pitchFamily="34" charset="0"/>
                <a:ea typeface="Carlito" pitchFamily="34" charset="-122"/>
                <a:cs typeface="Carlito" pitchFamily="34" charset="-120"/>
              </a:rPr>
              <a:t>DATABASE UTAMA</a:t>
            </a:r>
            <a:endParaRPr lang="en-US" sz="800" dirty="0"/>
          </a:p>
        </p:txBody>
      </p:sp>
      <p:sp>
        <p:nvSpPr>
          <p:cNvPr id="13" name="Text 11"/>
          <p:cNvSpPr/>
          <p:nvPr/>
        </p:nvSpPr>
        <p:spPr>
          <a:xfrm>
            <a:off x="557213" y="1621631"/>
            <a:ext cx="1685925" cy="166601"/>
          </a:xfrm>
          <a:prstGeom prst="rect">
            <a:avLst/>
          </a:prstGeom>
          <a:noFill/>
          <a:ln/>
        </p:spPr>
        <p:txBody>
          <a:bodyPr wrap="none" lIns="0" tIns="0" rIns="257175" bIns="0" rtlCol="0" anchor="t"/>
          <a:lstStyle/>
          <a:p>
            <a:pPr algn="l" indent="0" marL="0">
              <a:lnSpc>
                <a:spcPts val="1215"/>
              </a:lnSpc>
              <a:buNone/>
            </a:pPr>
            <a:r>
              <a:rPr lang="en-US" sz="1013" dirty="0">
                <a:solidFill>
                  <a:srgbClr val="134E4A"/>
                </a:solidFill>
                <a:latin typeface="Tinos" pitchFamily="34" charset="0"/>
                <a:ea typeface="Tinos" pitchFamily="34" charset="-122"/>
                <a:cs typeface="Tinos" pitchFamily="34" charset="-120"/>
              </a:rPr>
              <a:t>Scopus</a:t>
            </a:r>
            <a:endParaRPr lang="en-US" sz="1013" dirty="0"/>
          </a:p>
        </p:txBody>
      </p:sp>
      <p:sp>
        <p:nvSpPr>
          <p:cNvPr id="14" name="Text 12"/>
          <p:cNvSpPr/>
          <p:nvPr/>
        </p:nvSpPr>
        <p:spPr>
          <a:xfrm>
            <a:off x="557213" y="1847329"/>
            <a:ext cx="1685925" cy="765524"/>
          </a:xfrm>
          <a:prstGeom prst="rect">
            <a:avLst/>
          </a:prstGeom>
          <a:noFill/>
          <a:ln/>
        </p:spPr>
        <p:txBody>
          <a:bodyPr wrap="square" lIns="0" tIns="0" rIns="0" bIns="0" rtlCol="0" anchor="t">
            <a:normAutofit/>
          </a:bodyPr>
          <a:lstStyle/>
          <a:p>
            <a:pPr algn="l" indent="0" marL="0">
              <a:lnSpc>
                <a:spcPts val="1097"/>
              </a:lnSpc>
              <a:buNone/>
            </a:pPr>
            <a:r>
              <a:rPr lang="en-US" sz="800" dirty="0">
                <a:solidFill>
                  <a:srgbClr val="0F172A"/>
                </a:solidFill>
                <a:latin typeface="Carlito" pitchFamily="34" charset="0"/>
                <a:ea typeface="Carlito" pitchFamily="34" charset="-122"/>
                <a:cs typeface="Carlito" pitchFamily="34" charset="-120"/>
              </a:rPr>
              <a:t>Elsevier — indeks 25.000+ jurnal peer-review, 5.500+ publisher. Cakupan terluas untuk sains, teknik, sosial, dan ekonomi.</a:t>
            </a:r>
            <a:endParaRPr lang="en-US" sz="800" dirty="0"/>
          </a:p>
        </p:txBody>
      </p:sp>
      <p:sp>
        <p:nvSpPr>
          <p:cNvPr id="15" name="Text 13"/>
          <p:cNvSpPr/>
          <p:nvPr/>
        </p:nvSpPr>
        <p:spPr>
          <a:xfrm>
            <a:off x="557213" y="2629784"/>
            <a:ext cx="849102" cy="196025"/>
          </a:xfrm>
          <a:prstGeom prst="roundRect">
            <a:avLst>
              <a:gd name="adj" fmla="val 4854215"/>
            </a:avLst>
          </a:prstGeom>
          <a:noFill/>
          <a:ln w="7144">
            <a:solidFill>
              <a:srgbClr val="4A8480"/>
            </a:solidFill>
            <a:prstDash val="solid"/>
          </a:ln>
        </p:spPr>
        <p:txBody>
          <a:bodyPr wrap="square" rtlCol="0" anchor="ctr"/>
          <a:lstStyle/>
          <a:p>
            <a:pPr indent="0" marL="0">
              <a:buNone/>
            </a:pPr>
            <a:endParaRPr lang="en-US" dirty="0"/>
          </a:p>
        </p:txBody>
      </p:sp>
      <p:sp>
        <p:nvSpPr>
          <p:cNvPr id="16" name="Text 14"/>
          <p:cNvSpPr/>
          <p:nvPr/>
        </p:nvSpPr>
        <p:spPr>
          <a:xfrm>
            <a:off x="557213" y="2640285"/>
            <a:ext cx="849102" cy="175022"/>
          </a:xfrm>
          <a:prstGeom prst="rect">
            <a:avLst/>
          </a:prstGeom>
          <a:noFill/>
          <a:ln/>
        </p:spPr>
        <p:txBody>
          <a:bodyPr wrap="none" lIns="0" tIns="0" rIns="0" bIns="0" rtlCol="0" anchor="ctr"/>
          <a:lstStyle/>
          <a:p>
            <a:pPr algn="ctr" indent="0" marL="0">
              <a:lnSpc>
                <a:spcPts val="928"/>
              </a:lnSpc>
              <a:buNone/>
            </a:pPr>
            <a:r>
              <a:rPr lang="en-US" sz="800" spc="37" kern="0" dirty="0">
                <a:solidFill>
                  <a:srgbClr val="134E4A"/>
                </a:solidFill>
                <a:latin typeface="Carlito" pitchFamily="34" charset="0"/>
                <a:ea typeface="Carlito" pitchFamily="34" charset="-122"/>
                <a:cs typeface="Carlito" pitchFamily="34" charset="-120"/>
              </a:rPr>
              <a:t>MULTIDISIPLIN</a:t>
            </a:r>
            <a:endParaRPr lang="en-US" sz="800" dirty="0"/>
          </a:p>
        </p:txBody>
      </p:sp>
      <p:sp>
        <p:nvSpPr>
          <p:cNvPr id="17" name="Text 15"/>
          <p:cNvSpPr/>
          <p:nvPr/>
        </p:nvSpPr>
        <p:spPr>
          <a:xfrm>
            <a:off x="1449177" y="2668860"/>
            <a:ext cx="793961" cy="146447"/>
          </a:xfrm>
          <a:prstGeom prst="rect">
            <a:avLst/>
          </a:prstGeom>
          <a:noFill/>
          <a:ln/>
        </p:spPr>
        <p:txBody>
          <a:bodyPr wrap="none" lIns="0" tIns="0" rIns="0" bIns="0" rtlCol="0" anchor="t"/>
          <a:lstStyle/>
          <a:p>
            <a:pPr algn="l" indent="0" marL="0">
              <a:lnSpc>
                <a:spcPts val="928"/>
              </a:lnSpc>
              <a:buNone/>
            </a:pPr>
            <a:r>
              <a:rPr lang="en-US" sz="800" dirty="0">
                <a:solidFill>
                  <a:srgbClr val="134E4A"/>
                </a:solidFill>
                <a:latin typeface="Liberation Sans Narrow" pitchFamily="34" charset="0"/>
                <a:ea typeface="Liberation Sans Narrow" pitchFamily="34" charset="-122"/>
                <a:cs typeface="Liberation Sans Narrow" pitchFamily="34" charset="-120"/>
              </a:rPr>
              <a:t>n = 7.058</a:t>
            </a:r>
            <a:endParaRPr lang="en-US" sz="800" dirty="0"/>
          </a:p>
        </p:txBody>
      </p:sp>
      <p:sp>
        <p:nvSpPr>
          <p:cNvPr id="18" name="Text 16"/>
          <p:cNvSpPr/>
          <p:nvPr/>
        </p:nvSpPr>
        <p:spPr>
          <a:xfrm>
            <a:off x="2518172" y="1275159"/>
            <a:ext cx="1993106" cy="1679451"/>
          </a:xfrm>
          <a:prstGeom prst="roundRect">
            <a:avLst>
              <a:gd name="adj" fmla="val 6806"/>
            </a:avLst>
          </a:prstGeom>
          <a:solidFill>
            <a:srgbClr val="FFFFFF"/>
          </a:solidFill>
          <a:ln w="7144">
            <a:solidFill>
              <a:srgbClr val="D8DEE2"/>
            </a:solidFill>
            <a:prstDash val="solid"/>
          </a:ln>
        </p:spPr>
        <p:txBody>
          <a:bodyPr wrap="square" rtlCol="0" anchor="ctr"/>
          <a:lstStyle/>
          <a:p>
            <a:pPr indent="0" marL="0">
              <a:buNone/>
            </a:pPr>
            <a:endParaRPr lang="en-US" dirty="0"/>
          </a:p>
        </p:txBody>
      </p:sp>
      <p:sp>
        <p:nvSpPr>
          <p:cNvPr id="19" name="Text 17"/>
          <p:cNvSpPr/>
          <p:nvPr/>
        </p:nvSpPr>
        <p:spPr>
          <a:xfrm>
            <a:off x="4221956" y="1407319"/>
            <a:ext cx="157163" cy="157163"/>
          </a:xfrm>
          <a:prstGeom prst="rect">
            <a:avLst/>
          </a:prstGeom>
          <a:noFill/>
          <a:ln/>
        </p:spPr>
        <p:txBody>
          <a:bodyPr wrap="none" lIns="0" tIns="0" rIns="0" bIns="0" rtlCol="0" anchor="ctr"/>
          <a:lstStyle/>
          <a:p>
            <a:pPr algn="ctr" indent="0" marL="0">
              <a:buNone/>
            </a:pPr>
            <a:r>
              <a:rPr lang="en-US" sz="1547" dirty="0">
                <a:solidFill>
                  <a:srgbClr val="4A8480"/>
                </a:solidFill>
                <a:latin typeface="Segoe UI Symbol" pitchFamily="34" charset="0"/>
                <a:ea typeface="Segoe UI Symbol" pitchFamily="34" charset="-122"/>
                <a:cs typeface="Segoe UI Symbol" pitchFamily="34" charset="-120"/>
              </a:rPr>
              <a:t>▤</a:t>
            </a:r>
            <a:endParaRPr lang="en-US" sz="1547" dirty="0"/>
          </a:p>
        </p:txBody>
      </p:sp>
      <p:sp>
        <p:nvSpPr>
          <p:cNvPr id="20" name="Text 18"/>
          <p:cNvSpPr/>
          <p:nvPr/>
        </p:nvSpPr>
        <p:spPr>
          <a:xfrm>
            <a:off x="2641759" y="1396817"/>
            <a:ext cx="1745933" cy="196025"/>
          </a:xfrm>
          <a:prstGeom prst="roundRect">
            <a:avLst>
              <a:gd name="adj" fmla="val 4854215"/>
            </a:avLst>
          </a:prstGeom>
          <a:solidFill>
            <a:srgbClr val="E0ECEB"/>
          </a:solidFill>
          <a:ln w="7144">
            <a:solidFill>
              <a:srgbClr val="FFFFFF"/>
            </a:solidFill>
            <a:prstDash val="solid"/>
          </a:ln>
        </p:spPr>
        <p:txBody>
          <a:bodyPr wrap="square" rtlCol="0" anchor="ctr"/>
          <a:lstStyle/>
          <a:p>
            <a:pPr indent="0" marL="0">
              <a:buNone/>
            </a:pPr>
            <a:endParaRPr lang="en-US" dirty="0"/>
          </a:p>
        </p:txBody>
      </p:sp>
      <p:sp>
        <p:nvSpPr>
          <p:cNvPr id="21" name="Text 19"/>
          <p:cNvSpPr/>
          <p:nvPr/>
        </p:nvSpPr>
        <p:spPr>
          <a:xfrm>
            <a:off x="2664619" y="1407319"/>
            <a:ext cx="1700213" cy="175022"/>
          </a:xfrm>
          <a:prstGeom prst="rect">
            <a:avLst/>
          </a:prstGeom>
          <a:noFill/>
          <a:ln/>
        </p:spPr>
        <p:txBody>
          <a:bodyPr wrap="none" lIns="0" tIns="0" rIns="0" bIns="0" rtlCol="0" anchor="ctr"/>
          <a:lstStyle/>
          <a:p>
            <a:pPr algn="ctr" indent="0" marL="0">
              <a:lnSpc>
                <a:spcPts val="928"/>
              </a:lnSpc>
              <a:buNone/>
            </a:pPr>
            <a:r>
              <a:rPr lang="en-US" sz="800" spc="37" kern="0" dirty="0">
                <a:solidFill>
                  <a:srgbClr val="134E4A"/>
                </a:solidFill>
                <a:latin typeface="Liberation Sans Narrow" pitchFamily="34" charset="0"/>
                <a:ea typeface="Liberation Sans Narrow" pitchFamily="34" charset="-122"/>
                <a:cs typeface="Liberation Sans Narrow" pitchFamily="34" charset="-120"/>
              </a:rPr>
              <a:t>KOMPENSASI 01</a:t>
            </a:r>
            <a:endParaRPr lang="en-US" sz="800" dirty="0"/>
          </a:p>
        </p:txBody>
      </p:sp>
      <p:sp>
        <p:nvSpPr>
          <p:cNvPr id="22" name="Text 20"/>
          <p:cNvSpPr/>
          <p:nvPr/>
        </p:nvSpPr>
        <p:spPr>
          <a:xfrm>
            <a:off x="2664619" y="1639491"/>
            <a:ext cx="1700213" cy="166601"/>
          </a:xfrm>
          <a:prstGeom prst="rect">
            <a:avLst/>
          </a:prstGeom>
          <a:noFill/>
          <a:ln/>
        </p:spPr>
        <p:txBody>
          <a:bodyPr wrap="none" lIns="0" tIns="0" rIns="257175" bIns="0" rtlCol="0" anchor="t"/>
          <a:lstStyle/>
          <a:p>
            <a:pPr algn="l" indent="0" marL="0">
              <a:lnSpc>
                <a:spcPts val="1215"/>
              </a:lnSpc>
              <a:buNone/>
            </a:pPr>
            <a:r>
              <a:rPr lang="en-US" sz="1013" dirty="0">
                <a:solidFill>
                  <a:srgbClr val="134E4A"/>
                </a:solidFill>
                <a:latin typeface="Tinos" pitchFamily="34" charset="0"/>
                <a:ea typeface="Tinos" pitchFamily="34" charset="-122"/>
                <a:cs typeface="Tinos" pitchFamily="34" charset="-120"/>
              </a:rPr>
              <a:t>Hand-Search</a:t>
            </a:r>
            <a:endParaRPr lang="en-US" sz="1013" dirty="0"/>
          </a:p>
        </p:txBody>
      </p:sp>
      <p:sp>
        <p:nvSpPr>
          <p:cNvPr id="23" name="Text 21"/>
          <p:cNvSpPr/>
          <p:nvPr/>
        </p:nvSpPr>
        <p:spPr>
          <a:xfrm>
            <a:off x="2664619" y="1865188"/>
            <a:ext cx="1700213" cy="740521"/>
          </a:xfrm>
          <a:prstGeom prst="rect">
            <a:avLst/>
          </a:prstGeom>
          <a:noFill/>
          <a:ln/>
        </p:spPr>
        <p:txBody>
          <a:bodyPr wrap="square" lIns="0" tIns="0" rIns="0" bIns="0" rtlCol="0" anchor="t">
            <a:normAutofit/>
          </a:bodyPr>
          <a:lstStyle/>
          <a:p>
            <a:pPr algn="l" indent="0" marL="0">
              <a:lnSpc>
                <a:spcPts val="1097"/>
              </a:lnSpc>
              <a:buNone/>
            </a:pPr>
            <a:r>
              <a:rPr lang="en-US" sz="800" dirty="0">
                <a:solidFill>
                  <a:srgbClr val="0F172A"/>
                </a:solidFill>
                <a:latin typeface="Carlito" pitchFamily="34" charset="0"/>
                <a:ea typeface="Carlito" pitchFamily="34" charset="-122"/>
                <a:cs typeface="Carlito" pitchFamily="34" charset="-120"/>
              </a:rPr>
              <a:t>Browse Table of Contents minimal 3 jurnal kunci 5 tahun terakhir. Menjangkau studi early-access yang belum terindeks Scopus.</a:t>
            </a:r>
            <a:endParaRPr lang="en-US" sz="800" dirty="0"/>
          </a:p>
        </p:txBody>
      </p:sp>
      <p:sp>
        <p:nvSpPr>
          <p:cNvPr id="24" name="Text 22"/>
          <p:cNvSpPr/>
          <p:nvPr/>
        </p:nvSpPr>
        <p:spPr>
          <a:xfrm>
            <a:off x="2641759" y="2636928"/>
            <a:ext cx="709196" cy="196025"/>
          </a:xfrm>
          <a:prstGeom prst="roundRect">
            <a:avLst>
              <a:gd name="adj" fmla="val 4854215"/>
            </a:avLst>
          </a:prstGeom>
          <a:noFill/>
          <a:ln w="7144">
            <a:solidFill>
              <a:srgbClr val="4A8480"/>
            </a:solidFill>
            <a:prstDash val="solid"/>
          </a:ln>
        </p:spPr>
        <p:txBody>
          <a:bodyPr wrap="square" rtlCol="0" anchor="ctr"/>
          <a:lstStyle/>
          <a:p>
            <a:pPr indent="0" marL="0">
              <a:buNone/>
            </a:pPr>
            <a:endParaRPr lang="en-US" dirty="0"/>
          </a:p>
        </p:txBody>
      </p:sp>
      <p:sp>
        <p:nvSpPr>
          <p:cNvPr id="25" name="Text 23"/>
          <p:cNvSpPr/>
          <p:nvPr/>
        </p:nvSpPr>
        <p:spPr>
          <a:xfrm>
            <a:off x="2664619" y="2647429"/>
            <a:ext cx="663476" cy="175022"/>
          </a:xfrm>
          <a:prstGeom prst="rect">
            <a:avLst/>
          </a:prstGeom>
          <a:noFill/>
          <a:ln/>
        </p:spPr>
        <p:txBody>
          <a:bodyPr wrap="none" lIns="0" tIns="0" rIns="0" bIns="0" rtlCol="0" anchor="ctr"/>
          <a:lstStyle/>
          <a:p>
            <a:pPr algn="ctr" indent="0" marL="0">
              <a:lnSpc>
                <a:spcPts val="928"/>
              </a:lnSpc>
              <a:buNone/>
            </a:pPr>
            <a:r>
              <a:rPr lang="en-US" sz="800" spc="37" kern="0" dirty="0">
                <a:solidFill>
                  <a:srgbClr val="134E4A"/>
                </a:solidFill>
                <a:latin typeface="Liberation Sans Narrow" pitchFamily="34" charset="0"/>
                <a:ea typeface="Liberation Sans Narrow" pitchFamily="34" charset="-122"/>
                <a:cs typeface="Liberation Sans Narrow" pitchFamily="34" charset="-120"/>
              </a:rPr>
              <a:t>3+ JURNAL</a:t>
            </a:r>
            <a:endParaRPr lang="en-US" sz="800" dirty="0"/>
          </a:p>
        </p:txBody>
      </p:sp>
      <p:sp>
        <p:nvSpPr>
          <p:cNvPr id="26" name="Text 24"/>
          <p:cNvSpPr/>
          <p:nvPr/>
        </p:nvSpPr>
        <p:spPr>
          <a:xfrm>
            <a:off x="4632722" y="1275159"/>
            <a:ext cx="1993106" cy="1679451"/>
          </a:xfrm>
          <a:prstGeom prst="roundRect">
            <a:avLst>
              <a:gd name="adj" fmla="val 6806"/>
            </a:avLst>
          </a:prstGeom>
          <a:solidFill>
            <a:srgbClr val="FFFFFF"/>
          </a:solidFill>
          <a:ln w="7144">
            <a:solidFill>
              <a:srgbClr val="D8DEE2"/>
            </a:solidFill>
            <a:prstDash val="solid"/>
          </a:ln>
        </p:spPr>
        <p:txBody>
          <a:bodyPr wrap="square" rtlCol="0" anchor="ctr"/>
          <a:lstStyle/>
          <a:p>
            <a:pPr indent="0" marL="0">
              <a:buNone/>
            </a:pPr>
            <a:endParaRPr lang="en-US" dirty="0"/>
          </a:p>
        </p:txBody>
      </p:sp>
      <p:sp>
        <p:nvSpPr>
          <p:cNvPr id="27" name="Text 25"/>
          <p:cNvSpPr/>
          <p:nvPr/>
        </p:nvSpPr>
        <p:spPr>
          <a:xfrm>
            <a:off x="6336506" y="1407319"/>
            <a:ext cx="157163" cy="157163"/>
          </a:xfrm>
          <a:prstGeom prst="rect">
            <a:avLst/>
          </a:prstGeom>
          <a:noFill/>
          <a:ln/>
        </p:spPr>
        <p:txBody>
          <a:bodyPr wrap="none" lIns="0" tIns="0" rIns="0" bIns="0" rtlCol="0" anchor="ctr"/>
          <a:lstStyle/>
          <a:p>
            <a:pPr algn="ctr" indent="0" marL="0">
              <a:buNone/>
            </a:pPr>
            <a:r>
              <a:rPr lang="en-US" sz="1547" dirty="0">
                <a:solidFill>
                  <a:srgbClr val="4A8480"/>
                </a:solidFill>
                <a:latin typeface="Segoe UI Symbol" pitchFamily="34" charset="0"/>
                <a:ea typeface="Segoe UI Symbol" pitchFamily="34" charset="-122"/>
                <a:cs typeface="Segoe UI Symbol" pitchFamily="34" charset="-120"/>
              </a:rPr>
              <a:t>✿</a:t>
            </a:r>
            <a:endParaRPr lang="en-US" sz="1547" dirty="0"/>
          </a:p>
        </p:txBody>
      </p:sp>
      <p:sp>
        <p:nvSpPr>
          <p:cNvPr id="28" name="Text 26"/>
          <p:cNvSpPr/>
          <p:nvPr/>
        </p:nvSpPr>
        <p:spPr>
          <a:xfrm>
            <a:off x="4756309" y="1396817"/>
            <a:ext cx="1745933" cy="196025"/>
          </a:xfrm>
          <a:prstGeom prst="roundRect">
            <a:avLst>
              <a:gd name="adj" fmla="val 4854215"/>
            </a:avLst>
          </a:prstGeom>
          <a:solidFill>
            <a:srgbClr val="E0ECEB"/>
          </a:solidFill>
          <a:ln w="7144">
            <a:solidFill>
              <a:srgbClr val="FFFFFF"/>
            </a:solidFill>
            <a:prstDash val="solid"/>
          </a:ln>
        </p:spPr>
        <p:txBody>
          <a:bodyPr wrap="square" rtlCol="0" anchor="ctr"/>
          <a:lstStyle/>
          <a:p>
            <a:pPr indent="0" marL="0">
              <a:buNone/>
            </a:pPr>
            <a:endParaRPr lang="en-US" dirty="0"/>
          </a:p>
        </p:txBody>
      </p:sp>
      <p:sp>
        <p:nvSpPr>
          <p:cNvPr id="29" name="Text 27"/>
          <p:cNvSpPr/>
          <p:nvPr/>
        </p:nvSpPr>
        <p:spPr>
          <a:xfrm>
            <a:off x="4779169" y="1407319"/>
            <a:ext cx="1700213" cy="175022"/>
          </a:xfrm>
          <a:prstGeom prst="rect">
            <a:avLst/>
          </a:prstGeom>
          <a:noFill/>
          <a:ln/>
        </p:spPr>
        <p:txBody>
          <a:bodyPr wrap="none" lIns="0" tIns="0" rIns="0" bIns="0" rtlCol="0" anchor="ctr"/>
          <a:lstStyle/>
          <a:p>
            <a:pPr algn="ctr" indent="0" marL="0">
              <a:lnSpc>
                <a:spcPts val="928"/>
              </a:lnSpc>
              <a:buNone/>
            </a:pPr>
            <a:r>
              <a:rPr lang="en-US" sz="800" spc="37" kern="0" dirty="0">
                <a:solidFill>
                  <a:srgbClr val="134E4A"/>
                </a:solidFill>
                <a:latin typeface="Liberation Sans Narrow" pitchFamily="34" charset="0"/>
                <a:ea typeface="Liberation Sans Narrow" pitchFamily="34" charset="-122"/>
                <a:cs typeface="Liberation Sans Narrow" pitchFamily="34" charset="-120"/>
              </a:rPr>
              <a:t>KOMPENSASI 02</a:t>
            </a:r>
            <a:endParaRPr lang="en-US" sz="800" dirty="0"/>
          </a:p>
        </p:txBody>
      </p:sp>
      <p:sp>
        <p:nvSpPr>
          <p:cNvPr id="30" name="Text 28"/>
          <p:cNvSpPr/>
          <p:nvPr/>
        </p:nvSpPr>
        <p:spPr>
          <a:xfrm>
            <a:off x="4779169" y="1639491"/>
            <a:ext cx="1700213" cy="166601"/>
          </a:xfrm>
          <a:prstGeom prst="rect">
            <a:avLst/>
          </a:prstGeom>
          <a:noFill/>
          <a:ln/>
        </p:spPr>
        <p:txBody>
          <a:bodyPr wrap="none" lIns="0" tIns="0" rIns="257175" bIns="0" rtlCol="0" anchor="t"/>
          <a:lstStyle/>
          <a:p>
            <a:pPr algn="l" indent="0" marL="0">
              <a:lnSpc>
                <a:spcPts val="1215"/>
              </a:lnSpc>
              <a:buNone/>
            </a:pPr>
            <a:r>
              <a:rPr lang="en-US" sz="1013" dirty="0">
                <a:solidFill>
                  <a:srgbClr val="134E4A"/>
                </a:solidFill>
                <a:latin typeface="Tinos" pitchFamily="34" charset="0"/>
                <a:ea typeface="Tinos" pitchFamily="34" charset="-122"/>
                <a:cs typeface="Tinos" pitchFamily="34" charset="-120"/>
              </a:rPr>
              <a:t>Snowballing</a:t>
            </a:r>
            <a:endParaRPr lang="en-US" sz="1013" dirty="0"/>
          </a:p>
        </p:txBody>
      </p:sp>
      <p:sp>
        <p:nvSpPr>
          <p:cNvPr id="31" name="Text 29"/>
          <p:cNvSpPr/>
          <p:nvPr/>
        </p:nvSpPr>
        <p:spPr>
          <a:xfrm>
            <a:off x="4779169" y="1865188"/>
            <a:ext cx="1700213" cy="740521"/>
          </a:xfrm>
          <a:prstGeom prst="rect">
            <a:avLst/>
          </a:prstGeom>
          <a:noFill/>
          <a:ln/>
        </p:spPr>
        <p:txBody>
          <a:bodyPr wrap="square" lIns="0" tIns="0" rIns="0" bIns="0" rtlCol="0" anchor="t">
            <a:normAutofit/>
          </a:bodyPr>
          <a:lstStyle/>
          <a:p>
            <a:pPr algn="l" indent="0" marL="0">
              <a:lnSpc>
                <a:spcPts val="1097"/>
              </a:lnSpc>
              <a:buNone/>
            </a:pPr>
            <a:r>
              <a:rPr lang="en-US" sz="800" dirty="0">
                <a:solidFill>
                  <a:srgbClr val="0F172A"/>
                </a:solidFill>
                <a:latin typeface="Carlito" pitchFamily="34" charset="0"/>
                <a:ea typeface="Carlito" pitchFamily="34" charset="-122"/>
                <a:cs typeface="Carlito" pitchFamily="34" charset="-120"/>
              </a:rPr>
              <a:t>Telusuri sitasi maju (citing) &amp; mundur (referenced) dari studi yang lolos eligibility — menemukan studi di luar jangkauan kata kunci.</a:t>
            </a:r>
            <a:endParaRPr lang="en-US" sz="800" dirty="0"/>
          </a:p>
        </p:txBody>
      </p:sp>
      <p:sp>
        <p:nvSpPr>
          <p:cNvPr id="32" name="Text 30"/>
          <p:cNvSpPr/>
          <p:nvPr/>
        </p:nvSpPr>
        <p:spPr>
          <a:xfrm>
            <a:off x="4756309" y="2636928"/>
            <a:ext cx="1353696" cy="196025"/>
          </a:xfrm>
          <a:prstGeom prst="roundRect">
            <a:avLst>
              <a:gd name="adj" fmla="val 4854215"/>
            </a:avLst>
          </a:prstGeom>
          <a:noFill/>
          <a:ln w="7144">
            <a:solidFill>
              <a:srgbClr val="4A8480"/>
            </a:solidFill>
            <a:prstDash val="solid"/>
          </a:ln>
        </p:spPr>
        <p:txBody>
          <a:bodyPr wrap="square" rtlCol="0" anchor="ctr"/>
          <a:lstStyle/>
          <a:p>
            <a:pPr indent="0" marL="0">
              <a:buNone/>
            </a:pPr>
            <a:endParaRPr lang="en-US" dirty="0"/>
          </a:p>
        </p:txBody>
      </p:sp>
      <p:sp>
        <p:nvSpPr>
          <p:cNvPr id="33" name="Text 31"/>
          <p:cNvSpPr/>
          <p:nvPr/>
        </p:nvSpPr>
        <p:spPr>
          <a:xfrm>
            <a:off x="4779169" y="2647429"/>
            <a:ext cx="1307976" cy="175022"/>
          </a:xfrm>
          <a:prstGeom prst="rect">
            <a:avLst/>
          </a:prstGeom>
          <a:noFill/>
          <a:ln/>
        </p:spPr>
        <p:txBody>
          <a:bodyPr wrap="none" lIns="0" tIns="0" rIns="0" bIns="0" rtlCol="0" anchor="ctr"/>
          <a:lstStyle/>
          <a:p>
            <a:pPr algn="ctr" indent="0" marL="0">
              <a:lnSpc>
                <a:spcPts val="928"/>
              </a:lnSpc>
              <a:buNone/>
            </a:pPr>
            <a:r>
              <a:rPr lang="en-US" sz="800" spc="37" kern="0" dirty="0">
                <a:solidFill>
                  <a:srgbClr val="134E4A"/>
                </a:solidFill>
                <a:latin typeface="Carlito" pitchFamily="34" charset="0"/>
                <a:ea typeface="Carlito" pitchFamily="34" charset="-122"/>
                <a:cs typeface="Carlito" pitchFamily="34" charset="-120"/>
              </a:rPr>
              <a:t>FORWARD + BACKWARD</a:t>
            </a:r>
            <a:endParaRPr lang="en-US" sz="800" dirty="0"/>
          </a:p>
        </p:txBody>
      </p:sp>
      <p:sp>
        <p:nvSpPr>
          <p:cNvPr id="34" name="Text 32"/>
          <p:cNvSpPr/>
          <p:nvPr/>
        </p:nvSpPr>
        <p:spPr>
          <a:xfrm>
            <a:off x="6747272" y="1275159"/>
            <a:ext cx="1993106" cy="1679451"/>
          </a:xfrm>
          <a:prstGeom prst="roundRect">
            <a:avLst>
              <a:gd name="adj" fmla="val 6806"/>
            </a:avLst>
          </a:prstGeom>
          <a:solidFill>
            <a:srgbClr val="FFFFFF"/>
          </a:solidFill>
          <a:ln w="7144">
            <a:solidFill>
              <a:srgbClr val="D8DEE2"/>
            </a:solidFill>
            <a:prstDash val="solid"/>
          </a:ln>
        </p:spPr>
        <p:txBody>
          <a:bodyPr wrap="square" rtlCol="0" anchor="ctr"/>
          <a:lstStyle/>
          <a:p>
            <a:pPr indent="0" marL="0">
              <a:buNone/>
            </a:pPr>
            <a:endParaRPr lang="en-US" dirty="0"/>
          </a:p>
        </p:txBody>
      </p:sp>
      <p:sp>
        <p:nvSpPr>
          <p:cNvPr id="35" name="Text 33"/>
          <p:cNvSpPr/>
          <p:nvPr/>
        </p:nvSpPr>
        <p:spPr>
          <a:xfrm>
            <a:off x="8451056" y="1407319"/>
            <a:ext cx="157163" cy="157163"/>
          </a:xfrm>
          <a:prstGeom prst="rect">
            <a:avLst/>
          </a:prstGeom>
          <a:noFill/>
          <a:ln/>
        </p:spPr>
        <p:txBody>
          <a:bodyPr wrap="none" lIns="0" tIns="0" rIns="0" bIns="0" rtlCol="0" anchor="ctr"/>
          <a:lstStyle/>
          <a:p>
            <a:pPr algn="ctr" indent="0" marL="0">
              <a:buNone/>
            </a:pPr>
            <a:r>
              <a:rPr lang="en-US" sz="1547" dirty="0">
                <a:solidFill>
                  <a:srgbClr val="4A8480"/>
                </a:solidFill>
                <a:latin typeface="Segoe UI Symbol" pitchFamily="34" charset="0"/>
                <a:ea typeface="Segoe UI Symbol" pitchFamily="34" charset="-122"/>
                <a:cs typeface="Segoe UI Symbol" pitchFamily="34" charset="-120"/>
              </a:rPr>
              <a:t>⌕</a:t>
            </a:r>
            <a:endParaRPr lang="en-US" sz="1547" dirty="0"/>
          </a:p>
        </p:txBody>
      </p:sp>
      <p:sp>
        <p:nvSpPr>
          <p:cNvPr id="36" name="Text 34"/>
          <p:cNvSpPr/>
          <p:nvPr/>
        </p:nvSpPr>
        <p:spPr>
          <a:xfrm>
            <a:off x="6870859" y="1396817"/>
            <a:ext cx="1745933" cy="196025"/>
          </a:xfrm>
          <a:prstGeom prst="roundRect">
            <a:avLst>
              <a:gd name="adj" fmla="val 4854215"/>
            </a:avLst>
          </a:prstGeom>
          <a:solidFill>
            <a:srgbClr val="E0ECEB"/>
          </a:solidFill>
          <a:ln w="7144">
            <a:solidFill>
              <a:srgbClr val="FFFFFF"/>
            </a:solidFill>
            <a:prstDash val="solid"/>
          </a:ln>
        </p:spPr>
        <p:txBody>
          <a:bodyPr wrap="square" rtlCol="0" anchor="ctr"/>
          <a:lstStyle/>
          <a:p>
            <a:pPr indent="0" marL="0">
              <a:buNone/>
            </a:pPr>
            <a:endParaRPr lang="en-US" dirty="0"/>
          </a:p>
        </p:txBody>
      </p:sp>
      <p:sp>
        <p:nvSpPr>
          <p:cNvPr id="37" name="Text 35"/>
          <p:cNvSpPr/>
          <p:nvPr/>
        </p:nvSpPr>
        <p:spPr>
          <a:xfrm>
            <a:off x="6893719" y="1407319"/>
            <a:ext cx="1700213" cy="175022"/>
          </a:xfrm>
          <a:prstGeom prst="rect">
            <a:avLst/>
          </a:prstGeom>
          <a:noFill/>
          <a:ln/>
        </p:spPr>
        <p:txBody>
          <a:bodyPr wrap="none" lIns="0" tIns="0" rIns="0" bIns="0" rtlCol="0" anchor="ctr"/>
          <a:lstStyle/>
          <a:p>
            <a:pPr algn="ctr" indent="0" marL="0">
              <a:lnSpc>
                <a:spcPts val="928"/>
              </a:lnSpc>
              <a:buNone/>
            </a:pPr>
            <a:r>
              <a:rPr lang="en-US" sz="800" spc="37" kern="0" dirty="0">
                <a:solidFill>
                  <a:srgbClr val="134E4A"/>
                </a:solidFill>
                <a:latin typeface="Liberation Sans Narrow" pitchFamily="34" charset="0"/>
                <a:ea typeface="Liberation Sans Narrow" pitchFamily="34" charset="-122"/>
                <a:cs typeface="Liberation Sans Narrow" pitchFamily="34" charset="-120"/>
              </a:rPr>
              <a:t>KOMPENSASI 03</a:t>
            </a:r>
            <a:endParaRPr lang="en-US" sz="800" dirty="0"/>
          </a:p>
        </p:txBody>
      </p:sp>
      <p:sp>
        <p:nvSpPr>
          <p:cNvPr id="38" name="Text 36"/>
          <p:cNvSpPr/>
          <p:nvPr/>
        </p:nvSpPr>
        <p:spPr>
          <a:xfrm>
            <a:off x="6893719" y="1639491"/>
            <a:ext cx="1700213" cy="166601"/>
          </a:xfrm>
          <a:prstGeom prst="rect">
            <a:avLst/>
          </a:prstGeom>
          <a:noFill/>
          <a:ln/>
        </p:spPr>
        <p:txBody>
          <a:bodyPr wrap="none" lIns="0" tIns="0" rIns="257175" bIns="0" rtlCol="0" anchor="t"/>
          <a:lstStyle/>
          <a:p>
            <a:pPr algn="l" indent="0" marL="0">
              <a:lnSpc>
                <a:spcPts val="1215"/>
              </a:lnSpc>
              <a:buNone/>
            </a:pPr>
            <a:r>
              <a:rPr lang="en-US" sz="1013" dirty="0">
                <a:solidFill>
                  <a:srgbClr val="134E4A"/>
                </a:solidFill>
                <a:latin typeface="Tinos" pitchFamily="34" charset="0"/>
                <a:ea typeface="Tinos" pitchFamily="34" charset="-122"/>
                <a:cs typeface="Tinos" pitchFamily="34" charset="-120"/>
              </a:rPr>
              <a:t>Grey Literature</a:t>
            </a:r>
            <a:endParaRPr lang="en-US" sz="1013" dirty="0"/>
          </a:p>
        </p:txBody>
      </p:sp>
      <p:sp>
        <p:nvSpPr>
          <p:cNvPr id="39" name="Text 37"/>
          <p:cNvSpPr/>
          <p:nvPr/>
        </p:nvSpPr>
        <p:spPr>
          <a:xfrm>
            <a:off x="6893719" y="1865188"/>
            <a:ext cx="1700213" cy="740521"/>
          </a:xfrm>
          <a:prstGeom prst="rect">
            <a:avLst/>
          </a:prstGeom>
          <a:noFill/>
          <a:ln/>
        </p:spPr>
        <p:txBody>
          <a:bodyPr wrap="square" lIns="0" tIns="0" rIns="0" bIns="0" rtlCol="0" anchor="t">
            <a:normAutofit/>
          </a:bodyPr>
          <a:lstStyle/>
          <a:p>
            <a:pPr algn="l" indent="0" marL="0">
              <a:lnSpc>
                <a:spcPts val="1097"/>
              </a:lnSpc>
              <a:buNone/>
            </a:pPr>
            <a:r>
              <a:rPr lang="en-US" sz="800" dirty="0">
                <a:solidFill>
                  <a:srgbClr val="0F172A"/>
                </a:solidFill>
                <a:latin typeface="Carlito" pitchFamily="34" charset="0"/>
                <a:ea typeface="Carlito" pitchFamily="34" charset="-122"/>
                <a:cs typeface="Carlito" pitchFamily="34" charset="-120"/>
              </a:rPr>
              <a:t>Google Scholar (top 100 hasil pertama), repositori institusi, prosiding konferensi, tesis — menjangkau studi non-jurnal tak terindeks Scopus.</a:t>
            </a:r>
            <a:endParaRPr lang="en-US" sz="800" dirty="0"/>
          </a:p>
        </p:txBody>
      </p:sp>
      <p:sp>
        <p:nvSpPr>
          <p:cNvPr id="40" name="Text 38"/>
          <p:cNvSpPr/>
          <p:nvPr/>
        </p:nvSpPr>
        <p:spPr>
          <a:xfrm>
            <a:off x="6870859" y="2636928"/>
            <a:ext cx="796930" cy="196025"/>
          </a:xfrm>
          <a:prstGeom prst="roundRect">
            <a:avLst>
              <a:gd name="adj" fmla="val 4854215"/>
            </a:avLst>
          </a:prstGeom>
          <a:noFill/>
          <a:ln w="7144">
            <a:solidFill>
              <a:srgbClr val="4A8480"/>
            </a:solidFill>
            <a:prstDash val="solid"/>
          </a:ln>
        </p:spPr>
        <p:txBody>
          <a:bodyPr wrap="square" rtlCol="0" anchor="ctr"/>
          <a:lstStyle/>
          <a:p>
            <a:pPr indent="0" marL="0">
              <a:buNone/>
            </a:pPr>
            <a:endParaRPr lang="en-US" dirty="0"/>
          </a:p>
        </p:txBody>
      </p:sp>
      <p:sp>
        <p:nvSpPr>
          <p:cNvPr id="41" name="Text 39"/>
          <p:cNvSpPr/>
          <p:nvPr/>
        </p:nvSpPr>
        <p:spPr>
          <a:xfrm>
            <a:off x="6890081" y="2647429"/>
            <a:ext cx="758485" cy="175022"/>
          </a:xfrm>
          <a:prstGeom prst="rect">
            <a:avLst/>
          </a:prstGeom>
          <a:noFill/>
          <a:ln/>
        </p:spPr>
        <p:txBody>
          <a:bodyPr wrap="none" lIns="0" tIns="0" rIns="0" bIns="0" rtlCol="0" anchor="ctr"/>
          <a:lstStyle/>
          <a:p>
            <a:pPr algn="ctr" indent="0" marL="0">
              <a:lnSpc>
                <a:spcPts val="928"/>
              </a:lnSpc>
              <a:buNone/>
            </a:pPr>
            <a:r>
              <a:rPr lang="en-US" sz="800" spc="37" kern="0" dirty="0">
                <a:solidFill>
                  <a:srgbClr val="134E4A"/>
                </a:solidFill>
                <a:latin typeface="Carlito" pitchFamily="34" charset="0"/>
                <a:ea typeface="Carlito" pitchFamily="34" charset="-122"/>
                <a:cs typeface="Carlito" pitchFamily="34" charset="-120"/>
              </a:rPr>
              <a:t>NON-JURNAL</a:t>
            </a:r>
            <a:endParaRPr lang="en-US" sz="800" dirty="0"/>
          </a:p>
        </p:txBody>
      </p:sp>
      <p:sp>
        <p:nvSpPr>
          <p:cNvPr id="42" name="Text 40"/>
          <p:cNvSpPr/>
          <p:nvPr/>
        </p:nvSpPr>
        <p:spPr>
          <a:xfrm>
            <a:off x="400050" y="3072482"/>
            <a:ext cx="8343900" cy="1704677"/>
          </a:xfrm>
          <a:prstGeom prst="roundRect">
            <a:avLst>
              <a:gd name="adj" fmla="val 6705"/>
            </a:avLst>
          </a:prstGeom>
          <a:solidFill>
            <a:srgbClr val="134E4A"/>
          </a:solidFill>
          <a:ln/>
        </p:spPr>
        <p:txBody>
          <a:bodyPr wrap="square" rtlCol="0" anchor="ctr"/>
          <a:lstStyle/>
          <a:p>
            <a:pPr indent="0" marL="0">
              <a:buNone/>
            </a:pPr>
            <a:endParaRPr lang="en-US" dirty="0"/>
          </a:p>
        </p:txBody>
      </p:sp>
      <p:sp>
        <p:nvSpPr>
          <p:cNvPr id="43" name="Text 41"/>
          <p:cNvSpPr/>
          <p:nvPr/>
        </p:nvSpPr>
        <p:spPr>
          <a:xfrm>
            <a:off x="548640" y="3218500"/>
            <a:ext cx="1472796" cy="208026"/>
          </a:xfrm>
          <a:prstGeom prst="roundRect">
            <a:avLst>
              <a:gd name="adj" fmla="val 4574176"/>
            </a:avLst>
          </a:prstGeom>
          <a:solidFill>
            <a:srgbClr val="FFFFFF">
              <a:alpha val="15000"/>
            </a:srgbClr>
          </a:solidFill>
          <a:ln/>
        </p:spPr>
        <p:txBody>
          <a:bodyPr wrap="square" rtlCol="0" anchor="ctr"/>
          <a:lstStyle/>
          <a:p>
            <a:pPr indent="0" marL="0">
              <a:buNone/>
            </a:pPr>
            <a:endParaRPr lang="en-US" dirty="0"/>
          </a:p>
        </p:txBody>
      </p:sp>
      <p:sp>
        <p:nvSpPr>
          <p:cNvPr id="44" name="Text 42"/>
          <p:cNvSpPr/>
          <p:nvPr/>
        </p:nvSpPr>
        <p:spPr>
          <a:xfrm>
            <a:off x="571500" y="3229645"/>
            <a:ext cx="1427076" cy="185738"/>
          </a:xfrm>
          <a:prstGeom prst="rect">
            <a:avLst/>
          </a:prstGeom>
          <a:noFill/>
          <a:ln/>
        </p:spPr>
        <p:txBody>
          <a:bodyPr wrap="none" lIns="0" tIns="0" rIns="0" bIns="0" rtlCol="0" anchor="ctr"/>
          <a:lstStyle/>
          <a:p>
            <a:pPr algn="ctr" indent="0" marL="0">
              <a:lnSpc>
                <a:spcPts val="1013"/>
              </a:lnSpc>
              <a:buNone/>
            </a:pPr>
            <a:r>
              <a:rPr lang="en-US" sz="800" spc="41" kern="0" dirty="0">
                <a:solidFill>
                  <a:srgbClr val="FFFFFF"/>
                </a:solidFill>
                <a:latin typeface="Carlito" pitchFamily="34" charset="0"/>
                <a:ea typeface="Carlito" pitchFamily="34" charset="-122"/>
                <a:cs typeface="Carlito" pitchFamily="34" charset="-120"/>
              </a:rPr>
              <a:t>CONTOH QUERY SCOPUS</a:t>
            </a:r>
            <a:endParaRPr lang="en-US" sz="800" dirty="0"/>
          </a:p>
        </p:txBody>
      </p:sp>
      <p:sp>
        <p:nvSpPr>
          <p:cNvPr id="45" name="Text 43"/>
          <p:cNvSpPr/>
          <p:nvPr/>
        </p:nvSpPr>
        <p:spPr>
          <a:xfrm>
            <a:off x="5440635" y="3229645"/>
            <a:ext cx="3131865" cy="164592"/>
          </a:xfrm>
          <a:prstGeom prst="rect">
            <a:avLst/>
          </a:prstGeom>
          <a:noFill/>
          <a:ln/>
        </p:spPr>
        <p:txBody>
          <a:bodyPr wrap="none" lIns="0" tIns="0" rIns="0" bIns="0" rtlCol="0" anchor="t"/>
          <a:lstStyle/>
          <a:p>
            <a:pPr algn="l" indent="0" marL="0">
              <a:lnSpc>
                <a:spcPts val="1013"/>
              </a:lnSpc>
              <a:buNone/>
            </a:pPr>
            <a:r>
              <a:rPr lang="en-US" sz="800" spc="54" kern="0" dirty="0">
                <a:solidFill>
                  <a:srgbClr val="E0ECEB">
                    <a:alpha val="85000"/>
                  </a:srgbClr>
                </a:solidFill>
                <a:latin typeface="Carlito" pitchFamily="34" charset="0"/>
                <a:ea typeface="Carlito" pitchFamily="34" charset="-122"/>
                <a:cs typeface="Carlito" pitchFamily="34" charset="-120"/>
              </a:rPr>
              <a:t>PRAKTIK PELAPORAN</a:t>
            </a:r>
            <a:endParaRPr lang="en-US" sz="800" dirty="0"/>
          </a:p>
        </p:txBody>
      </p:sp>
      <p:sp>
        <p:nvSpPr>
          <p:cNvPr id="46" name="Text 44"/>
          <p:cNvSpPr/>
          <p:nvPr/>
        </p:nvSpPr>
        <p:spPr>
          <a:xfrm>
            <a:off x="5440635" y="3443957"/>
            <a:ext cx="3131753" cy="1158573"/>
          </a:xfrm>
          <a:prstGeom prst="rect">
            <a:avLst/>
          </a:prstGeom>
          <a:noFill/>
          <a:ln/>
        </p:spPr>
        <p:txBody>
          <a:bodyPr wrap="square" lIns="0" tIns="0" rIns="0" bIns="0" rtlCol="0" anchor="t"/>
          <a:lstStyle/>
          <a:p>
            <a:pPr algn="l" marL="342900" indent="-342900">
              <a:lnSpc>
                <a:spcPts val="1097"/>
              </a:lnSpc>
              <a:buSzPct val="100000"/>
              <a:buChar char="•"/>
            </a:pPr>
            <a:r>
              <a:rPr lang="en-US" sz="800" dirty="0">
                <a:solidFill>
                  <a:srgbClr val="E0ECEB"/>
                </a:solidFill>
                <a:latin typeface="Carlito" pitchFamily="34" charset="0"/>
                <a:ea typeface="Carlito" pitchFamily="34" charset="-122"/>
                <a:cs typeface="Carlito" pitchFamily="34" charset="-120"/>
              </a:rPr>
              <a:t>Justifikasi single-database Scopus di protokol &amp; section Methods paper.</a:t>
            </a:r>
            <a:endParaRPr lang="en-US" sz="800" dirty="0"/>
          </a:p>
          <a:p>
            <a:pPr algn="l" marL="342900" indent="-342900">
              <a:lnSpc>
                <a:spcPts val="1097"/>
              </a:lnSpc>
              <a:buSzPct val="100000"/>
              <a:buChar char="•"/>
            </a:pPr>
            <a:r>
              <a:rPr lang="en-US" sz="800" dirty="0">
                <a:solidFill>
                  <a:srgbClr val="E0ECEB"/>
                </a:solidFill>
                <a:latin typeface="Carlito" pitchFamily="34" charset="0"/>
                <a:ea typeface="Carlito" pitchFamily="34" charset="-122"/>
                <a:cs typeface="Carlito" pitchFamily="34" charset="-120"/>
              </a:rPr>
              <a:t>Lampirkan query penuh Scopus + tanggal eksekusi di Supplementary.</a:t>
            </a:r>
            <a:endParaRPr lang="en-US" sz="800" dirty="0"/>
          </a:p>
          <a:p>
            <a:pPr algn="l" marL="342900" indent="-342900">
              <a:lnSpc>
                <a:spcPts val="1097"/>
              </a:lnSpc>
              <a:buSzPct val="100000"/>
              <a:buChar char="•"/>
            </a:pPr>
            <a:r>
              <a:rPr lang="en-US" sz="800" dirty="0">
                <a:solidFill>
                  <a:srgbClr val="E0ECEB"/>
                </a:solidFill>
                <a:latin typeface="Carlito" pitchFamily="34" charset="0"/>
                <a:ea typeface="Carlito" pitchFamily="34" charset="-122"/>
                <a:cs typeface="Carlito" pitchFamily="34" charset="-120"/>
              </a:rPr>
              <a:t>Lakukan re-run pencarian sebelum submission (PRISMA 2020 item 6–8).</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134E4A"/>
          </a:solidFill>
          <a:ln/>
        </p:spPr>
        <p:txBody>
          <a:bodyPr wrap="square" rtlCol="0" anchor="ctr"/>
          <a:lstStyle/>
          <a:p>
            <a:pPr indent="0" marL="0">
              <a:buNone/>
            </a:pPr>
            <a:endParaRPr lang="en-US" dirty="0"/>
          </a:p>
        </p:txBody>
      </p:sp>
      <p:sp>
        <p:nvSpPr>
          <p:cNvPr id="3" name="Text 1"/>
          <p:cNvSpPr/>
          <p:nvPr/>
        </p:nvSpPr>
        <p:spPr>
          <a:xfrm>
            <a:off x="6553391" y="3486150"/>
            <a:ext cx="2590610" cy="1543050"/>
          </a:xfrm>
          <a:prstGeom prst="rect">
            <a:avLst/>
          </a:prstGeom>
          <a:noFill/>
          <a:ln/>
        </p:spPr>
        <p:txBody>
          <a:bodyPr wrap="square" lIns="0" tIns="0" rIns="0" bIns="0" rtlCol="0" anchor="t"/>
          <a:lstStyle/>
          <a:p>
            <a:pPr algn="l" indent="0" marL="0">
              <a:lnSpc>
                <a:spcPts val="11250"/>
              </a:lnSpc>
              <a:buNone/>
            </a:pPr>
            <a:r>
              <a:rPr lang="en-US" sz="11250" spc="-450" kern="0" dirty="0">
                <a:solidFill>
                  <a:srgbClr val="FFFFFF">
                    <a:alpha val="8000"/>
                  </a:srgbClr>
                </a:solidFill>
                <a:latin typeface="Liberation Sans Narrow" pitchFamily="34" charset="0"/>
                <a:ea typeface="Liberation Sans Narrow" pitchFamily="34" charset="-122"/>
                <a:cs typeface="Liberation Sans Narrow" pitchFamily="34" charset="-120"/>
              </a:rPr>
              <a:t>03</a:t>
            </a:r>
            <a:endParaRPr lang="en-US" sz="11250" dirty="0"/>
          </a:p>
        </p:txBody>
      </p:sp>
      <p:sp>
        <p:nvSpPr>
          <p:cNvPr id="4" name="Text 2"/>
          <p:cNvSpPr/>
          <p:nvPr/>
        </p:nvSpPr>
        <p:spPr>
          <a:xfrm>
            <a:off x="457200" y="457200"/>
            <a:ext cx="8636000" cy="164592"/>
          </a:xfrm>
          <a:prstGeom prst="rect">
            <a:avLst/>
          </a:prstGeom>
          <a:noFill/>
          <a:ln/>
        </p:spPr>
        <p:txBody>
          <a:bodyPr wrap="none" lIns="0" tIns="0" rIns="0" bIns="0" rtlCol="0" anchor="t"/>
          <a:lstStyle/>
          <a:p>
            <a:pPr algn="l" indent="0" marL="0">
              <a:lnSpc>
                <a:spcPts val="1181"/>
              </a:lnSpc>
              <a:buNone/>
            </a:pPr>
            <a:r>
              <a:rPr lang="en-US" sz="800" spc="126" kern="0" dirty="0">
                <a:solidFill>
                  <a:srgbClr val="F97316"/>
                </a:solidFill>
                <a:latin typeface="Liberation Sans Narrow" pitchFamily="34" charset="0"/>
                <a:ea typeface="Liberation Sans Narrow" pitchFamily="34" charset="-122"/>
                <a:cs typeface="Liberation Sans Narrow" pitchFamily="34" charset="-120"/>
              </a:rPr>
              <a:t>BAB 03 / 04</a:t>
            </a:r>
            <a:endParaRPr lang="en-US" sz="800" dirty="0"/>
          </a:p>
        </p:txBody>
      </p:sp>
      <p:sp>
        <p:nvSpPr>
          <p:cNvPr id="5" name="Text 3"/>
          <p:cNvSpPr/>
          <p:nvPr/>
        </p:nvSpPr>
        <p:spPr>
          <a:xfrm>
            <a:off x="457200" y="1767408"/>
            <a:ext cx="8636000" cy="610951"/>
          </a:xfrm>
          <a:prstGeom prst="rect">
            <a:avLst/>
          </a:prstGeom>
          <a:noFill/>
          <a:ln/>
        </p:spPr>
        <p:txBody>
          <a:bodyPr wrap="none" lIns="0" tIns="0" rIns="0" bIns="0" rtlCol="0" anchor="t"/>
          <a:lstStyle/>
          <a:p>
            <a:pPr algn="l" indent="0" marL="0">
              <a:lnSpc>
                <a:spcPts val="4455"/>
              </a:lnSpc>
              <a:buNone/>
            </a:pPr>
            <a:r>
              <a:rPr lang="en-US" sz="4050" spc="-61" kern="0" dirty="0">
                <a:solidFill>
                  <a:srgbClr val="FFFFFF"/>
                </a:solidFill>
                <a:latin typeface="Tinos" pitchFamily="34" charset="0"/>
                <a:ea typeface="Tinos" pitchFamily="34" charset="-122"/>
                <a:cs typeface="Tinos" pitchFamily="34" charset="-120"/>
              </a:rPr>
              <a:t>Pelaksanaan &amp; Pelaporan</a:t>
            </a:r>
            <a:endParaRPr lang="en-US" sz="4050" dirty="0"/>
          </a:p>
        </p:txBody>
      </p:sp>
      <p:sp>
        <p:nvSpPr>
          <p:cNvPr id="6" name="Text 4"/>
          <p:cNvSpPr/>
          <p:nvPr/>
        </p:nvSpPr>
        <p:spPr>
          <a:xfrm>
            <a:off x="457200" y="2504554"/>
            <a:ext cx="857250" cy="28575"/>
          </a:xfrm>
          <a:prstGeom prst="rect">
            <a:avLst/>
          </a:prstGeom>
          <a:solidFill>
            <a:srgbClr val="F97316"/>
          </a:solidFill>
          <a:ln/>
        </p:spPr>
        <p:txBody>
          <a:bodyPr wrap="square" rtlCol="0" anchor="ctr"/>
          <a:lstStyle/>
          <a:p>
            <a:pPr indent="0" marL="0">
              <a:buNone/>
            </a:pPr>
            <a:endParaRPr lang="en-US" dirty="0"/>
          </a:p>
        </p:txBody>
      </p:sp>
      <p:sp>
        <p:nvSpPr>
          <p:cNvPr id="7" name="Text 5"/>
          <p:cNvSpPr/>
          <p:nvPr/>
        </p:nvSpPr>
        <p:spPr>
          <a:xfrm>
            <a:off x="457200" y="2733154"/>
            <a:ext cx="5357813" cy="694373"/>
          </a:xfrm>
          <a:prstGeom prst="rect">
            <a:avLst/>
          </a:prstGeom>
          <a:noFill/>
          <a:ln/>
        </p:spPr>
        <p:txBody>
          <a:bodyPr wrap="square" lIns="0" tIns="0" rIns="0" bIns="0" rtlCol="0" anchor="t"/>
          <a:lstStyle/>
          <a:p>
            <a:pPr algn="l" indent="0" marL="0">
              <a:lnSpc>
                <a:spcPts val="1688"/>
              </a:lnSpc>
              <a:buNone/>
            </a:pPr>
            <a:r>
              <a:rPr lang="en-US" sz="1125" dirty="0">
                <a:solidFill>
                  <a:srgbClr val="E0ECEB"/>
                </a:solidFill>
                <a:latin typeface="Carlito" pitchFamily="34" charset="0"/>
                <a:ea typeface="Carlito" pitchFamily="34" charset="-122"/>
                <a:cs typeface="Carlito" pitchFamily="34" charset="-120"/>
              </a:rPr>
              <a:t>Menerapkan diagram alur PRISMA, melakukan screening dua-reviewer, quality assessment, dan menyusun checklist pelaporan 27 item secara menyeluruh.</a:t>
            </a:r>
            <a:endParaRPr lang="en-US" sz="1125" dirty="0"/>
          </a:p>
        </p:txBody>
      </p:sp>
      <p:sp>
        <p:nvSpPr>
          <p:cNvPr id="8" name="Text 6"/>
          <p:cNvSpPr/>
          <p:nvPr/>
        </p:nvSpPr>
        <p:spPr>
          <a:xfrm>
            <a:off x="457200" y="4729163"/>
            <a:ext cx="3562528" cy="164592"/>
          </a:xfrm>
          <a:prstGeom prst="rect">
            <a:avLst/>
          </a:prstGeom>
          <a:noFill/>
          <a:ln/>
        </p:spPr>
        <p:txBody>
          <a:bodyPr wrap="square" lIns="0" tIns="0" rIns="0" bIns="0" rtlCol="0" anchor="t"/>
          <a:lstStyle/>
          <a:p>
            <a:pPr algn="l" indent="0" marL="0">
              <a:lnSpc>
                <a:spcPts val="1013"/>
              </a:lnSpc>
              <a:buNone/>
            </a:pPr>
            <a:r>
              <a:rPr lang="en-US" sz="800" spc="81" kern="0" dirty="0">
                <a:solidFill>
                  <a:srgbClr val="FFFFFF">
                    <a:alpha val="55000"/>
                  </a:srgbClr>
                </a:solidFill>
                <a:latin typeface="Carlito" pitchFamily="34" charset="0"/>
                <a:ea typeface="Carlito" pitchFamily="34" charset="-122"/>
                <a:cs typeface="Carlito" pitchFamily="34" charset="-120"/>
              </a:rPr>
              <a:t>TAHAPAN SLR · PRISMA 2020 · PELAKSANAAN &amp; PELAPORAN</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8"/>
        </a:solidFill>
      </p:bgPr>
    </p:bg>
    <p:spTree>
      <p:nvGrpSpPr>
        <p:cNvPr id="1" name=""/>
        <p:cNvGrpSpPr/>
        <p:nvPr/>
      </p:nvGrpSpPr>
      <p:grpSpPr>
        <a:xfrm>
          <a:off x="0" y="0"/>
          <a:ext cx="0" cy="0"/>
          <a:chOff x="0" y="0"/>
          <a:chExt cx="0" cy="0"/>
        </a:xfrm>
      </p:grpSpPr>
      <p:sp>
        <p:nvSpPr>
          <p:cNvPr id="2" name="Text 0"/>
          <p:cNvSpPr/>
          <p:nvPr/>
        </p:nvSpPr>
        <p:spPr>
          <a:xfrm>
            <a:off x="7071512" y="-214312"/>
            <a:ext cx="2072488" cy="1234440"/>
          </a:xfrm>
          <a:prstGeom prst="rect">
            <a:avLst/>
          </a:prstGeom>
          <a:noFill/>
          <a:ln/>
        </p:spPr>
        <p:txBody>
          <a:bodyPr wrap="square" lIns="0" tIns="0" rIns="0" bIns="0" rtlCol="0" anchor="t"/>
          <a:lstStyle/>
          <a:p>
            <a:pPr algn="l" indent="0" marL="0">
              <a:lnSpc>
                <a:spcPts val="9000"/>
              </a:lnSpc>
              <a:buNone/>
            </a:pPr>
            <a:r>
              <a:rPr lang="en-US" sz="9000" dirty="0">
                <a:solidFill>
                  <a:srgbClr val="134E4A">
                    <a:alpha val="5000"/>
                  </a:srgbClr>
                </a:solidFill>
                <a:latin typeface="Liberation Sans Narrow" pitchFamily="34" charset="0"/>
                <a:ea typeface="Liberation Sans Narrow" pitchFamily="34" charset="-122"/>
                <a:cs typeface="Liberation Sans Narrow" pitchFamily="34" charset="-120"/>
              </a:rPr>
              <a:t>03</a:t>
            </a:r>
            <a:endParaRPr lang="en-US" sz="9000" dirty="0"/>
          </a:p>
        </p:txBody>
      </p:sp>
      <p:sp>
        <p:nvSpPr>
          <p:cNvPr id="3" name="Shape 1"/>
          <p:cNvSpPr/>
          <p:nvPr/>
        </p:nvSpPr>
        <p:spPr>
          <a:xfrm>
            <a:off x="457200" y="1144228"/>
            <a:ext cx="428625" cy="0"/>
          </a:xfrm>
          <a:prstGeom prst="line">
            <a:avLst/>
          </a:prstGeom>
          <a:noFill/>
          <a:ln w="21431">
            <a:solidFill>
              <a:srgbClr val="134E4A"/>
            </a:solidFill>
            <a:prstDash val="solid"/>
          </a:ln>
        </p:spPr>
      </p:sp>
      <p:sp>
        <p:nvSpPr>
          <p:cNvPr id="4" name="Text 2"/>
          <p:cNvSpPr/>
          <p:nvPr/>
        </p:nvSpPr>
        <p:spPr>
          <a:xfrm>
            <a:off x="457200" y="160051"/>
            <a:ext cx="1394147" cy="212777"/>
          </a:xfrm>
          <a:prstGeom prst="roundRect">
            <a:avLst>
              <a:gd name="adj" fmla="val 4472041"/>
            </a:avLst>
          </a:prstGeom>
          <a:solidFill>
            <a:srgbClr val="E0ECEB"/>
          </a:solidFill>
          <a:ln/>
        </p:spPr>
        <p:txBody>
          <a:bodyPr wrap="square" rtlCol="0" anchor="ctr"/>
          <a:lstStyle/>
          <a:p>
            <a:pPr indent="0" marL="0">
              <a:buNone/>
            </a:pPr>
            <a:endParaRPr lang="en-US" dirty="0"/>
          </a:p>
        </p:txBody>
      </p:sp>
      <p:sp>
        <p:nvSpPr>
          <p:cNvPr id="5" name="Text 3"/>
          <p:cNvSpPr/>
          <p:nvPr/>
        </p:nvSpPr>
        <p:spPr>
          <a:xfrm>
            <a:off x="457200" y="171450"/>
            <a:ext cx="1394147" cy="189979"/>
          </a:xfrm>
          <a:prstGeom prst="rect">
            <a:avLst/>
          </a:prstGeom>
          <a:noFill/>
          <a:ln/>
        </p:spPr>
        <p:txBody>
          <a:bodyPr wrap="none" lIns="0" tIns="0" rIns="0" bIns="0" rtlCol="0" anchor="ctr"/>
          <a:lstStyle/>
          <a:p>
            <a:pPr algn="ctr" indent="0" marL="0">
              <a:lnSpc>
                <a:spcPts val="1046"/>
              </a:lnSpc>
              <a:buNone/>
            </a:pPr>
            <a:r>
              <a:rPr lang="en-US" sz="800" spc="27" kern="0" dirty="0">
                <a:solidFill>
                  <a:srgbClr val="134E4A"/>
                </a:solidFill>
                <a:latin typeface="Liberation Sans Narrow" pitchFamily="34" charset="0"/>
                <a:ea typeface="Liberation Sans Narrow" pitchFamily="34" charset="-122"/>
                <a:cs typeface="Liberation Sans Narrow" pitchFamily="34" charset="-120"/>
              </a:rPr>
              <a:t>BAB 03 · DIAGRAM ALUR</a:t>
            </a:r>
            <a:endParaRPr lang="en-US" sz="800" dirty="0"/>
          </a:p>
        </p:txBody>
      </p:sp>
      <p:sp>
        <p:nvSpPr>
          <p:cNvPr id="6" name="Text 4"/>
          <p:cNvSpPr/>
          <p:nvPr/>
        </p:nvSpPr>
        <p:spPr>
          <a:xfrm>
            <a:off x="1937072" y="205494"/>
            <a:ext cx="1517111" cy="170047"/>
          </a:xfrm>
          <a:prstGeom prst="rect">
            <a:avLst/>
          </a:prstGeom>
          <a:noFill/>
          <a:ln/>
        </p:spPr>
        <p:txBody>
          <a:bodyPr wrap="none" lIns="0" tIns="0" rIns="0" bIns="0" rtlCol="0" anchor="t"/>
          <a:lstStyle/>
          <a:p>
            <a:pPr algn="l" indent="0" marL="0">
              <a:lnSpc>
                <a:spcPts val="959"/>
              </a:lnSpc>
              <a:buNone/>
            </a:pPr>
            <a:r>
              <a:rPr lang="en-US" sz="619" spc="50" kern="0" dirty="0">
                <a:solidFill>
                  <a:srgbClr val="64748B"/>
                </a:solidFill>
                <a:latin typeface="Carlito" pitchFamily="34" charset="0"/>
                <a:ea typeface="Carlito" pitchFamily="34" charset="-122"/>
                <a:cs typeface="Carlito" pitchFamily="34" charset="-120"/>
              </a:rPr>
              <a:t>PELAKSANAAN &amp; PELAPORAN</a:t>
            </a:r>
            <a:endParaRPr lang="en-US" sz="619" dirty="0"/>
          </a:p>
        </p:txBody>
      </p:sp>
      <p:sp>
        <p:nvSpPr>
          <p:cNvPr id="7" name="Text 5"/>
          <p:cNvSpPr/>
          <p:nvPr/>
        </p:nvSpPr>
        <p:spPr>
          <a:xfrm>
            <a:off x="8279271" y="188975"/>
            <a:ext cx="554239" cy="169980"/>
          </a:xfrm>
          <a:prstGeom prst="rect">
            <a:avLst/>
          </a:prstGeom>
          <a:noFill/>
          <a:ln/>
        </p:spPr>
        <p:txBody>
          <a:bodyPr wrap="none" lIns="0" tIns="0" rIns="0" bIns="0" rtlCol="0" anchor="t"/>
          <a:lstStyle/>
          <a:p>
            <a:pPr algn="l" indent="0" marL="0">
              <a:lnSpc>
                <a:spcPts val="1221"/>
              </a:lnSpc>
              <a:buNone/>
            </a:pPr>
            <a:r>
              <a:rPr lang="en-US" sz="800" spc="-16" kern="0" dirty="0">
                <a:solidFill>
                  <a:srgbClr val="64748B"/>
                </a:solidFill>
                <a:latin typeface="Liberation Sans Narrow" pitchFamily="34" charset="0"/>
                <a:ea typeface="Liberation Sans Narrow" pitchFamily="34" charset="-122"/>
                <a:cs typeface="Liberation Sans Narrow" pitchFamily="34" charset="-120"/>
              </a:rPr>
              <a:t>11 / 18</a:t>
            </a:r>
            <a:endParaRPr lang="en-US" sz="800" dirty="0"/>
          </a:p>
        </p:txBody>
      </p:sp>
      <p:sp>
        <p:nvSpPr>
          <p:cNvPr id="8" name="Text 6"/>
          <p:cNvSpPr/>
          <p:nvPr/>
        </p:nvSpPr>
        <p:spPr>
          <a:xfrm>
            <a:off x="457200" y="447154"/>
            <a:ext cx="8636000" cy="287451"/>
          </a:xfrm>
          <a:prstGeom prst="rect">
            <a:avLst/>
          </a:prstGeom>
          <a:noFill/>
          <a:ln/>
        </p:spPr>
        <p:txBody>
          <a:bodyPr wrap="none" lIns="0" tIns="0" rIns="0" bIns="0" rtlCol="0" anchor="t">
            <a:normAutofit/>
          </a:bodyPr>
          <a:lstStyle/>
          <a:p>
            <a:pPr algn="l" indent="0" marL="0">
              <a:lnSpc>
                <a:spcPts val="2142"/>
              </a:lnSpc>
              <a:buNone/>
            </a:pPr>
            <a:r>
              <a:rPr lang="en-US" sz="1913" spc="-19" kern="0" dirty="0">
                <a:solidFill>
                  <a:srgbClr val="134E4A"/>
                </a:solidFill>
                <a:latin typeface="Liberation Sans Narrow" pitchFamily="34" charset="0"/>
                <a:ea typeface="Liberation Sans Narrow" pitchFamily="34" charset="-122"/>
                <a:cs typeface="Liberation Sans Narrow" pitchFamily="34" charset="-120"/>
              </a:rPr>
              <a:t>Diagram Alur PRISMA 2020</a:t>
            </a:r>
            <a:endParaRPr lang="en-US" sz="1913" dirty="0"/>
          </a:p>
        </p:txBody>
      </p:sp>
      <p:sp>
        <p:nvSpPr>
          <p:cNvPr id="9" name="Text 7"/>
          <p:cNvSpPr/>
          <p:nvPr/>
        </p:nvSpPr>
        <p:spPr>
          <a:xfrm>
            <a:off x="457200" y="762037"/>
            <a:ext cx="7858125" cy="329184"/>
          </a:xfrm>
          <a:prstGeom prst="rect">
            <a:avLst/>
          </a:prstGeom>
          <a:noFill/>
          <a:ln/>
        </p:spPr>
        <p:txBody>
          <a:bodyPr wrap="square" lIns="0" tIns="0" rIns="0" bIns="0" rtlCol="0" anchor="t"/>
          <a:lstStyle/>
          <a:p>
            <a:pPr algn="l" indent="0" marL="0">
              <a:lnSpc>
                <a:spcPts val="1181"/>
              </a:lnSpc>
              <a:buNone/>
            </a:pPr>
            <a:r>
              <a:rPr lang="en-US" sz="800" dirty="0">
                <a:solidFill>
                  <a:srgbClr val="475569"/>
                </a:solidFill>
                <a:latin typeface="Carlito" pitchFamily="34" charset="0"/>
                <a:ea typeface="Carlito" pitchFamily="34" charset="-122"/>
                <a:cs typeface="Carlito" pitchFamily="34" charset="-120"/>
              </a:rPr>
              <a:t>Empat fase inti — </a:t>
            </a:r>
            <a:pPr algn="l" indent="0" marL="0">
              <a:lnSpc>
                <a:spcPts val="1181"/>
              </a:lnSpc>
              <a:buNone/>
            </a:pPr>
            <a:r>
              <a:rPr lang="en-US" sz="800" dirty="0">
                <a:solidFill>
                  <a:srgbClr val="134E4A"/>
                </a:solidFill>
                <a:latin typeface="Carlito" pitchFamily="34" charset="0"/>
                <a:ea typeface="Carlito" pitchFamily="34" charset="-122"/>
                <a:cs typeface="Carlito" pitchFamily="34" charset="-120"/>
              </a:rPr>
              <a:t>Identification, Screening, Eligibility, Included</a:t>
            </a:r>
            <a:pPr algn="l" indent="0" marL="0">
              <a:lnSpc>
                <a:spcPts val="1181"/>
              </a:lnSpc>
              <a:buNone/>
            </a:pPr>
            <a:r>
              <a:rPr lang="en-US" sz="800" dirty="0">
                <a:solidFill>
                  <a:srgbClr val="475569"/>
                </a:solidFill>
                <a:latin typeface="Carlito" pitchFamily="34" charset="0"/>
                <a:ea typeface="Carlito" pitchFamily="34" charset="-122"/>
                <a:cs typeface="Carlito" pitchFamily="34" charset="-120"/>
              </a:rPr>
              <a:t> — dengan funnel dari 7.058 record awal Scopus hingga studi final yang disintesis. Rasio penyaringan sesuai pola SLR tipikal (≈90% eksklusi pada title/abstract).</a:t>
            </a:r>
            <a:endParaRPr lang="en-US" sz="800" dirty="0"/>
          </a:p>
        </p:txBody>
      </p:sp>
      <p:sp>
        <p:nvSpPr>
          <p:cNvPr id="10" name="Text 8"/>
          <p:cNvSpPr/>
          <p:nvPr/>
        </p:nvSpPr>
        <p:spPr>
          <a:xfrm>
            <a:off x="460772" y="1287103"/>
            <a:ext cx="1964531" cy="3064669"/>
          </a:xfrm>
          <a:prstGeom prst="roundRect">
            <a:avLst>
              <a:gd name="adj" fmla="val 5818"/>
            </a:avLst>
          </a:prstGeom>
          <a:solidFill>
            <a:srgbClr val="E0ECEB"/>
          </a:solidFill>
          <a:ln w="7144">
            <a:solidFill>
              <a:srgbClr val="4A8480"/>
            </a:solidFill>
            <a:prstDash val="solid"/>
          </a:ln>
        </p:spPr>
        <p:txBody>
          <a:bodyPr wrap="square" rtlCol="0" anchor="ctr"/>
          <a:lstStyle/>
          <a:p>
            <a:pPr indent="0" marL="0">
              <a:buNone/>
            </a:pPr>
            <a:endParaRPr lang="en-US" dirty="0"/>
          </a:p>
        </p:txBody>
      </p:sp>
      <p:sp>
        <p:nvSpPr>
          <p:cNvPr id="11" name="Text 9"/>
          <p:cNvSpPr/>
          <p:nvPr/>
        </p:nvSpPr>
        <p:spPr>
          <a:xfrm>
            <a:off x="578644" y="1419262"/>
            <a:ext cx="957151" cy="354902"/>
          </a:xfrm>
          <a:prstGeom prst="rect">
            <a:avLst/>
          </a:prstGeom>
          <a:noFill/>
          <a:ln/>
        </p:spPr>
        <p:txBody>
          <a:bodyPr wrap="none" lIns="0" tIns="0" rIns="0" bIns="0" rtlCol="0" anchor="t"/>
          <a:lstStyle/>
          <a:p>
            <a:pPr algn="l" indent="0" marL="0">
              <a:lnSpc>
                <a:spcPts val="2588"/>
              </a:lnSpc>
              <a:buNone/>
            </a:pPr>
            <a:r>
              <a:rPr lang="en-US" sz="2588" spc="-78" kern="0" dirty="0">
                <a:solidFill>
                  <a:srgbClr val="134E4A"/>
                </a:solidFill>
                <a:latin typeface="Liberation Sans Narrow" pitchFamily="34" charset="0"/>
                <a:ea typeface="Liberation Sans Narrow" pitchFamily="34" charset="-122"/>
                <a:cs typeface="Liberation Sans Narrow" pitchFamily="34" charset="-120"/>
              </a:rPr>
              <a:t>01</a:t>
            </a:r>
            <a:endParaRPr lang="en-US" sz="2588" dirty="0"/>
          </a:p>
        </p:txBody>
      </p:sp>
      <p:sp>
        <p:nvSpPr>
          <p:cNvPr id="12" name="Text 10"/>
          <p:cNvSpPr/>
          <p:nvPr/>
        </p:nvSpPr>
        <p:spPr>
          <a:xfrm>
            <a:off x="1118533" y="1419262"/>
            <a:ext cx="1188899" cy="92003"/>
          </a:xfrm>
          <a:prstGeom prst="rect">
            <a:avLst/>
          </a:prstGeom>
          <a:noFill/>
          <a:ln/>
        </p:spPr>
        <p:txBody>
          <a:bodyPr wrap="none" lIns="0" tIns="0" rIns="0" bIns="0" rtlCol="0" anchor="t">
            <a:normAutofit/>
          </a:bodyPr>
          <a:lstStyle/>
          <a:p>
            <a:pPr algn="r" indent="0" marL="0">
              <a:lnSpc>
                <a:spcPts val="828"/>
              </a:lnSpc>
              <a:buNone/>
            </a:pPr>
            <a:r>
              <a:rPr lang="en-US" sz="800" spc="64" kern="0" dirty="0">
                <a:solidFill>
                  <a:srgbClr val="64748B"/>
                </a:solidFill>
                <a:latin typeface="Carlito" pitchFamily="34" charset="0"/>
                <a:ea typeface="Carlito" pitchFamily="34" charset="-122"/>
                <a:cs typeface="Carlito" pitchFamily="34" charset="-120"/>
              </a:rPr>
              <a:t>FASE</a:t>
            </a:r>
            <a:endParaRPr lang="en-US" sz="800" dirty="0"/>
          </a:p>
        </p:txBody>
      </p:sp>
      <p:sp>
        <p:nvSpPr>
          <p:cNvPr id="13" name="Text 11"/>
          <p:cNvSpPr/>
          <p:nvPr/>
        </p:nvSpPr>
        <p:spPr>
          <a:xfrm>
            <a:off x="1436563" y="1538697"/>
            <a:ext cx="870868" cy="152738"/>
          </a:xfrm>
          <a:prstGeom prst="rect">
            <a:avLst/>
          </a:prstGeom>
          <a:noFill/>
          <a:ln/>
        </p:spPr>
        <p:txBody>
          <a:bodyPr wrap="square" lIns="0" tIns="0" rIns="0" bIns="0" rtlCol="0" anchor="t"/>
          <a:lstStyle/>
          <a:p>
            <a:pPr algn="r" indent="0" marL="0">
              <a:lnSpc>
                <a:spcPts val="1114"/>
              </a:lnSpc>
              <a:buNone/>
            </a:pPr>
            <a:r>
              <a:rPr lang="en-US" sz="1013" dirty="0">
                <a:solidFill>
                  <a:srgbClr val="134E4A"/>
                </a:solidFill>
                <a:latin typeface="Tinos" pitchFamily="34" charset="0"/>
                <a:ea typeface="Tinos" pitchFamily="34" charset="-122"/>
                <a:cs typeface="Tinos" pitchFamily="34" charset="-120"/>
              </a:rPr>
              <a:t>Identification</a:t>
            </a:r>
            <a:endParaRPr lang="en-US" sz="1013" dirty="0"/>
          </a:p>
        </p:txBody>
      </p:sp>
      <p:sp>
        <p:nvSpPr>
          <p:cNvPr id="14" name="Text 12"/>
          <p:cNvSpPr/>
          <p:nvPr/>
        </p:nvSpPr>
        <p:spPr>
          <a:xfrm>
            <a:off x="578644" y="1847887"/>
            <a:ext cx="1728788" cy="7144"/>
          </a:xfrm>
          <a:prstGeom prst="rect">
            <a:avLst/>
          </a:prstGeom>
          <a:solidFill>
            <a:srgbClr val="4A8480"/>
          </a:solidFill>
          <a:ln/>
        </p:spPr>
        <p:txBody>
          <a:bodyPr wrap="square" rtlCol="0" anchor="ctr"/>
          <a:lstStyle/>
          <a:p>
            <a:pPr indent="0" marL="0">
              <a:buNone/>
            </a:pPr>
            <a:endParaRPr lang="en-US" dirty="0"/>
          </a:p>
        </p:txBody>
      </p:sp>
      <p:sp>
        <p:nvSpPr>
          <p:cNvPr id="15" name="Text 13"/>
          <p:cNvSpPr/>
          <p:nvPr/>
        </p:nvSpPr>
        <p:spPr>
          <a:xfrm>
            <a:off x="578644" y="1940756"/>
            <a:ext cx="1728787" cy="93565"/>
          </a:xfrm>
          <a:prstGeom prst="rect">
            <a:avLst/>
          </a:prstGeom>
          <a:noFill/>
          <a:ln/>
        </p:spPr>
        <p:txBody>
          <a:bodyPr wrap="none" lIns="0" tIns="0" rIns="0" bIns="0" rtlCol="0" anchor="t">
            <a:normAutofit/>
          </a:bodyPr>
          <a:lstStyle/>
          <a:p>
            <a:pPr algn="l" indent="0" marL="0">
              <a:lnSpc>
                <a:spcPts val="841"/>
              </a:lnSpc>
              <a:buNone/>
            </a:pPr>
            <a:r>
              <a:rPr lang="en-US" sz="800" spc="6" kern="0" dirty="0">
                <a:solidFill>
                  <a:srgbClr val="475569"/>
                </a:solidFill>
                <a:latin typeface="Carlito" pitchFamily="34" charset="0"/>
                <a:ea typeface="Carlito" pitchFamily="34" charset="-122"/>
                <a:cs typeface="Carlito" pitchFamily="34" charset="-120"/>
              </a:rPr>
              <a:t>Records from Scopus</a:t>
            </a:r>
            <a:endParaRPr lang="en-US" sz="800" dirty="0"/>
          </a:p>
        </p:txBody>
      </p:sp>
      <p:sp>
        <p:nvSpPr>
          <p:cNvPr id="16" name="Text 14"/>
          <p:cNvSpPr/>
          <p:nvPr/>
        </p:nvSpPr>
        <p:spPr>
          <a:xfrm>
            <a:off x="578644" y="2061753"/>
            <a:ext cx="1728788" cy="210602"/>
          </a:xfrm>
          <a:prstGeom prst="rect">
            <a:avLst/>
          </a:prstGeom>
          <a:noFill/>
          <a:ln/>
        </p:spPr>
        <p:txBody>
          <a:bodyPr wrap="none" lIns="0" tIns="0" rIns="0" bIns="0" rtlCol="0" anchor="t"/>
          <a:lstStyle/>
          <a:p>
            <a:pPr algn="l" indent="0" marL="0">
              <a:lnSpc>
                <a:spcPts val="1536"/>
              </a:lnSpc>
              <a:buNone/>
            </a:pPr>
            <a:r>
              <a:rPr lang="en-US" sz="1463" spc="-29" kern="0" dirty="0">
                <a:solidFill>
                  <a:srgbClr val="134E4A"/>
                </a:solidFill>
                <a:latin typeface="Liberation Sans Narrow" pitchFamily="34" charset="0"/>
                <a:ea typeface="Liberation Sans Narrow" pitchFamily="34" charset="-122"/>
                <a:cs typeface="Liberation Sans Narrow" pitchFamily="34" charset="-120"/>
              </a:rPr>
              <a:t>n = 7.058</a:t>
            </a:r>
            <a:endParaRPr lang="en-US" sz="1463" dirty="0"/>
          </a:p>
        </p:txBody>
      </p:sp>
      <p:sp>
        <p:nvSpPr>
          <p:cNvPr id="17" name="Text 15"/>
          <p:cNvSpPr/>
          <p:nvPr/>
        </p:nvSpPr>
        <p:spPr>
          <a:xfrm>
            <a:off x="578644" y="2595079"/>
            <a:ext cx="1832515" cy="93565"/>
          </a:xfrm>
          <a:prstGeom prst="rect">
            <a:avLst/>
          </a:prstGeom>
          <a:noFill/>
          <a:ln/>
        </p:spPr>
        <p:txBody>
          <a:bodyPr wrap="square" lIns="0" tIns="0" rIns="0" bIns="0" rtlCol="0" anchor="t">
            <a:normAutofit/>
          </a:bodyPr>
          <a:lstStyle/>
          <a:p>
            <a:pPr algn="l" indent="0" marL="0">
              <a:lnSpc>
                <a:spcPts val="841"/>
              </a:lnSpc>
              <a:buNone/>
            </a:pPr>
            <a:r>
              <a:rPr lang="en-US" sz="800" spc="6" kern="0" dirty="0">
                <a:solidFill>
                  <a:srgbClr val="475569"/>
                </a:solidFill>
                <a:latin typeface="Carlito" pitchFamily="34" charset="0"/>
                <a:ea typeface="Carlito" pitchFamily="34" charset="-122"/>
                <a:cs typeface="Carlito" pitchFamily="34" charset="-120"/>
              </a:rPr>
              <a:t>Hand-search &amp; snowballing</a:t>
            </a:r>
            <a:endParaRPr lang="en-US" sz="800" dirty="0"/>
          </a:p>
        </p:txBody>
      </p:sp>
      <p:sp>
        <p:nvSpPr>
          <p:cNvPr id="18" name="Text 16"/>
          <p:cNvSpPr/>
          <p:nvPr/>
        </p:nvSpPr>
        <p:spPr>
          <a:xfrm>
            <a:off x="578644" y="2716076"/>
            <a:ext cx="1728788" cy="210602"/>
          </a:xfrm>
          <a:prstGeom prst="rect">
            <a:avLst/>
          </a:prstGeom>
          <a:noFill/>
          <a:ln/>
        </p:spPr>
        <p:txBody>
          <a:bodyPr wrap="none" lIns="0" tIns="0" rIns="0" bIns="0" rtlCol="0" anchor="t"/>
          <a:lstStyle/>
          <a:p>
            <a:pPr algn="l" indent="0" marL="0">
              <a:lnSpc>
                <a:spcPts val="1536"/>
              </a:lnSpc>
              <a:buNone/>
            </a:pPr>
            <a:r>
              <a:rPr lang="en-US" sz="1463" spc="-29" kern="0" dirty="0">
                <a:solidFill>
                  <a:srgbClr val="134E4A"/>
                </a:solidFill>
                <a:latin typeface="Liberation Sans Narrow" pitchFamily="34" charset="0"/>
                <a:ea typeface="Liberation Sans Narrow" pitchFamily="34" charset="-122"/>
                <a:cs typeface="Liberation Sans Narrow" pitchFamily="34" charset="-120"/>
              </a:rPr>
              <a:t>n = 47</a:t>
            </a:r>
            <a:endParaRPr lang="en-US" sz="1463" dirty="0"/>
          </a:p>
        </p:txBody>
      </p:sp>
      <p:sp>
        <p:nvSpPr>
          <p:cNvPr id="19" name="Text 17"/>
          <p:cNvSpPr/>
          <p:nvPr/>
        </p:nvSpPr>
        <p:spPr>
          <a:xfrm>
            <a:off x="578644" y="3249290"/>
            <a:ext cx="1728787" cy="93565"/>
          </a:xfrm>
          <a:prstGeom prst="rect">
            <a:avLst/>
          </a:prstGeom>
          <a:noFill/>
          <a:ln/>
        </p:spPr>
        <p:txBody>
          <a:bodyPr wrap="none" lIns="0" tIns="0" rIns="0" bIns="0" rtlCol="0" anchor="t">
            <a:normAutofit/>
          </a:bodyPr>
          <a:lstStyle/>
          <a:p>
            <a:pPr algn="l" indent="0" marL="0">
              <a:lnSpc>
                <a:spcPts val="841"/>
              </a:lnSpc>
              <a:buNone/>
            </a:pPr>
            <a:r>
              <a:rPr lang="en-US" sz="800" spc="6" kern="0" dirty="0">
                <a:solidFill>
                  <a:srgbClr val="475569"/>
                </a:solidFill>
                <a:latin typeface="Carlito" pitchFamily="34" charset="0"/>
                <a:ea typeface="Carlito" pitchFamily="34" charset="-122"/>
                <a:cs typeface="Carlito" pitchFamily="34" charset="-120"/>
              </a:rPr>
              <a:t>Duplicates removed</a:t>
            </a:r>
            <a:endParaRPr lang="en-US" sz="800" dirty="0"/>
          </a:p>
        </p:txBody>
      </p:sp>
      <p:sp>
        <p:nvSpPr>
          <p:cNvPr id="20" name="Text 18"/>
          <p:cNvSpPr/>
          <p:nvPr/>
        </p:nvSpPr>
        <p:spPr>
          <a:xfrm>
            <a:off x="578644" y="3370287"/>
            <a:ext cx="1728788" cy="210602"/>
          </a:xfrm>
          <a:prstGeom prst="rect">
            <a:avLst/>
          </a:prstGeom>
          <a:noFill/>
          <a:ln/>
        </p:spPr>
        <p:txBody>
          <a:bodyPr wrap="none" lIns="0" tIns="0" rIns="0" bIns="0" rtlCol="0" anchor="t"/>
          <a:lstStyle/>
          <a:p>
            <a:pPr algn="l" indent="0" marL="0">
              <a:lnSpc>
                <a:spcPts val="1536"/>
              </a:lnSpc>
              <a:buNone/>
            </a:pPr>
            <a:r>
              <a:rPr lang="en-US" sz="1463" spc="-29" kern="0" dirty="0">
                <a:solidFill>
                  <a:srgbClr val="134E4A"/>
                </a:solidFill>
                <a:latin typeface="Liberation Sans Narrow" pitchFamily="34" charset="0"/>
                <a:ea typeface="Liberation Sans Narrow" pitchFamily="34" charset="-122"/>
                <a:cs typeface="Liberation Sans Narrow" pitchFamily="34" charset="-120"/>
              </a:rPr>
              <a:t>n = 1.142</a:t>
            </a:r>
            <a:endParaRPr lang="en-US" sz="1463" dirty="0"/>
          </a:p>
        </p:txBody>
      </p:sp>
      <p:sp>
        <p:nvSpPr>
          <p:cNvPr id="21" name="Text 19"/>
          <p:cNvSpPr/>
          <p:nvPr/>
        </p:nvSpPr>
        <p:spPr>
          <a:xfrm>
            <a:off x="578644" y="3903613"/>
            <a:ext cx="1728787" cy="93565"/>
          </a:xfrm>
          <a:prstGeom prst="rect">
            <a:avLst/>
          </a:prstGeom>
          <a:noFill/>
          <a:ln/>
        </p:spPr>
        <p:txBody>
          <a:bodyPr wrap="none" lIns="0" tIns="0" rIns="0" bIns="0" rtlCol="0" anchor="t">
            <a:normAutofit/>
          </a:bodyPr>
          <a:lstStyle/>
          <a:p>
            <a:pPr algn="l" indent="0" marL="0">
              <a:lnSpc>
                <a:spcPts val="841"/>
              </a:lnSpc>
              <a:buNone/>
            </a:pPr>
            <a:r>
              <a:rPr lang="en-US" sz="800" spc="6" kern="0" dirty="0">
                <a:solidFill>
                  <a:srgbClr val="475569"/>
                </a:solidFill>
                <a:latin typeface="Carlito" pitchFamily="34" charset="0"/>
                <a:ea typeface="Carlito" pitchFamily="34" charset="-122"/>
                <a:cs typeface="Carlito" pitchFamily="34" charset="-120"/>
              </a:rPr>
              <a:t>Records screened</a:t>
            </a:r>
            <a:endParaRPr lang="en-US" sz="800" dirty="0"/>
          </a:p>
        </p:txBody>
      </p:sp>
      <p:sp>
        <p:nvSpPr>
          <p:cNvPr id="22" name="Text 20"/>
          <p:cNvSpPr/>
          <p:nvPr/>
        </p:nvSpPr>
        <p:spPr>
          <a:xfrm>
            <a:off x="578644" y="4024610"/>
            <a:ext cx="1728788" cy="195002"/>
          </a:xfrm>
          <a:prstGeom prst="rect">
            <a:avLst/>
          </a:prstGeom>
          <a:noFill/>
          <a:ln/>
        </p:spPr>
        <p:txBody>
          <a:bodyPr wrap="none" lIns="0" tIns="0" rIns="0" bIns="0" rtlCol="0" anchor="t"/>
          <a:lstStyle/>
          <a:p>
            <a:pPr algn="l" indent="0" marL="0">
              <a:lnSpc>
                <a:spcPts val="1536"/>
              </a:lnSpc>
              <a:buNone/>
            </a:pPr>
            <a:r>
              <a:rPr lang="en-US" sz="1463" spc="-29" kern="0" dirty="0">
                <a:solidFill>
                  <a:srgbClr val="134E4A"/>
                </a:solidFill>
                <a:latin typeface="Liberation Sans Narrow" pitchFamily="34" charset="0"/>
                <a:ea typeface="Liberation Sans Narrow" pitchFamily="34" charset="-122"/>
                <a:cs typeface="Liberation Sans Narrow" pitchFamily="34" charset="-120"/>
              </a:rPr>
              <a:t>n = 5.963</a:t>
            </a:r>
            <a:endParaRPr lang="en-US" sz="1463" dirty="0"/>
          </a:p>
        </p:txBody>
      </p:sp>
      <p:sp>
        <p:nvSpPr>
          <p:cNvPr id="23" name="Text 21"/>
          <p:cNvSpPr/>
          <p:nvPr/>
        </p:nvSpPr>
        <p:spPr>
          <a:xfrm>
            <a:off x="2546747" y="1287103"/>
            <a:ext cx="1964531" cy="3064669"/>
          </a:xfrm>
          <a:prstGeom prst="roundRect">
            <a:avLst>
              <a:gd name="adj" fmla="val 5818"/>
            </a:avLst>
          </a:prstGeom>
          <a:solidFill>
            <a:srgbClr val="FFFFFF"/>
          </a:solidFill>
          <a:ln w="7144">
            <a:solidFill>
              <a:srgbClr val="4A8480"/>
            </a:solidFill>
            <a:prstDash val="solid"/>
          </a:ln>
        </p:spPr>
        <p:txBody>
          <a:bodyPr wrap="square" rtlCol="0" anchor="ctr"/>
          <a:lstStyle/>
          <a:p>
            <a:pPr indent="0" marL="0">
              <a:buNone/>
            </a:pPr>
            <a:endParaRPr lang="en-US" dirty="0"/>
          </a:p>
        </p:txBody>
      </p:sp>
      <p:sp>
        <p:nvSpPr>
          <p:cNvPr id="24" name="Text 22"/>
          <p:cNvSpPr/>
          <p:nvPr/>
        </p:nvSpPr>
        <p:spPr>
          <a:xfrm>
            <a:off x="2664619" y="1419262"/>
            <a:ext cx="1159632" cy="354902"/>
          </a:xfrm>
          <a:prstGeom prst="rect">
            <a:avLst/>
          </a:prstGeom>
          <a:noFill/>
          <a:ln/>
        </p:spPr>
        <p:txBody>
          <a:bodyPr wrap="none" lIns="0" tIns="0" rIns="0" bIns="0" rtlCol="0" anchor="t"/>
          <a:lstStyle/>
          <a:p>
            <a:pPr algn="l" indent="0" marL="0">
              <a:lnSpc>
                <a:spcPts val="2588"/>
              </a:lnSpc>
              <a:buNone/>
            </a:pPr>
            <a:r>
              <a:rPr lang="en-US" sz="2588" spc="-78" kern="0" dirty="0">
                <a:solidFill>
                  <a:srgbClr val="134E4A"/>
                </a:solidFill>
                <a:latin typeface="Liberation Sans Narrow" pitchFamily="34" charset="0"/>
                <a:ea typeface="Liberation Sans Narrow" pitchFamily="34" charset="-122"/>
                <a:cs typeface="Liberation Sans Narrow" pitchFamily="34" charset="-120"/>
              </a:rPr>
              <a:t>02</a:t>
            </a:r>
            <a:endParaRPr lang="en-US" sz="2588" dirty="0"/>
          </a:p>
        </p:txBody>
      </p:sp>
      <p:sp>
        <p:nvSpPr>
          <p:cNvPr id="25" name="Text 23"/>
          <p:cNvSpPr/>
          <p:nvPr/>
        </p:nvSpPr>
        <p:spPr>
          <a:xfrm>
            <a:off x="3528477" y="1419262"/>
            <a:ext cx="864930" cy="92003"/>
          </a:xfrm>
          <a:prstGeom prst="rect">
            <a:avLst/>
          </a:prstGeom>
          <a:noFill/>
          <a:ln/>
        </p:spPr>
        <p:txBody>
          <a:bodyPr wrap="none" lIns="0" tIns="0" rIns="0" bIns="0" rtlCol="0" anchor="t">
            <a:normAutofit/>
          </a:bodyPr>
          <a:lstStyle/>
          <a:p>
            <a:pPr algn="r" indent="0" marL="0">
              <a:lnSpc>
                <a:spcPts val="828"/>
              </a:lnSpc>
              <a:buNone/>
            </a:pPr>
            <a:r>
              <a:rPr lang="en-US" sz="800" spc="64" kern="0" dirty="0">
                <a:solidFill>
                  <a:srgbClr val="64748B"/>
                </a:solidFill>
                <a:latin typeface="Carlito" pitchFamily="34" charset="0"/>
                <a:ea typeface="Carlito" pitchFamily="34" charset="-122"/>
                <a:cs typeface="Carlito" pitchFamily="34" charset="-120"/>
              </a:rPr>
              <a:t>FASE</a:t>
            </a:r>
            <a:endParaRPr lang="en-US" sz="800" dirty="0"/>
          </a:p>
        </p:txBody>
      </p:sp>
      <p:sp>
        <p:nvSpPr>
          <p:cNvPr id="26" name="Text 24"/>
          <p:cNvSpPr/>
          <p:nvPr/>
        </p:nvSpPr>
        <p:spPr>
          <a:xfrm>
            <a:off x="3662289" y="1538697"/>
            <a:ext cx="770291" cy="152738"/>
          </a:xfrm>
          <a:prstGeom prst="rect">
            <a:avLst/>
          </a:prstGeom>
          <a:noFill/>
          <a:ln/>
        </p:spPr>
        <p:txBody>
          <a:bodyPr wrap="none" lIns="0" tIns="0" rIns="0" bIns="0" rtlCol="0" anchor="t"/>
          <a:lstStyle/>
          <a:p>
            <a:pPr algn="r" indent="0" marL="0">
              <a:lnSpc>
                <a:spcPts val="1114"/>
              </a:lnSpc>
              <a:buNone/>
            </a:pPr>
            <a:r>
              <a:rPr lang="en-US" sz="1013" dirty="0">
                <a:solidFill>
                  <a:srgbClr val="134E4A"/>
                </a:solidFill>
                <a:latin typeface="Tinos" pitchFamily="34" charset="0"/>
                <a:ea typeface="Tinos" pitchFamily="34" charset="-122"/>
                <a:cs typeface="Tinos" pitchFamily="34" charset="-120"/>
              </a:rPr>
              <a:t>Screening</a:t>
            </a:r>
            <a:endParaRPr lang="en-US" sz="1013" dirty="0"/>
          </a:p>
        </p:txBody>
      </p:sp>
      <p:sp>
        <p:nvSpPr>
          <p:cNvPr id="27" name="Text 25"/>
          <p:cNvSpPr/>
          <p:nvPr/>
        </p:nvSpPr>
        <p:spPr>
          <a:xfrm>
            <a:off x="2664619" y="1847887"/>
            <a:ext cx="1728788" cy="7144"/>
          </a:xfrm>
          <a:prstGeom prst="rect">
            <a:avLst/>
          </a:prstGeom>
          <a:solidFill>
            <a:srgbClr val="E2E8F0"/>
          </a:solidFill>
          <a:ln/>
        </p:spPr>
        <p:txBody>
          <a:bodyPr wrap="square" rtlCol="0" anchor="ctr"/>
          <a:lstStyle/>
          <a:p>
            <a:pPr indent="0" marL="0">
              <a:buNone/>
            </a:pPr>
            <a:endParaRPr lang="en-US" dirty="0"/>
          </a:p>
        </p:txBody>
      </p:sp>
      <p:sp>
        <p:nvSpPr>
          <p:cNvPr id="28" name="Text 26"/>
          <p:cNvSpPr/>
          <p:nvPr/>
        </p:nvSpPr>
        <p:spPr>
          <a:xfrm>
            <a:off x="2664619" y="1940756"/>
            <a:ext cx="1728787" cy="93565"/>
          </a:xfrm>
          <a:prstGeom prst="rect">
            <a:avLst/>
          </a:prstGeom>
          <a:noFill/>
          <a:ln/>
        </p:spPr>
        <p:txBody>
          <a:bodyPr wrap="none" lIns="0" tIns="0" rIns="0" bIns="0" rtlCol="0" anchor="t">
            <a:normAutofit/>
          </a:bodyPr>
          <a:lstStyle/>
          <a:p>
            <a:pPr algn="l" indent="0" marL="0">
              <a:lnSpc>
                <a:spcPts val="841"/>
              </a:lnSpc>
              <a:buNone/>
            </a:pPr>
            <a:r>
              <a:rPr lang="en-US" sz="800" spc="6" kern="0" dirty="0">
                <a:solidFill>
                  <a:srgbClr val="475569"/>
                </a:solidFill>
                <a:latin typeface="Carlito" pitchFamily="34" charset="0"/>
                <a:ea typeface="Carlito" pitchFamily="34" charset="-122"/>
                <a:cs typeface="Carlito" pitchFamily="34" charset="-120"/>
              </a:rPr>
              <a:t>Records screened</a:t>
            </a:r>
            <a:endParaRPr lang="en-US" sz="800" dirty="0"/>
          </a:p>
        </p:txBody>
      </p:sp>
      <p:sp>
        <p:nvSpPr>
          <p:cNvPr id="29" name="Text 27"/>
          <p:cNvSpPr/>
          <p:nvPr/>
        </p:nvSpPr>
        <p:spPr>
          <a:xfrm>
            <a:off x="2664619" y="2061753"/>
            <a:ext cx="1728788" cy="210602"/>
          </a:xfrm>
          <a:prstGeom prst="rect">
            <a:avLst/>
          </a:prstGeom>
          <a:noFill/>
          <a:ln/>
        </p:spPr>
        <p:txBody>
          <a:bodyPr wrap="none" lIns="0" tIns="0" rIns="0" bIns="0" rtlCol="0" anchor="t"/>
          <a:lstStyle/>
          <a:p>
            <a:pPr algn="l" indent="0" marL="0">
              <a:lnSpc>
                <a:spcPts val="1536"/>
              </a:lnSpc>
              <a:buNone/>
            </a:pPr>
            <a:r>
              <a:rPr lang="en-US" sz="1463" spc="-29" kern="0" dirty="0">
                <a:solidFill>
                  <a:srgbClr val="134E4A"/>
                </a:solidFill>
                <a:latin typeface="Liberation Sans Narrow" pitchFamily="34" charset="0"/>
                <a:ea typeface="Liberation Sans Narrow" pitchFamily="34" charset="-122"/>
                <a:cs typeface="Liberation Sans Narrow" pitchFamily="34" charset="-120"/>
              </a:rPr>
              <a:t>n = 5.963</a:t>
            </a:r>
            <a:endParaRPr lang="en-US" sz="1463" dirty="0"/>
          </a:p>
        </p:txBody>
      </p:sp>
      <p:sp>
        <p:nvSpPr>
          <p:cNvPr id="30" name="Text 28"/>
          <p:cNvSpPr/>
          <p:nvPr/>
        </p:nvSpPr>
        <p:spPr>
          <a:xfrm>
            <a:off x="2664619" y="2595079"/>
            <a:ext cx="1728787" cy="93565"/>
          </a:xfrm>
          <a:prstGeom prst="rect">
            <a:avLst/>
          </a:prstGeom>
          <a:noFill/>
          <a:ln/>
        </p:spPr>
        <p:txBody>
          <a:bodyPr wrap="none" lIns="0" tIns="0" rIns="0" bIns="0" rtlCol="0" anchor="t">
            <a:normAutofit/>
          </a:bodyPr>
          <a:lstStyle/>
          <a:p>
            <a:pPr algn="l" indent="0" marL="0">
              <a:lnSpc>
                <a:spcPts val="841"/>
              </a:lnSpc>
              <a:buNone/>
            </a:pPr>
            <a:r>
              <a:rPr lang="en-US" sz="800" spc="6" kern="0" dirty="0">
                <a:solidFill>
                  <a:srgbClr val="475569"/>
                </a:solidFill>
                <a:latin typeface="Carlito" pitchFamily="34" charset="0"/>
                <a:ea typeface="Carlito" pitchFamily="34" charset="-122"/>
                <a:cs typeface="Carlito" pitchFamily="34" charset="-120"/>
              </a:rPr>
              <a:t>Records excluded</a:t>
            </a:r>
            <a:endParaRPr lang="en-US" sz="800" dirty="0"/>
          </a:p>
        </p:txBody>
      </p:sp>
      <p:sp>
        <p:nvSpPr>
          <p:cNvPr id="31" name="Text 29"/>
          <p:cNvSpPr/>
          <p:nvPr/>
        </p:nvSpPr>
        <p:spPr>
          <a:xfrm>
            <a:off x="2664619" y="2716076"/>
            <a:ext cx="1728788" cy="210602"/>
          </a:xfrm>
          <a:prstGeom prst="rect">
            <a:avLst/>
          </a:prstGeom>
          <a:noFill/>
          <a:ln/>
        </p:spPr>
        <p:txBody>
          <a:bodyPr wrap="none" lIns="0" tIns="0" rIns="0" bIns="0" rtlCol="0" anchor="t"/>
          <a:lstStyle/>
          <a:p>
            <a:pPr algn="l" indent="0" marL="0">
              <a:lnSpc>
                <a:spcPts val="1536"/>
              </a:lnSpc>
              <a:buNone/>
            </a:pPr>
            <a:r>
              <a:rPr lang="en-US" sz="1463" spc="-29" kern="0" dirty="0">
                <a:solidFill>
                  <a:srgbClr val="134E4A"/>
                </a:solidFill>
                <a:latin typeface="Liberation Sans Narrow" pitchFamily="34" charset="0"/>
                <a:ea typeface="Liberation Sans Narrow" pitchFamily="34" charset="-122"/>
                <a:cs typeface="Liberation Sans Narrow" pitchFamily="34" charset="-120"/>
              </a:rPr>
              <a:t>n = 5.353</a:t>
            </a:r>
            <a:endParaRPr lang="en-US" sz="1463" dirty="0"/>
          </a:p>
        </p:txBody>
      </p:sp>
      <p:sp>
        <p:nvSpPr>
          <p:cNvPr id="32" name="Text 30"/>
          <p:cNvSpPr/>
          <p:nvPr/>
        </p:nvSpPr>
        <p:spPr>
          <a:xfrm>
            <a:off x="2664619" y="3249290"/>
            <a:ext cx="1832515" cy="93565"/>
          </a:xfrm>
          <a:prstGeom prst="rect">
            <a:avLst/>
          </a:prstGeom>
          <a:noFill/>
          <a:ln/>
        </p:spPr>
        <p:txBody>
          <a:bodyPr wrap="square" lIns="0" tIns="0" rIns="0" bIns="0" rtlCol="0" anchor="t">
            <a:normAutofit/>
          </a:bodyPr>
          <a:lstStyle/>
          <a:p>
            <a:pPr algn="l" indent="0" marL="0">
              <a:lnSpc>
                <a:spcPts val="841"/>
              </a:lnSpc>
              <a:buNone/>
            </a:pPr>
            <a:r>
              <a:rPr lang="en-US" sz="800" spc="6" kern="0" dirty="0">
                <a:solidFill>
                  <a:srgbClr val="475569"/>
                </a:solidFill>
                <a:latin typeface="Carlito" pitchFamily="34" charset="0"/>
                <a:ea typeface="Carlito" pitchFamily="34" charset="-122"/>
                <a:cs typeface="Carlito" pitchFamily="34" charset="-120"/>
              </a:rPr>
              <a:t>Records sought for retrieval</a:t>
            </a:r>
            <a:endParaRPr lang="en-US" sz="800" dirty="0"/>
          </a:p>
        </p:txBody>
      </p:sp>
      <p:sp>
        <p:nvSpPr>
          <p:cNvPr id="33" name="Text 31"/>
          <p:cNvSpPr/>
          <p:nvPr/>
        </p:nvSpPr>
        <p:spPr>
          <a:xfrm>
            <a:off x="2664619" y="3370287"/>
            <a:ext cx="1728788" cy="210602"/>
          </a:xfrm>
          <a:prstGeom prst="rect">
            <a:avLst/>
          </a:prstGeom>
          <a:noFill/>
          <a:ln/>
        </p:spPr>
        <p:txBody>
          <a:bodyPr wrap="none" lIns="0" tIns="0" rIns="0" bIns="0" rtlCol="0" anchor="t"/>
          <a:lstStyle/>
          <a:p>
            <a:pPr algn="l" indent="0" marL="0">
              <a:lnSpc>
                <a:spcPts val="1536"/>
              </a:lnSpc>
              <a:buNone/>
            </a:pPr>
            <a:r>
              <a:rPr lang="en-US" sz="1463" spc="-29" kern="0" dirty="0">
                <a:solidFill>
                  <a:srgbClr val="134E4A"/>
                </a:solidFill>
                <a:latin typeface="Liberation Sans Narrow" pitchFamily="34" charset="0"/>
                <a:ea typeface="Liberation Sans Narrow" pitchFamily="34" charset="-122"/>
                <a:cs typeface="Liberation Sans Narrow" pitchFamily="34" charset="-120"/>
              </a:rPr>
              <a:t>n = 610</a:t>
            </a:r>
            <a:endParaRPr lang="en-US" sz="1463" dirty="0"/>
          </a:p>
        </p:txBody>
      </p:sp>
      <p:sp>
        <p:nvSpPr>
          <p:cNvPr id="34" name="Text 32"/>
          <p:cNvSpPr/>
          <p:nvPr/>
        </p:nvSpPr>
        <p:spPr>
          <a:xfrm>
            <a:off x="2664619" y="3903613"/>
            <a:ext cx="1728787" cy="93565"/>
          </a:xfrm>
          <a:prstGeom prst="rect">
            <a:avLst/>
          </a:prstGeom>
          <a:noFill/>
          <a:ln/>
        </p:spPr>
        <p:txBody>
          <a:bodyPr wrap="none" lIns="0" tIns="0" rIns="0" bIns="0" rtlCol="0" anchor="t">
            <a:normAutofit/>
          </a:bodyPr>
          <a:lstStyle/>
          <a:p>
            <a:pPr algn="l" indent="0" marL="0">
              <a:lnSpc>
                <a:spcPts val="841"/>
              </a:lnSpc>
              <a:buNone/>
            </a:pPr>
            <a:r>
              <a:rPr lang="en-US" sz="800" spc="6" kern="0" dirty="0">
                <a:solidFill>
                  <a:srgbClr val="475569"/>
                </a:solidFill>
                <a:latin typeface="Carlito" pitchFamily="34" charset="0"/>
                <a:ea typeface="Carlito" pitchFamily="34" charset="-122"/>
                <a:cs typeface="Carlito" pitchFamily="34" charset="-120"/>
              </a:rPr>
              <a:t>Records not retrieved</a:t>
            </a:r>
            <a:endParaRPr lang="en-US" sz="800" dirty="0"/>
          </a:p>
        </p:txBody>
      </p:sp>
      <p:sp>
        <p:nvSpPr>
          <p:cNvPr id="35" name="Text 33"/>
          <p:cNvSpPr/>
          <p:nvPr/>
        </p:nvSpPr>
        <p:spPr>
          <a:xfrm>
            <a:off x="2664619" y="4024610"/>
            <a:ext cx="1728788" cy="195002"/>
          </a:xfrm>
          <a:prstGeom prst="rect">
            <a:avLst/>
          </a:prstGeom>
          <a:noFill/>
          <a:ln/>
        </p:spPr>
        <p:txBody>
          <a:bodyPr wrap="none" lIns="0" tIns="0" rIns="0" bIns="0" rtlCol="0" anchor="t"/>
          <a:lstStyle/>
          <a:p>
            <a:pPr algn="l" indent="0" marL="0">
              <a:lnSpc>
                <a:spcPts val="1536"/>
              </a:lnSpc>
              <a:buNone/>
            </a:pPr>
            <a:r>
              <a:rPr lang="en-US" sz="1463" spc="-29" kern="0" dirty="0">
                <a:solidFill>
                  <a:srgbClr val="134E4A"/>
                </a:solidFill>
                <a:latin typeface="Liberation Sans Narrow" pitchFamily="34" charset="0"/>
                <a:ea typeface="Liberation Sans Narrow" pitchFamily="34" charset="-122"/>
                <a:cs typeface="Liberation Sans Narrow" pitchFamily="34" charset="-120"/>
              </a:rPr>
              <a:t>n = 21</a:t>
            </a:r>
            <a:endParaRPr lang="en-US" sz="1463" dirty="0"/>
          </a:p>
        </p:txBody>
      </p:sp>
      <p:sp>
        <p:nvSpPr>
          <p:cNvPr id="36" name="Text 34"/>
          <p:cNvSpPr/>
          <p:nvPr/>
        </p:nvSpPr>
        <p:spPr>
          <a:xfrm>
            <a:off x="4632722" y="1287103"/>
            <a:ext cx="1964531" cy="3064669"/>
          </a:xfrm>
          <a:prstGeom prst="roundRect">
            <a:avLst>
              <a:gd name="adj" fmla="val 5818"/>
            </a:avLst>
          </a:prstGeom>
          <a:solidFill>
            <a:srgbClr val="FFFFFF"/>
          </a:solidFill>
          <a:ln w="7144">
            <a:solidFill>
              <a:srgbClr val="F97316"/>
            </a:solidFill>
            <a:prstDash val="solid"/>
          </a:ln>
        </p:spPr>
        <p:txBody>
          <a:bodyPr wrap="square" rtlCol="0" anchor="ctr"/>
          <a:lstStyle/>
          <a:p>
            <a:pPr indent="0" marL="0">
              <a:buNone/>
            </a:pPr>
            <a:endParaRPr lang="en-US" dirty="0"/>
          </a:p>
        </p:txBody>
      </p:sp>
      <p:sp>
        <p:nvSpPr>
          <p:cNvPr id="37" name="Text 35"/>
          <p:cNvSpPr/>
          <p:nvPr/>
        </p:nvSpPr>
        <p:spPr>
          <a:xfrm>
            <a:off x="4750594" y="1419262"/>
            <a:ext cx="1157064" cy="354902"/>
          </a:xfrm>
          <a:prstGeom prst="rect">
            <a:avLst/>
          </a:prstGeom>
          <a:noFill/>
          <a:ln/>
        </p:spPr>
        <p:txBody>
          <a:bodyPr wrap="none" lIns="0" tIns="0" rIns="0" bIns="0" rtlCol="0" anchor="t"/>
          <a:lstStyle/>
          <a:p>
            <a:pPr algn="l" indent="0" marL="0">
              <a:lnSpc>
                <a:spcPts val="2588"/>
              </a:lnSpc>
              <a:buNone/>
            </a:pPr>
            <a:r>
              <a:rPr lang="en-US" sz="2588" spc="-78" kern="0" dirty="0">
                <a:solidFill>
                  <a:srgbClr val="134E4A"/>
                </a:solidFill>
                <a:latin typeface="Liberation Sans Narrow" pitchFamily="34" charset="0"/>
                <a:ea typeface="Liberation Sans Narrow" pitchFamily="34" charset="-122"/>
                <a:cs typeface="Liberation Sans Narrow" pitchFamily="34" charset="-120"/>
              </a:rPr>
              <a:t>03</a:t>
            </a:r>
            <a:endParaRPr lang="en-US" sz="2588" dirty="0"/>
          </a:p>
        </p:txBody>
      </p:sp>
      <p:sp>
        <p:nvSpPr>
          <p:cNvPr id="38" name="Text 36"/>
          <p:cNvSpPr/>
          <p:nvPr/>
        </p:nvSpPr>
        <p:spPr>
          <a:xfrm>
            <a:off x="5610344" y="1419262"/>
            <a:ext cx="869037" cy="92003"/>
          </a:xfrm>
          <a:prstGeom prst="rect">
            <a:avLst/>
          </a:prstGeom>
          <a:noFill/>
          <a:ln/>
        </p:spPr>
        <p:txBody>
          <a:bodyPr wrap="none" lIns="0" tIns="0" rIns="0" bIns="0" rtlCol="0" anchor="t">
            <a:normAutofit/>
          </a:bodyPr>
          <a:lstStyle/>
          <a:p>
            <a:pPr algn="r" indent="0" marL="0">
              <a:lnSpc>
                <a:spcPts val="828"/>
              </a:lnSpc>
              <a:buNone/>
            </a:pPr>
            <a:r>
              <a:rPr lang="en-US" sz="800" spc="64" kern="0" dirty="0">
                <a:solidFill>
                  <a:srgbClr val="64748B"/>
                </a:solidFill>
                <a:latin typeface="Carlito" pitchFamily="34" charset="0"/>
                <a:ea typeface="Carlito" pitchFamily="34" charset="-122"/>
                <a:cs typeface="Carlito" pitchFamily="34" charset="-120"/>
              </a:rPr>
              <a:t>FASE</a:t>
            </a:r>
            <a:endParaRPr lang="en-US" sz="800" dirty="0"/>
          </a:p>
        </p:txBody>
      </p:sp>
      <p:sp>
        <p:nvSpPr>
          <p:cNvPr id="39" name="Text 37"/>
          <p:cNvSpPr/>
          <p:nvPr/>
        </p:nvSpPr>
        <p:spPr>
          <a:xfrm>
            <a:off x="5697050" y="1538697"/>
            <a:ext cx="928093" cy="152738"/>
          </a:xfrm>
          <a:prstGeom prst="rect">
            <a:avLst/>
          </a:prstGeom>
          <a:noFill/>
          <a:ln/>
        </p:spPr>
        <p:txBody>
          <a:bodyPr wrap="square" lIns="0" tIns="0" rIns="0" bIns="0" rtlCol="0" anchor="t"/>
          <a:lstStyle/>
          <a:p>
            <a:pPr algn="r" indent="0" marL="0">
              <a:lnSpc>
                <a:spcPts val="1114"/>
              </a:lnSpc>
              <a:buNone/>
            </a:pPr>
            <a:r>
              <a:rPr lang="en-US" sz="1013" dirty="0">
                <a:solidFill>
                  <a:srgbClr val="134E4A"/>
                </a:solidFill>
                <a:latin typeface="Tinos" pitchFamily="34" charset="0"/>
                <a:ea typeface="Tinos" pitchFamily="34" charset="-122"/>
                <a:cs typeface="Tinos" pitchFamily="34" charset="-120"/>
              </a:rPr>
              <a:t>Eligibility</a:t>
            </a:r>
            <a:endParaRPr lang="en-US" sz="1013" dirty="0"/>
          </a:p>
        </p:txBody>
      </p:sp>
      <p:sp>
        <p:nvSpPr>
          <p:cNvPr id="40" name="Text 38"/>
          <p:cNvSpPr/>
          <p:nvPr/>
        </p:nvSpPr>
        <p:spPr>
          <a:xfrm>
            <a:off x="4750594" y="1847887"/>
            <a:ext cx="1728788" cy="7144"/>
          </a:xfrm>
          <a:prstGeom prst="rect">
            <a:avLst/>
          </a:prstGeom>
          <a:solidFill>
            <a:srgbClr val="F97316"/>
          </a:solidFill>
          <a:ln/>
        </p:spPr>
        <p:txBody>
          <a:bodyPr wrap="square" rtlCol="0" anchor="ctr"/>
          <a:lstStyle/>
          <a:p>
            <a:pPr indent="0" marL="0">
              <a:buNone/>
            </a:pPr>
            <a:endParaRPr lang="en-US" dirty="0"/>
          </a:p>
        </p:txBody>
      </p:sp>
      <p:sp>
        <p:nvSpPr>
          <p:cNvPr id="41" name="Text 39"/>
          <p:cNvSpPr/>
          <p:nvPr/>
        </p:nvSpPr>
        <p:spPr>
          <a:xfrm>
            <a:off x="4750594" y="1940756"/>
            <a:ext cx="1832515" cy="93565"/>
          </a:xfrm>
          <a:prstGeom prst="rect">
            <a:avLst/>
          </a:prstGeom>
          <a:noFill/>
          <a:ln/>
        </p:spPr>
        <p:txBody>
          <a:bodyPr wrap="square" lIns="0" tIns="0" rIns="0" bIns="0" rtlCol="0" anchor="t">
            <a:normAutofit/>
          </a:bodyPr>
          <a:lstStyle/>
          <a:p>
            <a:pPr algn="l" indent="0" marL="0">
              <a:lnSpc>
                <a:spcPts val="841"/>
              </a:lnSpc>
              <a:buNone/>
            </a:pPr>
            <a:r>
              <a:rPr lang="en-US" sz="800" spc="6" kern="0" dirty="0">
                <a:solidFill>
                  <a:srgbClr val="475569"/>
                </a:solidFill>
                <a:latin typeface="Carlito" pitchFamily="34" charset="0"/>
                <a:ea typeface="Carlito" pitchFamily="34" charset="-122"/>
                <a:cs typeface="Carlito" pitchFamily="34" charset="-120"/>
              </a:rPr>
              <a:t>Records assessed for eligibility</a:t>
            </a:r>
            <a:endParaRPr lang="en-US" sz="800" dirty="0"/>
          </a:p>
        </p:txBody>
      </p:sp>
      <p:sp>
        <p:nvSpPr>
          <p:cNvPr id="42" name="Text 40"/>
          <p:cNvSpPr/>
          <p:nvPr/>
        </p:nvSpPr>
        <p:spPr>
          <a:xfrm>
            <a:off x="4750594" y="2061753"/>
            <a:ext cx="1728788" cy="210602"/>
          </a:xfrm>
          <a:prstGeom prst="rect">
            <a:avLst/>
          </a:prstGeom>
          <a:noFill/>
          <a:ln/>
        </p:spPr>
        <p:txBody>
          <a:bodyPr wrap="none" lIns="0" tIns="0" rIns="0" bIns="0" rtlCol="0" anchor="t"/>
          <a:lstStyle/>
          <a:p>
            <a:pPr algn="l" indent="0" marL="0">
              <a:lnSpc>
                <a:spcPts val="1536"/>
              </a:lnSpc>
              <a:buNone/>
            </a:pPr>
            <a:r>
              <a:rPr lang="en-US" sz="1463" spc="-29" kern="0" dirty="0">
                <a:solidFill>
                  <a:srgbClr val="134E4A"/>
                </a:solidFill>
                <a:latin typeface="Liberation Sans Narrow" pitchFamily="34" charset="0"/>
                <a:ea typeface="Liberation Sans Narrow" pitchFamily="34" charset="-122"/>
                <a:cs typeface="Liberation Sans Narrow" pitchFamily="34" charset="-120"/>
              </a:rPr>
              <a:t>n = 589</a:t>
            </a:r>
            <a:endParaRPr lang="en-US" sz="1463" dirty="0"/>
          </a:p>
        </p:txBody>
      </p:sp>
      <p:sp>
        <p:nvSpPr>
          <p:cNvPr id="43" name="Text 41"/>
          <p:cNvSpPr/>
          <p:nvPr/>
        </p:nvSpPr>
        <p:spPr>
          <a:xfrm>
            <a:off x="4750594" y="2413918"/>
            <a:ext cx="1728787" cy="93565"/>
          </a:xfrm>
          <a:prstGeom prst="rect">
            <a:avLst/>
          </a:prstGeom>
          <a:noFill/>
          <a:ln/>
        </p:spPr>
        <p:txBody>
          <a:bodyPr wrap="none" lIns="0" tIns="0" rIns="0" bIns="0" rtlCol="0" anchor="t">
            <a:normAutofit/>
          </a:bodyPr>
          <a:lstStyle/>
          <a:p>
            <a:pPr algn="l" indent="0" marL="0">
              <a:lnSpc>
                <a:spcPts val="841"/>
              </a:lnSpc>
              <a:buNone/>
            </a:pPr>
            <a:r>
              <a:rPr lang="en-US" sz="800" spc="6" kern="0" dirty="0">
                <a:solidFill>
                  <a:srgbClr val="475569"/>
                </a:solidFill>
                <a:latin typeface="Carlito" pitchFamily="34" charset="0"/>
                <a:ea typeface="Carlito" pitchFamily="34" charset="-122"/>
                <a:cs typeface="Carlito" pitchFamily="34" charset="-120"/>
              </a:rPr>
              <a:t>Reports excluded</a:t>
            </a:r>
            <a:endParaRPr lang="en-US" sz="800" dirty="0"/>
          </a:p>
        </p:txBody>
      </p:sp>
      <p:sp>
        <p:nvSpPr>
          <p:cNvPr id="44" name="Text 42"/>
          <p:cNvSpPr/>
          <p:nvPr/>
        </p:nvSpPr>
        <p:spPr>
          <a:xfrm>
            <a:off x="4750594" y="2534915"/>
            <a:ext cx="1728788" cy="196145"/>
          </a:xfrm>
          <a:prstGeom prst="rect">
            <a:avLst/>
          </a:prstGeom>
          <a:noFill/>
          <a:ln/>
        </p:spPr>
        <p:txBody>
          <a:bodyPr wrap="none" lIns="0" tIns="0" rIns="0" bIns="0" rtlCol="0" anchor="t">
            <a:normAutofit/>
          </a:bodyPr>
          <a:lstStyle/>
          <a:p>
            <a:pPr algn="l" indent="0" marL="0">
              <a:lnSpc>
                <a:spcPts val="1536"/>
              </a:lnSpc>
              <a:buNone/>
            </a:pPr>
            <a:r>
              <a:rPr lang="en-US" sz="1463" spc="-29" kern="0" dirty="0">
                <a:solidFill>
                  <a:srgbClr val="134E4A"/>
                </a:solidFill>
                <a:latin typeface="Liberation Sans Narrow" pitchFamily="34" charset="0"/>
                <a:ea typeface="Liberation Sans Narrow" pitchFamily="34" charset="-122"/>
                <a:cs typeface="Liberation Sans Narrow" pitchFamily="34" charset="-120"/>
              </a:rPr>
              <a:t>n = 462</a:t>
            </a:r>
            <a:endParaRPr lang="en-US" sz="1463" dirty="0"/>
          </a:p>
        </p:txBody>
      </p:sp>
      <p:sp>
        <p:nvSpPr>
          <p:cNvPr id="45" name="Text 43"/>
          <p:cNvSpPr/>
          <p:nvPr/>
        </p:nvSpPr>
        <p:spPr>
          <a:xfrm>
            <a:off x="4750594" y="2758492"/>
            <a:ext cx="1728788" cy="296200"/>
          </a:xfrm>
          <a:prstGeom prst="rect">
            <a:avLst/>
          </a:prstGeom>
          <a:noFill/>
          <a:ln/>
        </p:spPr>
        <p:txBody>
          <a:bodyPr wrap="square" lIns="0" tIns="0" rIns="0" bIns="0" rtlCol="0" anchor="t"/>
          <a:lstStyle/>
          <a:p>
            <a:pPr algn="l" indent="0" marL="0">
              <a:lnSpc>
                <a:spcPts val="797"/>
              </a:lnSpc>
              <a:buNone/>
            </a:pPr>
            <a:r>
              <a:rPr lang="en-US" sz="800" dirty="0">
                <a:solidFill>
                  <a:srgbClr val="64748B"/>
                </a:solidFill>
                <a:latin typeface="Carlito" pitchFamily="34" charset="0"/>
                <a:ea typeface="Carlito" pitchFamily="34" charset="-122"/>
                <a:cs typeface="Carlito" pitchFamily="34" charset="-120"/>
              </a:rPr>
              <a:t>Alasan: 198 tidak sesuai PICO · 158 metodologi lemah · 106 data tidak lengkap</a:t>
            </a:r>
            <a:endParaRPr lang="en-US" sz="800" dirty="0"/>
          </a:p>
        </p:txBody>
      </p:sp>
      <p:sp>
        <p:nvSpPr>
          <p:cNvPr id="46" name="Text 44"/>
          <p:cNvSpPr/>
          <p:nvPr/>
        </p:nvSpPr>
        <p:spPr>
          <a:xfrm>
            <a:off x="4750594" y="3903613"/>
            <a:ext cx="1832515" cy="93565"/>
          </a:xfrm>
          <a:prstGeom prst="rect">
            <a:avLst/>
          </a:prstGeom>
          <a:noFill/>
          <a:ln/>
        </p:spPr>
        <p:txBody>
          <a:bodyPr wrap="square" lIns="0" tIns="0" rIns="0" bIns="0" rtlCol="0" anchor="t">
            <a:normAutofit/>
          </a:bodyPr>
          <a:lstStyle/>
          <a:p>
            <a:pPr algn="l" indent="0" marL="0">
              <a:lnSpc>
                <a:spcPts val="841"/>
              </a:lnSpc>
              <a:buNone/>
            </a:pPr>
            <a:r>
              <a:rPr lang="en-US" sz="800" spc="6" kern="0" dirty="0">
                <a:solidFill>
                  <a:srgbClr val="475569"/>
                </a:solidFill>
                <a:latin typeface="Carlito" pitchFamily="34" charset="0"/>
                <a:ea typeface="Carlito" pitchFamily="34" charset="-122"/>
                <a:cs typeface="Carlito" pitchFamily="34" charset="-120"/>
              </a:rPr>
              <a:t>Studies included in review</a:t>
            </a:r>
            <a:endParaRPr lang="en-US" sz="800" dirty="0"/>
          </a:p>
        </p:txBody>
      </p:sp>
      <p:sp>
        <p:nvSpPr>
          <p:cNvPr id="47" name="Text 45"/>
          <p:cNvSpPr/>
          <p:nvPr/>
        </p:nvSpPr>
        <p:spPr>
          <a:xfrm>
            <a:off x="4750594" y="4024610"/>
            <a:ext cx="1728788" cy="195002"/>
          </a:xfrm>
          <a:prstGeom prst="rect">
            <a:avLst/>
          </a:prstGeom>
          <a:noFill/>
          <a:ln/>
        </p:spPr>
        <p:txBody>
          <a:bodyPr wrap="none" lIns="0" tIns="0" rIns="0" bIns="0" rtlCol="0" anchor="t"/>
          <a:lstStyle/>
          <a:p>
            <a:pPr algn="l" indent="0" marL="0">
              <a:lnSpc>
                <a:spcPts val="1536"/>
              </a:lnSpc>
              <a:buNone/>
            </a:pPr>
            <a:r>
              <a:rPr lang="en-US" sz="1463" spc="-29" kern="0" dirty="0">
                <a:solidFill>
                  <a:srgbClr val="EA680C"/>
                </a:solidFill>
                <a:latin typeface="Liberation Sans Narrow" pitchFamily="34" charset="0"/>
                <a:ea typeface="Liberation Sans Narrow" pitchFamily="34" charset="-122"/>
                <a:cs typeface="Liberation Sans Narrow" pitchFamily="34" charset="-120"/>
              </a:rPr>
              <a:t>n = 127</a:t>
            </a:r>
            <a:endParaRPr lang="en-US" sz="1463" dirty="0"/>
          </a:p>
        </p:txBody>
      </p:sp>
      <p:sp>
        <p:nvSpPr>
          <p:cNvPr id="48" name="Text 46"/>
          <p:cNvSpPr/>
          <p:nvPr/>
        </p:nvSpPr>
        <p:spPr>
          <a:xfrm>
            <a:off x="6718697" y="1287103"/>
            <a:ext cx="1964531" cy="3064669"/>
          </a:xfrm>
          <a:prstGeom prst="roundRect">
            <a:avLst>
              <a:gd name="adj" fmla="val 5818"/>
            </a:avLst>
          </a:prstGeom>
          <a:solidFill>
            <a:srgbClr val="134E4A"/>
          </a:solidFill>
          <a:ln w="7144">
            <a:solidFill>
              <a:srgbClr val="134E4A"/>
            </a:solidFill>
            <a:prstDash val="solid"/>
          </a:ln>
        </p:spPr>
        <p:txBody>
          <a:bodyPr wrap="square" rtlCol="0" anchor="ctr"/>
          <a:lstStyle/>
          <a:p>
            <a:pPr indent="0" marL="0">
              <a:buNone/>
            </a:pPr>
            <a:endParaRPr lang="en-US" dirty="0"/>
          </a:p>
        </p:txBody>
      </p:sp>
      <p:sp>
        <p:nvSpPr>
          <p:cNvPr id="49" name="Text 47"/>
          <p:cNvSpPr/>
          <p:nvPr/>
        </p:nvSpPr>
        <p:spPr>
          <a:xfrm>
            <a:off x="6836569" y="1419262"/>
            <a:ext cx="1214214" cy="354902"/>
          </a:xfrm>
          <a:prstGeom prst="rect">
            <a:avLst/>
          </a:prstGeom>
          <a:noFill/>
          <a:ln/>
        </p:spPr>
        <p:txBody>
          <a:bodyPr wrap="none" lIns="0" tIns="0" rIns="0" bIns="0" rtlCol="0" anchor="t"/>
          <a:lstStyle/>
          <a:p>
            <a:pPr algn="l" indent="0" marL="0">
              <a:lnSpc>
                <a:spcPts val="2588"/>
              </a:lnSpc>
              <a:buNone/>
            </a:pPr>
            <a:r>
              <a:rPr lang="en-US" sz="2588" spc="-78" kern="0" dirty="0">
                <a:solidFill>
                  <a:srgbClr val="FFFFFF"/>
                </a:solidFill>
                <a:latin typeface="Liberation Sans Narrow" pitchFamily="34" charset="0"/>
                <a:ea typeface="Liberation Sans Narrow" pitchFamily="34" charset="-122"/>
                <a:cs typeface="Liberation Sans Narrow" pitchFamily="34" charset="-120"/>
              </a:rPr>
              <a:t>04</a:t>
            </a:r>
            <a:endParaRPr lang="en-US" sz="2588" dirty="0"/>
          </a:p>
        </p:txBody>
      </p:sp>
      <p:sp>
        <p:nvSpPr>
          <p:cNvPr id="50" name="Text 48"/>
          <p:cNvSpPr/>
          <p:nvPr/>
        </p:nvSpPr>
        <p:spPr>
          <a:xfrm>
            <a:off x="7787759" y="1419262"/>
            <a:ext cx="777597" cy="92003"/>
          </a:xfrm>
          <a:prstGeom prst="rect">
            <a:avLst/>
          </a:prstGeom>
          <a:noFill/>
          <a:ln/>
        </p:spPr>
        <p:txBody>
          <a:bodyPr wrap="none" lIns="0" tIns="0" rIns="0" bIns="0" rtlCol="0" anchor="t">
            <a:normAutofit/>
          </a:bodyPr>
          <a:lstStyle/>
          <a:p>
            <a:pPr algn="r" indent="0" marL="0">
              <a:lnSpc>
                <a:spcPts val="828"/>
              </a:lnSpc>
              <a:buNone/>
            </a:pPr>
            <a:r>
              <a:rPr lang="en-US" sz="800" spc="64" kern="0" dirty="0">
                <a:solidFill>
                  <a:srgbClr val="FFFFFF">
                    <a:alpha val="70000"/>
                  </a:srgbClr>
                </a:solidFill>
                <a:latin typeface="Carlito" pitchFamily="34" charset="0"/>
                <a:ea typeface="Carlito" pitchFamily="34" charset="-122"/>
                <a:cs typeface="Carlito" pitchFamily="34" charset="-120"/>
              </a:rPr>
              <a:t>FASE</a:t>
            </a:r>
            <a:endParaRPr lang="en-US" sz="800" dirty="0"/>
          </a:p>
        </p:txBody>
      </p:sp>
      <p:sp>
        <p:nvSpPr>
          <p:cNvPr id="51" name="Text 49"/>
          <p:cNvSpPr/>
          <p:nvPr/>
        </p:nvSpPr>
        <p:spPr>
          <a:xfrm>
            <a:off x="7908623" y="1538697"/>
            <a:ext cx="691389" cy="152738"/>
          </a:xfrm>
          <a:prstGeom prst="rect">
            <a:avLst/>
          </a:prstGeom>
          <a:noFill/>
          <a:ln/>
        </p:spPr>
        <p:txBody>
          <a:bodyPr wrap="none" lIns="0" tIns="0" rIns="0" bIns="0" rtlCol="0" anchor="t"/>
          <a:lstStyle/>
          <a:p>
            <a:pPr algn="r" indent="0" marL="0">
              <a:lnSpc>
                <a:spcPts val="1114"/>
              </a:lnSpc>
              <a:buNone/>
            </a:pPr>
            <a:r>
              <a:rPr lang="en-US" sz="1013" dirty="0">
                <a:solidFill>
                  <a:srgbClr val="FFFFFF"/>
                </a:solidFill>
                <a:latin typeface="Tinos" pitchFamily="34" charset="0"/>
                <a:ea typeface="Tinos" pitchFamily="34" charset="-122"/>
                <a:cs typeface="Tinos" pitchFamily="34" charset="-120"/>
              </a:rPr>
              <a:t>Included</a:t>
            </a:r>
            <a:endParaRPr lang="en-US" sz="1013" dirty="0"/>
          </a:p>
        </p:txBody>
      </p:sp>
      <p:sp>
        <p:nvSpPr>
          <p:cNvPr id="52" name="Text 50"/>
          <p:cNvSpPr/>
          <p:nvPr/>
        </p:nvSpPr>
        <p:spPr>
          <a:xfrm>
            <a:off x="6836569" y="1847887"/>
            <a:ext cx="1728788" cy="7144"/>
          </a:xfrm>
          <a:prstGeom prst="rect">
            <a:avLst/>
          </a:prstGeom>
          <a:solidFill>
            <a:srgbClr val="FFFFFF">
              <a:alpha val="25000"/>
            </a:srgbClr>
          </a:solidFill>
          <a:ln/>
        </p:spPr>
        <p:txBody>
          <a:bodyPr wrap="square" rtlCol="0" anchor="ctr"/>
          <a:lstStyle/>
          <a:p>
            <a:pPr indent="0" marL="0">
              <a:buNone/>
            </a:pPr>
            <a:endParaRPr lang="en-US" dirty="0"/>
          </a:p>
        </p:txBody>
      </p:sp>
      <p:sp>
        <p:nvSpPr>
          <p:cNvPr id="53" name="Text 51"/>
          <p:cNvSpPr/>
          <p:nvPr/>
        </p:nvSpPr>
        <p:spPr>
          <a:xfrm>
            <a:off x="6836569" y="1940756"/>
            <a:ext cx="1832515" cy="93565"/>
          </a:xfrm>
          <a:prstGeom prst="rect">
            <a:avLst/>
          </a:prstGeom>
          <a:noFill/>
          <a:ln/>
        </p:spPr>
        <p:txBody>
          <a:bodyPr wrap="square" lIns="0" tIns="0" rIns="0" bIns="0" rtlCol="0" anchor="t">
            <a:normAutofit/>
          </a:bodyPr>
          <a:lstStyle/>
          <a:p>
            <a:pPr algn="l" indent="0" marL="0">
              <a:lnSpc>
                <a:spcPts val="841"/>
              </a:lnSpc>
              <a:buNone/>
            </a:pPr>
            <a:r>
              <a:rPr lang="en-US" sz="800" dirty="0">
                <a:solidFill>
                  <a:srgbClr val="FFFFFF">
                    <a:alpha val="75000"/>
                  </a:srgbClr>
                </a:solidFill>
                <a:latin typeface="Carlito" pitchFamily="34" charset="0"/>
                <a:ea typeface="Carlito" pitchFamily="34" charset="-122"/>
                <a:cs typeface="Carlito" pitchFamily="34" charset="-120"/>
              </a:rPr>
              <a:t>Studies included in review</a:t>
            </a:r>
            <a:endParaRPr lang="en-US" sz="800" dirty="0"/>
          </a:p>
        </p:txBody>
      </p:sp>
      <p:sp>
        <p:nvSpPr>
          <p:cNvPr id="54" name="Text 52"/>
          <p:cNvSpPr/>
          <p:nvPr/>
        </p:nvSpPr>
        <p:spPr>
          <a:xfrm>
            <a:off x="6836569" y="2061753"/>
            <a:ext cx="1728788" cy="210602"/>
          </a:xfrm>
          <a:prstGeom prst="rect">
            <a:avLst/>
          </a:prstGeom>
          <a:noFill/>
          <a:ln/>
        </p:spPr>
        <p:txBody>
          <a:bodyPr wrap="none" lIns="0" tIns="0" rIns="0" bIns="0" rtlCol="0" anchor="t"/>
          <a:lstStyle/>
          <a:p>
            <a:pPr algn="l" indent="0" marL="0">
              <a:lnSpc>
                <a:spcPts val="1536"/>
              </a:lnSpc>
              <a:buNone/>
            </a:pPr>
            <a:r>
              <a:rPr lang="en-US" sz="1463" spc="-29" kern="0" dirty="0">
                <a:solidFill>
                  <a:srgbClr val="F97316"/>
                </a:solidFill>
                <a:latin typeface="Liberation Sans Narrow" pitchFamily="34" charset="0"/>
                <a:ea typeface="Liberation Sans Narrow" pitchFamily="34" charset="-122"/>
                <a:cs typeface="Liberation Sans Narrow" pitchFamily="34" charset="-120"/>
              </a:rPr>
              <a:t>n = 127</a:t>
            </a:r>
            <a:endParaRPr lang="en-US" sz="1463" dirty="0"/>
          </a:p>
        </p:txBody>
      </p:sp>
      <p:sp>
        <p:nvSpPr>
          <p:cNvPr id="55" name="Text 53"/>
          <p:cNvSpPr/>
          <p:nvPr/>
        </p:nvSpPr>
        <p:spPr>
          <a:xfrm>
            <a:off x="6836569" y="2671763"/>
            <a:ext cx="1832515" cy="93565"/>
          </a:xfrm>
          <a:prstGeom prst="rect">
            <a:avLst/>
          </a:prstGeom>
          <a:noFill/>
          <a:ln/>
        </p:spPr>
        <p:txBody>
          <a:bodyPr wrap="square" lIns="0" tIns="0" rIns="0" bIns="0" rtlCol="0" anchor="t">
            <a:normAutofit/>
          </a:bodyPr>
          <a:lstStyle/>
          <a:p>
            <a:pPr algn="l" indent="0" marL="0">
              <a:lnSpc>
                <a:spcPts val="841"/>
              </a:lnSpc>
              <a:buNone/>
            </a:pPr>
            <a:r>
              <a:rPr lang="en-US" sz="647" dirty="0">
                <a:solidFill>
                  <a:srgbClr val="FFFFFF">
                    <a:alpha val="75000"/>
                  </a:srgbClr>
                </a:solidFill>
                <a:latin typeface="Carlito" pitchFamily="34" charset="0"/>
                <a:ea typeface="Carlito" pitchFamily="34" charset="-122"/>
                <a:cs typeface="Carlito" pitchFamily="34" charset="-120"/>
              </a:rPr>
              <a:t>Studies included in meta-analysis</a:t>
            </a:r>
            <a:endParaRPr lang="en-US" sz="647" dirty="0"/>
          </a:p>
        </p:txBody>
      </p:sp>
      <p:sp>
        <p:nvSpPr>
          <p:cNvPr id="56" name="Text 54"/>
          <p:cNvSpPr/>
          <p:nvPr/>
        </p:nvSpPr>
        <p:spPr>
          <a:xfrm>
            <a:off x="6836569" y="2792760"/>
            <a:ext cx="1728788" cy="210602"/>
          </a:xfrm>
          <a:prstGeom prst="rect">
            <a:avLst/>
          </a:prstGeom>
          <a:noFill/>
          <a:ln/>
        </p:spPr>
        <p:txBody>
          <a:bodyPr wrap="none" lIns="0" tIns="0" rIns="0" bIns="0" rtlCol="0" anchor="t"/>
          <a:lstStyle/>
          <a:p>
            <a:pPr algn="l" indent="0" marL="0">
              <a:lnSpc>
                <a:spcPts val="1536"/>
              </a:lnSpc>
              <a:buNone/>
            </a:pPr>
            <a:r>
              <a:rPr lang="en-US" sz="1463" spc="-29" kern="0" dirty="0">
                <a:solidFill>
                  <a:srgbClr val="F97316"/>
                </a:solidFill>
                <a:latin typeface="Liberation Sans Narrow" pitchFamily="34" charset="0"/>
                <a:ea typeface="Liberation Sans Narrow" pitchFamily="34" charset="-122"/>
                <a:cs typeface="Liberation Sans Narrow" pitchFamily="34" charset="-120"/>
              </a:rPr>
              <a:t>n = 68</a:t>
            </a:r>
            <a:endParaRPr lang="en-US" sz="1463" dirty="0"/>
          </a:p>
        </p:txBody>
      </p:sp>
      <p:sp>
        <p:nvSpPr>
          <p:cNvPr id="57" name="Text 55"/>
          <p:cNvSpPr/>
          <p:nvPr/>
        </p:nvSpPr>
        <p:spPr>
          <a:xfrm>
            <a:off x="6836569" y="3402881"/>
            <a:ext cx="1728788" cy="93565"/>
          </a:xfrm>
          <a:prstGeom prst="rect">
            <a:avLst/>
          </a:prstGeom>
          <a:noFill/>
          <a:ln/>
        </p:spPr>
        <p:txBody>
          <a:bodyPr wrap="none" lIns="0" tIns="0" rIns="0" bIns="0" rtlCol="0" anchor="t">
            <a:normAutofit/>
          </a:bodyPr>
          <a:lstStyle/>
          <a:p>
            <a:pPr algn="l" indent="0" marL="0">
              <a:lnSpc>
                <a:spcPts val="841"/>
              </a:lnSpc>
              <a:buNone/>
            </a:pPr>
            <a:r>
              <a:rPr lang="en-US" sz="800" dirty="0">
                <a:solidFill>
                  <a:srgbClr val="FFFFFF">
                    <a:alpha val="75000"/>
                  </a:srgbClr>
                </a:solidFill>
                <a:latin typeface="Carlito" pitchFamily="34" charset="0"/>
                <a:ea typeface="Carlito" pitchFamily="34" charset="-122"/>
                <a:cs typeface="Carlito" pitchFamily="34" charset="-120"/>
              </a:rPr>
              <a:t>Total reports</a:t>
            </a:r>
            <a:endParaRPr lang="en-US" sz="800" dirty="0"/>
          </a:p>
        </p:txBody>
      </p:sp>
      <p:sp>
        <p:nvSpPr>
          <p:cNvPr id="58" name="Text 56"/>
          <p:cNvSpPr/>
          <p:nvPr/>
        </p:nvSpPr>
        <p:spPr>
          <a:xfrm>
            <a:off x="6836569" y="3523878"/>
            <a:ext cx="1728788" cy="210602"/>
          </a:xfrm>
          <a:prstGeom prst="rect">
            <a:avLst/>
          </a:prstGeom>
          <a:noFill/>
          <a:ln/>
        </p:spPr>
        <p:txBody>
          <a:bodyPr wrap="none" lIns="0" tIns="0" rIns="0" bIns="0" rtlCol="0" anchor="t"/>
          <a:lstStyle/>
          <a:p>
            <a:pPr algn="l" indent="0" marL="0">
              <a:lnSpc>
                <a:spcPts val="1536"/>
              </a:lnSpc>
              <a:buNone/>
            </a:pPr>
            <a:r>
              <a:rPr lang="en-US" sz="1463" spc="-29" kern="0" dirty="0">
                <a:solidFill>
                  <a:srgbClr val="F97316"/>
                </a:solidFill>
                <a:latin typeface="Liberation Sans Narrow" pitchFamily="34" charset="0"/>
                <a:ea typeface="Liberation Sans Narrow" pitchFamily="34" charset="-122"/>
                <a:cs typeface="Liberation Sans Narrow" pitchFamily="34" charset="-120"/>
              </a:rPr>
              <a:t>n = 134</a:t>
            </a:r>
            <a:endParaRPr lang="en-US" sz="1463" dirty="0"/>
          </a:p>
        </p:txBody>
      </p:sp>
      <p:sp>
        <p:nvSpPr>
          <p:cNvPr id="59" name="Text 57"/>
          <p:cNvSpPr/>
          <p:nvPr/>
        </p:nvSpPr>
        <p:spPr>
          <a:xfrm>
            <a:off x="6836569" y="4076737"/>
            <a:ext cx="142875" cy="142875"/>
          </a:xfrm>
          <a:prstGeom prst="rect">
            <a:avLst/>
          </a:prstGeom>
          <a:noFill/>
          <a:ln/>
        </p:spPr>
        <p:txBody>
          <a:bodyPr wrap="none" lIns="0" tIns="0" rIns="0" bIns="0" rtlCol="0" anchor="ctr"/>
          <a:lstStyle/>
          <a:p>
            <a:pPr algn="ctr" indent="0" marL="0">
              <a:buNone/>
            </a:pPr>
            <a:r>
              <a:rPr lang="en-US" sz="1406" dirty="0">
                <a:solidFill>
                  <a:srgbClr val="F97316"/>
                </a:solidFill>
                <a:latin typeface="Segoe UI Symbol" pitchFamily="34" charset="0"/>
                <a:ea typeface="Segoe UI Symbol" pitchFamily="34" charset="-122"/>
                <a:cs typeface="Segoe UI Symbol" pitchFamily="34" charset="-120"/>
              </a:rPr>
              <a:t>✓</a:t>
            </a:r>
            <a:endParaRPr lang="en-US" sz="1406" dirty="0"/>
          </a:p>
        </p:txBody>
      </p:sp>
      <p:sp>
        <p:nvSpPr>
          <p:cNvPr id="60" name="Text 58"/>
          <p:cNvSpPr/>
          <p:nvPr/>
        </p:nvSpPr>
        <p:spPr>
          <a:xfrm>
            <a:off x="7022306" y="4090020"/>
            <a:ext cx="1543050" cy="129592"/>
          </a:xfrm>
          <a:prstGeom prst="rect">
            <a:avLst/>
          </a:prstGeom>
          <a:noFill/>
          <a:ln/>
        </p:spPr>
        <p:txBody>
          <a:bodyPr wrap="none" lIns="0" tIns="0" rIns="0" bIns="0" rtlCol="0" anchor="t"/>
          <a:lstStyle/>
          <a:p>
            <a:pPr algn="l" indent="0" marL="0">
              <a:lnSpc>
                <a:spcPts val="915"/>
              </a:lnSpc>
              <a:buNone/>
            </a:pPr>
            <a:r>
              <a:rPr lang="en-US" sz="800" spc="47" kern="0" dirty="0">
                <a:solidFill>
                  <a:srgbClr val="FFFFFF">
                    <a:alpha val="85000"/>
                  </a:srgbClr>
                </a:solidFill>
                <a:latin typeface="Carlito" pitchFamily="34" charset="0"/>
                <a:ea typeface="Carlito" pitchFamily="34" charset="-122"/>
                <a:cs typeface="Carlito" pitchFamily="34" charset="-120"/>
              </a:rPr>
              <a:t>FINAL SYNTHESIS SET</a:t>
            </a:r>
            <a:endParaRPr lang="en-US" sz="800" dirty="0"/>
          </a:p>
        </p:txBody>
      </p:sp>
      <p:sp>
        <p:nvSpPr>
          <p:cNvPr id="61" name="Text 59"/>
          <p:cNvSpPr/>
          <p:nvPr/>
        </p:nvSpPr>
        <p:spPr>
          <a:xfrm>
            <a:off x="457200" y="4455356"/>
            <a:ext cx="8229600" cy="153526"/>
          </a:xfrm>
          <a:prstGeom prst="rect">
            <a:avLst/>
          </a:prstGeom>
          <a:noFill/>
          <a:ln/>
        </p:spPr>
        <p:txBody>
          <a:bodyPr wrap="square" lIns="0" tIns="0" rIns="0" bIns="0" rtlCol="0" anchor="t"/>
          <a:lstStyle/>
          <a:p>
            <a:pPr algn="l" indent="0" marL="0">
              <a:lnSpc>
                <a:spcPts val="866"/>
              </a:lnSpc>
              <a:buNone/>
            </a:pPr>
            <a:r>
              <a:rPr lang="en-US" sz="619" i="1" dirty="0">
                <a:solidFill>
                  <a:srgbClr val="64748B"/>
                </a:solidFill>
                <a:latin typeface="Carlito" pitchFamily="34" charset="0"/>
                <a:ea typeface="Carlito" pitchFamily="34" charset="-122"/>
                <a:cs typeface="Carlito" pitchFamily="34" charset="-120"/>
              </a:rPr>
              <a:t>Angka awal (n = 7.058 Scopus) berdasarkan data aktual; angka downstream ilustratif sesuai rasio funnel SLR tipikal. Template resmi: PRISMA 2020 flow diagram (Page et al., 2021).</a:t>
            </a:r>
            <a:endParaRPr lang="en-US" sz="619"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8"/>
        </a:solidFill>
      </p:bgPr>
    </p:bg>
    <p:spTree>
      <p:nvGrpSpPr>
        <p:cNvPr id="1" name=""/>
        <p:cNvGrpSpPr/>
        <p:nvPr/>
      </p:nvGrpSpPr>
      <p:grpSpPr>
        <a:xfrm>
          <a:off x="0" y="0"/>
          <a:ext cx="0" cy="0"/>
          <a:chOff x="0" y="0"/>
          <a:chExt cx="0" cy="0"/>
        </a:xfrm>
      </p:grpSpPr>
      <p:sp>
        <p:nvSpPr>
          <p:cNvPr id="2" name="Text 0"/>
          <p:cNvSpPr/>
          <p:nvPr/>
        </p:nvSpPr>
        <p:spPr>
          <a:xfrm>
            <a:off x="7071512" y="-214312"/>
            <a:ext cx="2072488" cy="1234440"/>
          </a:xfrm>
          <a:prstGeom prst="rect">
            <a:avLst/>
          </a:prstGeom>
          <a:noFill/>
          <a:ln/>
        </p:spPr>
        <p:txBody>
          <a:bodyPr wrap="square" lIns="0" tIns="0" rIns="0" bIns="0" rtlCol="0" anchor="t"/>
          <a:lstStyle/>
          <a:p>
            <a:pPr algn="l" indent="0" marL="0">
              <a:lnSpc>
                <a:spcPts val="9000"/>
              </a:lnSpc>
              <a:buNone/>
            </a:pPr>
            <a:r>
              <a:rPr lang="en-US" sz="9000" dirty="0">
                <a:solidFill>
                  <a:srgbClr val="134E4A">
                    <a:alpha val="5000"/>
                  </a:srgbClr>
                </a:solidFill>
                <a:latin typeface="Liberation Sans Narrow" pitchFamily="34" charset="0"/>
                <a:ea typeface="Liberation Sans Narrow" pitchFamily="34" charset="-122"/>
                <a:cs typeface="Liberation Sans Narrow" pitchFamily="34" charset="-120"/>
              </a:rPr>
              <a:t>03</a:t>
            </a:r>
            <a:endParaRPr lang="en-US" sz="9000" dirty="0"/>
          </a:p>
        </p:txBody>
      </p:sp>
      <p:sp>
        <p:nvSpPr>
          <p:cNvPr id="3" name="Shape 1"/>
          <p:cNvSpPr/>
          <p:nvPr/>
        </p:nvSpPr>
        <p:spPr>
          <a:xfrm>
            <a:off x="457200" y="994209"/>
            <a:ext cx="428625" cy="0"/>
          </a:xfrm>
          <a:prstGeom prst="line">
            <a:avLst/>
          </a:prstGeom>
          <a:noFill/>
          <a:ln w="21431">
            <a:solidFill>
              <a:srgbClr val="134E4A"/>
            </a:solidFill>
            <a:prstDash val="solid"/>
          </a:ln>
        </p:spPr>
      </p:sp>
      <p:sp>
        <p:nvSpPr>
          <p:cNvPr id="4" name="Shape 2"/>
          <p:cNvSpPr/>
          <p:nvPr/>
        </p:nvSpPr>
        <p:spPr>
          <a:xfrm>
            <a:off x="4657725" y="1137084"/>
            <a:ext cx="4029075" cy="0"/>
          </a:xfrm>
          <a:prstGeom prst="line">
            <a:avLst/>
          </a:prstGeom>
          <a:noFill/>
          <a:ln w="7144">
            <a:solidFill>
              <a:srgbClr val="D8DEE2"/>
            </a:solidFill>
            <a:prstDash val="solid"/>
          </a:ln>
        </p:spPr>
      </p:sp>
      <p:sp>
        <p:nvSpPr>
          <p:cNvPr id="5" name="Shape 3"/>
          <p:cNvSpPr/>
          <p:nvPr/>
        </p:nvSpPr>
        <p:spPr>
          <a:xfrm>
            <a:off x="8683228" y="1133512"/>
            <a:ext cx="0" cy="3013770"/>
          </a:xfrm>
          <a:prstGeom prst="line">
            <a:avLst/>
          </a:prstGeom>
          <a:noFill/>
          <a:ln w="7144">
            <a:solidFill>
              <a:srgbClr val="D8DEE2"/>
            </a:solidFill>
            <a:prstDash val="solid"/>
          </a:ln>
        </p:spPr>
      </p:sp>
      <p:sp>
        <p:nvSpPr>
          <p:cNvPr id="6" name="Shape 4"/>
          <p:cNvSpPr/>
          <p:nvPr/>
        </p:nvSpPr>
        <p:spPr>
          <a:xfrm>
            <a:off x="4657725" y="4143710"/>
            <a:ext cx="4029075" cy="0"/>
          </a:xfrm>
          <a:prstGeom prst="line">
            <a:avLst/>
          </a:prstGeom>
          <a:noFill/>
          <a:ln w="7144">
            <a:solidFill>
              <a:srgbClr val="D8DEE2"/>
            </a:solidFill>
            <a:prstDash val="solid"/>
          </a:ln>
        </p:spPr>
      </p:sp>
      <p:sp>
        <p:nvSpPr>
          <p:cNvPr id="7" name="Shape 5"/>
          <p:cNvSpPr/>
          <p:nvPr/>
        </p:nvSpPr>
        <p:spPr>
          <a:xfrm>
            <a:off x="4672013" y="1133512"/>
            <a:ext cx="0" cy="3013770"/>
          </a:xfrm>
          <a:prstGeom prst="line">
            <a:avLst/>
          </a:prstGeom>
          <a:noFill/>
          <a:ln w="28575">
            <a:solidFill>
              <a:srgbClr val="F97316"/>
            </a:solidFill>
            <a:prstDash val="solid"/>
          </a:ln>
        </p:spPr>
      </p:sp>
      <p:sp>
        <p:nvSpPr>
          <p:cNvPr id="8" name="Shape 6"/>
          <p:cNvSpPr/>
          <p:nvPr/>
        </p:nvSpPr>
        <p:spPr>
          <a:xfrm>
            <a:off x="4857750" y="2380655"/>
            <a:ext cx="3650456" cy="0"/>
          </a:xfrm>
          <a:prstGeom prst="line">
            <a:avLst/>
          </a:prstGeom>
          <a:noFill/>
          <a:ln w="7144">
            <a:solidFill>
              <a:srgbClr val="E2E8F0"/>
            </a:solidFill>
            <a:prstDash val="dash"/>
          </a:ln>
        </p:spPr>
      </p:sp>
      <p:sp>
        <p:nvSpPr>
          <p:cNvPr id="9" name="Shape 7"/>
          <p:cNvSpPr/>
          <p:nvPr/>
        </p:nvSpPr>
        <p:spPr>
          <a:xfrm>
            <a:off x="4857750" y="2800796"/>
            <a:ext cx="3650456" cy="0"/>
          </a:xfrm>
          <a:prstGeom prst="line">
            <a:avLst/>
          </a:prstGeom>
          <a:noFill/>
          <a:ln w="7144">
            <a:solidFill>
              <a:srgbClr val="E2E8F0"/>
            </a:solidFill>
            <a:prstDash val="dash"/>
          </a:ln>
        </p:spPr>
      </p:sp>
      <p:sp>
        <p:nvSpPr>
          <p:cNvPr id="10" name="Shape 8"/>
          <p:cNvSpPr/>
          <p:nvPr/>
        </p:nvSpPr>
        <p:spPr>
          <a:xfrm>
            <a:off x="4857750" y="3220938"/>
            <a:ext cx="3650456" cy="0"/>
          </a:xfrm>
          <a:prstGeom prst="line">
            <a:avLst/>
          </a:prstGeom>
          <a:noFill/>
          <a:ln w="7144">
            <a:solidFill>
              <a:srgbClr val="E2E8F0"/>
            </a:solidFill>
            <a:prstDash val="dash"/>
          </a:ln>
        </p:spPr>
      </p:sp>
      <p:sp>
        <p:nvSpPr>
          <p:cNvPr id="11" name="Shape 9"/>
          <p:cNvSpPr/>
          <p:nvPr/>
        </p:nvSpPr>
        <p:spPr>
          <a:xfrm>
            <a:off x="4857750" y="3726805"/>
            <a:ext cx="3650456" cy="0"/>
          </a:xfrm>
          <a:prstGeom prst="line">
            <a:avLst/>
          </a:prstGeom>
          <a:noFill/>
          <a:ln w="7144">
            <a:solidFill>
              <a:srgbClr val="E2E8F0"/>
            </a:solidFill>
            <a:prstDash val="solid"/>
          </a:ln>
        </p:spPr>
      </p:sp>
      <p:sp>
        <p:nvSpPr>
          <p:cNvPr id="12" name="Text 10"/>
          <p:cNvSpPr/>
          <p:nvPr/>
        </p:nvSpPr>
        <p:spPr>
          <a:xfrm>
            <a:off x="457200" y="160051"/>
            <a:ext cx="1113086" cy="212777"/>
          </a:xfrm>
          <a:prstGeom prst="roundRect">
            <a:avLst>
              <a:gd name="adj" fmla="val 4472041"/>
            </a:avLst>
          </a:prstGeom>
          <a:solidFill>
            <a:srgbClr val="E0ECEB"/>
          </a:solidFill>
          <a:ln/>
        </p:spPr>
        <p:txBody>
          <a:bodyPr wrap="square" rtlCol="0" anchor="ctr"/>
          <a:lstStyle/>
          <a:p>
            <a:pPr indent="0" marL="0">
              <a:buNone/>
            </a:pPr>
            <a:endParaRPr lang="en-US" dirty="0"/>
          </a:p>
        </p:txBody>
      </p:sp>
      <p:sp>
        <p:nvSpPr>
          <p:cNvPr id="13" name="Text 11"/>
          <p:cNvSpPr/>
          <p:nvPr/>
        </p:nvSpPr>
        <p:spPr>
          <a:xfrm>
            <a:off x="457200" y="171450"/>
            <a:ext cx="1113086" cy="189979"/>
          </a:xfrm>
          <a:prstGeom prst="rect">
            <a:avLst/>
          </a:prstGeom>
          <a:noFill/>
          <a:ln/>
        </p:spPr>
        <p:txBody>
          <a:bodyPr wrap="none" lIns="0" tIns="0" rIns="0" bIns="0" rtlCol="0" anchor="ctr"/>
          <a:lstStyle/>
          <a:p>
            <a:pPr algn="ctr" indent="0" marL="0">
              <a:lnSpc>
                <a:spcPts val="1046"/>
              </a:lnSpc>
              <a:buNone/>
            </a:pPr>
            <a:r>
              <a:rPr lang="en-US" sz="800" spc="27" kern="0" dirty="0">
                <a:solidFill>
                  <a:srgbClr val="134E4A"/>
                </a:solidFill>
                <a:latin typeface="Liberation Sans Narrow" pitchFamily="34" charset="0"/>
                <a:ea typeface="Liberation Sans Narrow" pitchFamily="34" charset="-122"/>
                <a:cs typeface="Liberation Sans Narrow" pitchFamily="34" charset="-120"/>
              </a:rPr>
              <a:t>BAB 03 · EKSEKUSI</a:t>
            </a:r>
            <a:endParaRPr lang="en-US" sz="800" dirty="0"/>
          </a:p>
        </p:txBody>
      </p:sp>
      <p:sp>
        <p:nvSpPr>
          <p:cNvPr id="14" name="Text 12"/>
          <p:cNvSpPr/>
          <p:nvPr/>
        </p:nvSpPr>
        <p:spPr>
          <a:xfrm>
            <a:off x="1656011" y="205494"/>
            <a:ext cx="1517111" cy="170047"/>
          </a:xfrm>
          <a:prstGeom prst="rect">
            <a:avLst/>
          </a:prstGeom>
          <a:noFill/>
          <a:ln/>
        </p:spPr>
        <p:txBody>
          <a:bodyPr wrap="none" lIns="0" tIns="0" rIns="0" bIns="0" rtlCol="0" anchor="t"/>
          <a:lstStyle/>
          <a:p>
            <a:pPr algn="l" indent="0" marL="0">
              <a:lnSpc>
                <a:spcPts val="959"/>
              </a:lnSpc>
              <a:buNone/>
            </a:pPr>
            <a:r>
              <a:rPr lang="en-US" sz="619" spc="50" kern="0" dirty="0">
                <a:solidFill>
                  <a:srgbClr val="64748B"/>
                </a:solidFill>
                <a:latin typeface="Carlito" pitchFamily="34" charset="0"/>
                <a:ea typeface="Carlito" pitchFamily="34" charset="-122"/>
                <a:cs typeface="Carlito" pitchFamily="34" charset="-120"/>
              </a:rPr>
              <a:t>PELAKSANAAN &amp; PELAPORAN</a:t>
            </a:r>
            <a:endParaRPr lang="en-US" sz="619" dirty="0"/>
          </a:p>
        </p:txBody>
      </p:sp>
      <p:sp>
        <p:nvSpPr>
          <p:cNvPr id="15" name="Text 13"/>
          <p:cNvSpPr/>
          <p:nvPr/>
        </p:nvSpPr>
        <p:spPr>
          <a:xfrm>
            <a:off x="8279271" y="188975"/>
            <a:ext cx="554239" cy="169980"/>
          </a:xfrm>
          <a:prstGeom prst="rect">
            <a:avLst/>
          </a:prstGeom>
          <a:noFill/>
          <a:ln/>
        </p:spPr>
        <p:txBody>
          <a:bodyPr wrap="none" lIns="0" tIns="0" rIns="0" bIns="0" rtlCol="0" anchor="t"/>
          <a:lstStyle/>
          <a:p>
            <a:pPr algn="l" indent="0" marL="0">
              <a:lnSpc>
                <a:spcPts val="1221"/>
              </a:lnSpc>
              <a:buNone/>
            </a:pPr>
            <a:r>
              <a:rPr lang="en-US" sz="800" spc="-16" kern="0" dirty="0">
                <a:solidFill>
                  <a:srgbClr val="64748B"/>
                </a:solidFill>
                <a:latin typeface="Liberation Sans Narrow" pitchFamily="34" charset="0"/>
                <a:ea typeface="Liberation Sans Narrow" pitchFamily="34" charset="-122"/>
                <a:cs typeface="Liberation Sans Narrow" pitchFamily="34" charset="-120"/>
              </a:rPr>
              <a:t>12 / 18</a:t>
            </a:r>
            <a:endParaRPr lang="en-US" sz="800" dirty="0"/>
          </a:p>
        </p:txBody>
      </p:sp>
      <p:sp>
        <p:nvSpPr>
          <p:cNvPr id="16" name="Text 14"/>
          <p:cNvSpPr/>
          <p:nvPr/>
        </p:nvSpPr>
        <p:spPr>
          <a:xfrm>
            <a:off x="457200" y="447154"/>
            <a:ext cx="8636000" cy="287451"/>
          </a:xfrm>
          <a:prstGeom prst="rect">
            <a:avLst/>
          </a:prstGeom>
          <a:noFill/>
          <a:ln/>
        </p:spPr>
        <p:txBody>
          <a:bodyPr wrap="square" lIns="0" tIns="0" rIns="0" bIns="0" rtlCol="0" anchor="t">
            <a:normAutofit/>
          </a:bodyPr>
          <a:lstStyle/>
          <a:p>
            <a:pPr algn="l" indent="0" marL="0">
              <a:lnSpc>
                <a:spcPts val="2142"/>
              </a:lnSpc>
              <a:buNone/>
            </a:pPr>
            <a:r>
              <a:rPr lang="en-US" sz="1913" spc="-19" kern="0" dirty="0">
                <a:solidFill>
                  <a:srgbClr val="134E4A"/>
                </a:solidFill>
                <a:latin typeface="Tinos" pitchFamily="34" charset="0"/>
                <a:ea typeface="Tinos" pitchFamily="34" charset="-122"/>
                <a:cs typeface="Tinos" pitchFamily="34" charset="-120"/>
              </a:rPr>
              <a:t>Proses Screening &amp; Quality Assessment</a:t>
            </a:r>
            <a:endParaRPr lang="en-US" sz="1913" dirty="0"/>
          </a:p>
        </p:txBody>
      </p:sp>
      <p:sp>
        <p:nvSpPr>
          <p:cNvPr id="17" name="Text 15"/>
          <p:cNvSpPr/>
          <p:nvPr/>
        </p:nvSpPr>
        <p:spPr>
          <a:xfrm>
            <a:off x="457200" y="762037"/>
            <a:ext cx="7858125" cy="164592"/>
          </a:xfrm>
          <a:prstGeom prst="rect">
            <a:avLst/>
          </a:prstGeom>
          <a:noFill/>
          <a:ln/>
        </p:spPr>
        <p:txBody>
          <a:bodyPr wrap="square" lIns="0" tIns="0" rIns="0" bIns="0" rtlCol="0" anchor="t"/>
          <a:lstStyle/>
          <a:p>
            <a:pPr algn="l" indent="0" marL="0">
              <a:lnSpc>
                <a:spcPts val="1181"/>
              </a:lnSpc>
              <a:buNone/>
            </a:pPr>
            <a:r>
              <a:rPr lang="en-US" sz="800" dirty="0">
                <a:solidFill>
                  <a:srgbClr val="475569"/>
                </a:solidFill>
                <a:latin typeface="Carlito" pitchFamily="34" charset="0"/>
                <a:ea typeface="Carlito" pitchFamily="34" charset="-122"/>
                <a:cs typeface="Carlito" pitchFamily="34" charset="-120"/>
              </a:rPr>
              <a:t>Screening dilakukan oleh </a:t>
            </a:r>
            <a:pPr algn="l" indent="0" marL="0">
              <a:lnSpc>
                <a:spcPts val="1181"/>
              </a:lnSpc>
              <a:buNone/>
            </a:pPr>
            <a:r>
              <a:rPr lang="en-US" sz="800" dirty="0">
                <a:solidFill>
                  <a:srgbClr val="134E4A"/>
                </a:solidFill>
                <a:latin typeface="Carlito" pitchFamily="34" charset="0"/>
                <a:ea typeface="Carlito" pitchFamily="34" charset="-122"/>
                <a:cs typeface="Carlito" pitchFamily="34" charset="-120"/>
              </a:rPr>
              <a:t>dua reviewer independen</a:t>
            </a:r>
            <a:pPr algn="l" indent="0" marL="0">
              <a:lnSpc>
                <a:spcPts val="1181"/>
              </a:lnSpc>
              <a:buNone/>
            </a:pPr>
            <a:r>
              <a:rPr lang="en-US" sz="800" dirty="0">
                <a:solidFill>
                  <a:srgbClr val="475569"/>
                </a:solidFill>
                <a:latin typeface="Carlito" pitchFamily="34" charset="0"/>
                <a:ea typeface="Carlito" pitchFamily="34" charset="-122"/>
                <a:cs typeface="Carlito" pitchFamily="34" charset="-120"/>
              </a:rPr>
              <a:t> dengan resolusi konflik yang terdokumentasi — landasan validitas internal SLR.</a:t>
            </a:r>
            <a:endParaRPr lang="en-US" sz="800" dirty="0"/>
          </a:p>
        </p:txBody>
      </p:sp>
      <p:sp>
        <p:nvSpPr>
          <p:cNvPr id="18" name="Text 16"/>
          <p:cNvSpPr/>
          <p:nvPr/>
        </p:nvSpPr>
        <p:spPr>
          <a:xfrm>
            <a:off x="460772" y="1137084"/>
            <a:ext cx="4021931" cy="3006626"/>
          </a:xfrm>
          <a:prstGeom prst="roundRect">
            <a:avLst>
              <a:gd name="adj" fmla="val 3802"/>
            </a:avLst>
          </a:prstGeom>
          <a:solidFill>
            <a:srgbClr val="FFFFFF"/>
          </a:solidFill>
          <a:ln w="7144">
            <a:solidFill>
              <a:srgbClr val="D8DEE2"/>
            </a:solidFill>
            <a:prstDash val="solid"/>
          </a:ln>
        </p:spPr>
        <p:txBody>
          <a:bodyPr wrap="square" rtlCol="0" anchor="ctr"/>
          <a:lstStyle/>
          <a:p>
            <a:pPr indent="0" marL="0">
              <a:buNone/>
            </a:pPr>
            <a:endParaRPr lang="en-US" dirty="0"/>
          </a:p>
        </p:txBody>
      </p:sp>
      <p:sp>
        <p:nvSpPr>
          <p:cNvPr id="19" name="Text 17"/>
          <p:cNvSpPr/>
          <p:nvPr/>
        </p:nvSpPr>
        <p:spPr>
          <a:xfrm>
            <a:off x="612934" y="1286420"/>
            <a:ext cx="1210598" cy="212777"/>
          </a:xfrm>
          <a:prstGeom prst="roundRect">
            <a:avLst>
              <a:gd name="adj" fmla="val 4472041"/>
            </a:avLst>
          </a:prstGeom>
          <a:solidFill>
            <a:srgbClr val="E0ECEB"/>
          </a:solidFill>
          <a:ln/>
        </p:spPr>
        <p:txBody>
          <a:bodyPr wrap="square" rtlCol="0" anchor="ctr"/>
          <a:lstStyle/>
          <a:p>
            <a:pPr indent="0" marL="0">
              <a:buNone/>
            </a:pPr>
            <a:endParaRPr lang="en-US" dirty="0"/>
          </a:p>
        </p:txBody>
      </p:sp>
      <p:sp>
        <p:nvSpPr>
          <p:cNvPr id="20" name="Text 18"/>
          <p:cNvSpPr/>
          <p:nvPr/>
        </p:nvSpPr>
        <p:spPr>
          <a:xfrm>
            <a:off x="635794" y="1297818"/>
            <a:ext cx="1164878" cy="189979"/>
          </a:xfrm>
          <a:prstGeom prst="rect">
            <a:avLst/>
          </a:prstGeom>
          <a:noFill/>
          <a:ln/>
        </p:spPr>
        <p:txBody>
          <a:bodyPr wrap="none" lIns="0" tIns="0" rIns="0" bIns="0" rtlCol="0" anchor="ctr"/>
          <a:lstStyle/>
          <a:p>
            <a:pPr algn="ctr" indent="0" marL="0">
              <a:lnSpc>
                <a:spcPts val="1046"/>
              </a:lnSpc>
              <a:buNone/>
            </a:pPr>
            <a:r>
              <a:rPr lang="en-US" sz="800" spc="27" kern="0" dirty="0">
                <a:solidFill>
                  <a:srgbClr val="134E4A"/>
                </a:solidFill>
                <a:latin typeface="Carlito" pitchFamily="34" charset="0"/>
                <a:ea typeface="Carlito" pitchFamily="34" charset="-122"/>
                <a:cs typeface="Carlito" pitchFamily="34" charset="-120"/>
              </a:rPr>
              <a:t>PROSES SCREENING</a:t>
            </a:r>
            <a:endParaRPr lang="en-US" sz="800" dirty="0"/>
          </a:p>
        </p:txBody>
      </p:sp>
      <p:sp>
        <p:nvSpPr>
          <p:cNvPr id="21" name="Text 19"/>
          <p:cNvSpPr/>
          <p:nvPr/>
        </p:nvSpPr>
        <p:spPr>
          <a:xfrm>
            <a:off x="4150519" y="1314227"/>
            <a:ext cx="157163" cy="157163"/>
          </a:xfrm>
          <a:prstGeom prst="rect">
            <a:avLst/>
          </a:prstGeom>
          <a:noFill/>
          <a:ln/>
        </p:spPr>
        <p:txBody>
          <a:bodyPr wrap="none" lIns="0" tIns="0" rIns="0" bIns="0" rtlCol="0" anchor="ctr"/>
          <a:lstStyle/>
          <a:p>
            <a:pPr algn="ctr" indent="0" marL="0">
              <a:buNone/>
            </a:pPr>
            <a:r>
              <a:rPr lang="en-US" sz="1547" dirty="0">
                <a:solidFill>
                  <a:srgbClr val="134E4A"/>
                </a:solidFill>
                <a:latin typeface="Segoe UI Symbol" pitchFamily="34" charset="0"/>
                <a:ea typeface="Segoe UI Symbol" pitchFamily="34" charset="-122"/>
                <a:cs typeface="Segoe UI Symbol" pitchFamily="34" charset="-120"/>
              </a:rPr>
              <a:t>☰</a:t>
            </a:r>
            <a:endParaRPr lang="en-US" sz="1547" dirty="0"/>
          </a:p>
        </p:txBody>
      </p:sp>
      <p:sp>
        <p:nvSpPr>
          <p:cNvPr id="22" name="Text 20"/>
          <p:cNvSpPr/>
          <p:nvPr/>
        </p:nvSpPr>
        <p:spPr>
          <a:xfrm>
            <a:off x="635794" y="1559235"/>
            <a:ext cx="3781616" cy="172593"/>
          </a:xfrm>
          <a:prstGeom prst="rect">
            <a:avLst/>
          </a:prstGeom>
          <a:noFill/>
          <a:ln/>
        </p:spPr>
        <p:txBody>
          <a:bodyPr wrap="square" lIns="0" tIns="0" rIns="0" bIns="0" rtlCol="0" anchor="t">
            <a:normAutofit/>
          </a:bodyPr>
          <a:lstStyle/>
          <a:p>
            <a:pPr algn="l" indent="0" marL="0">
              <a:lnSpc>
                <a:spcPts val="1350"/>
              </a:lnSpc>
              <a:buNone/>
            </a:pPr>
            <a:r>
              <a:rPr lang="en-US" sz="1125" dirty="0">
                <a:solidFill>
                  <a:srgbClr val="134E4A"/>
                </a:solidFill>
                <a:latin typeface="Tinos" pitchFamily="34" charset="0"/>
                <a:ea typeface="Tinos" pitchFamily="34" charset="-122"/>
                <a:cs typeface="Tinos" pitchFamily="34" charset="-120"/>
              </a:rPr>
              <a:t>Tahapan Screening Dua-Reviewer</a:t>
            </a:r>
            <a:endParaRPr lang="en-US" sz="1125" dirty="0"/>
          </a:p>
        </p:txBody>
      </p:sp>
      <p:sp>
        <p:nvSpPr>
          <p:cNvPr id="23" name="Text 21"/>
          <p:cNvSpPr/>
          <p:nvPr/>
        </p:nvSpPr>
        <p:spPr>
          <a:xfrm>
            <a:off x="635794" y="1759260"/>
            <a:ext cx="3671888" cy="159076"/>
          </a:xfrm>
          <a:prstGeom prst="rect">
            <a:avLst/>
          </a:prstGeom>
          <a:noFill/>
          <a:ln/>
        </p:spPr>
        <p:txBody>
          <a:bodyPr wrap="square" lIns="0" tIns="0" rIns="0" bIns="0" rtlCol="0" anchor="t"/>
          <a:lstStyle/>
          <a:p>
            <a:pPr algn="l" indent="0" marL="0">
              <a:lnSpc>
                <a:spcPts val="938"/>
              </a:lnSpc>
              <a:buNone/>
            </a:pPr>
            <a:r>
              <a:rPr lang="en-US" sz="647" dirty="0">
                <a:solidFill>
                  <a:srgbClr val="64748B"/>
                </a:solidFill>
                <a:latin typeface="Carlito" pitchFamily="34" charset="0"/>
                <a:ea typeface="Carlito" pitchFamily="34" charset="-122"/>
                <a:cs typeface="Carlito" pitchFamily="34" charset="-120"/>
              </a:rPr>
              <a:t>Lima langkah berurutan dengan dokumentasi agreement antar reviewer.</a:t>
            </a:r>
            <a:endParaRPr lang="en-US" sz="647" dirty="0"/>
          </a:p>
        </p:txBody>
      </p:sp>
      <p:sp>
        <p:nvSpPr>
          <p:cNvPr id="24" name="Text 22"/>
          <p:cNvSpPr/>
          <p:nvPr/>
        </p:nvSpPr>
        <p:spPr>
          <a:xfrm>
            <a:off x="635794" y="1978372"/>
            <a:ext cx="200025" cy="200025"/>
          </a:xfrm>
          <a:prstGeom prst="ellipse">
            <a:avLst/>
          </a:prstGeom>
          <a:solidFill>
            <a:srgbClr val="E0ECEB"/>
          </a:solidFill>
          <a:ln/>
        </p:spPr>
        <p:txBody>
          <a:bodyPr wrap="square" rtlCol="0" anchor="ctr"/>
          <a:lstStyle/>
          <a:p>
            <a:pPr indent="0" marL="0">
              <a:buNone/>
            </a:pPr>
            <a:endParaRPr lang="en-US" dirty="0"/>
          </a:p>
        </p:txBody>
      </p:sp>
      <p:sp>
        <p:nvSpPr>
          <p:cNvPr id="25" name="Text 23"/>
          <p:cNvSpPr/>
          <p:nvPr/>
        </p:nvSpPr>
        <p:spPr>
          <a:xfrm>
            <a:off x="635794" y="1978372"/>
            <a:ext cx="242888" cy="200025"/>
          </a:xfrm>
          <a:prstGeom prst="rect">
            <a:avLst/>
          </a:prstGeom>
          <a:noFill/>
          <a:ln/>
        </p:spPr>
        <p:txBody>
          <a:bodyPr wrap="none" lIns="0" tIns="0" rIns="0" bIns="0" rtlCol="0" anchor="ctr"/>
          <a:lstStyle/>
          <a:p>
            <a:pPr algn="ctr" indent="0" marL="0">
              <a:lnSpc>
                <a:spcPts val="1046"/>
              </a:lnSpc>
              <a:buNone/>
            </a:pPr>
            <a:r>
              <a:rPr lang="en-US" sz="800" b="1" dirty="0">
                <a:solidFill>
                  <a:srgbClr val="134E4A"/>
                </a:solidFill>
                <a:latin typeface="Liberation Sans Narrow" pitchFamily="34" charset="0"/>
                <a:ea typeface="Liberation Sans Narrow" pitchFamily="34" charset="-122"/>
                <a:cs typeface="Liberation Sans Narrow" pitchFamily="34" charset="-120"/>
              </a:rPr>
              <a:t>1</a:t>
            </a:r>
            <a:endParaRPr lang="en-US" sz="800" dirty="0"/>
          </a:p>
        </p:txBody>
      </p:sp>
      <p:sp>
        <p:nvSpPr>
          <p:cNvPr id="26" name="Text 24"/>
          <p:cNvSpPr/>
          <p:nvPr/>
        </p:nvSpPr>
        <p:spPr>
          <a:xfrm>
            <a:off x="921544" y="1978372"/>
            <a:ext cx="3495865" cy="112206"/>
          </a:xfrm>
          <a:prstGeom prst="rect">
            <a:avLst/>
          </a:prstGeom>
          <a:noFill/>
          <a:ln/>
        </p:spPr>
        <p:txBody>
          <a:bodyPr wrap="square" lIns="0" tIns="0" rIns="0" bIns="0" rtlCol="0" anchor="t">
            <a:normAutofit/>
          </a:bodyPr>
          <a:lstStyle/>
          <a:p>
            <a:pPr algn="l" indent="0" marL="0">
              <a:lnSpc>
                <a:spcPts val="987"/>
              </a:lnSpc>
              <a:buNone/>
            </a:pPr>
            <a:r>
              <a:rPr lang="en-US" sz="800" dirty="0">
                <a:solidFill>
                  <a:srgbClr val="134E4A"/>
                </a:solidFill>
                <a:latin typeface="Carlito" pitchFamily="34" charset="0"/>
                <a:ea typeface="Carlito" pitchFamily="34" charset="-122"/>
                <a:cs typeface="Carlito" pitchFamily="34" charset="-120"/>
              </a:rPr>
              <a:t>Title &amp; Abstract Screening</a:t>
            </a:r>
            <a:endParaRPr lang="en-US" sz="800" dirty="0"/>
          </a:p>
        </p:txBody>
      </p:sp>
      <p:sp>
        <p:nvSpPr>
          <p:cNvPr id="27" name="Text 25"/>
          <p:cNvSpPr/>
          <p:nvPr/>
        </p:nvSpPr>
        <p:spPr>
          <a:xfrm>
            <a:off x="921544" y="2118010"/>
            <a:ext cx="3386138" cy="318211"/>
          </a:xfrm>
          <a:prstGeom prst="rect">
            <a:avLst/>
          </a:prstGeom>
          <a:noFill/>
          <a:ln/>
        </p:spPr>
        <p:txBody>
          <a:bodyPr wrap="square" lIns="0" tIns="0" rIns="0" bIns="0" rtlCol="0" anchor="t"/>
          <a:lstStyle/>
          <a:p>
            <a:pPr algn="l" indent="0" marL="0">
              <a:lnSpc>
                <a:spcPts val="1020"/>
              </a:lnSpc>
              <a:buNone/>
            </a:pPr>
            <a:r>
              <a:rPr lang="en-US" sz="800" dirty="0">
                <a:solidFill>
                  <a:srgbClr val="475569"/>
                </a:solidFill>
                <a:latin typeface="Carlito" pitchFamily="34" charset="0"/>
                <a:ea typeface="Carlito" pitchFamily="34" charset="-122"/>
                <a:cs typeface="Carlito" pitchFamily="34" charset="-120"/>
              </a:rPr>
              <a:t>Reviewer menilai relevansi berdasarkan judul dan abstrak menggunakan kriteria inklusi.</a:t>
            </a:r>
            <a:endParaRPr lang="en-US" sz="800" dirty="0"/>
          </a:p>
        </p:txBody>
      </p:sp>
      <p:sp>
        <p:nvSpPr>
          <p:cNvPr id="28" name="Text 26"/>
          <p:cNvSpPr/>
          <p:nvPr/>
        </p:nvSpPr>
        <p:spPr>
          <a:xfrm>
            <a:off x="728663" y="2376971"/>
            <a:ext cx="3579019" cy="100013"/>
          </a:xfrm>
          <a:prstGeom prst="rect">
            <a:avLst/>
          </a:prstGeom>
          <a:solidFill>
            <a:srgbClr val="E0ECEB"/>
          </a:solidFill>
          <a:ln/>
        </p:spPr>
        <p:txBody>
          <a:bodyPr wrap="square" rtlCol="0" anchor="ctr"/>
          <a:lstStyle/>
          <a:p>
            <a:pPr indent="0" marL="0">
              <a:buNone/>
            </a:pPr>
            <a:endParaRPr lang="en-US" dirty="0"/>
          </a:p>
        </p:txBody>
      </p:sp>
      <p:sp>
        <p:nvSpPr>
          <p:cNvPr id="29" name="Text 27"/>
          <p:cNvSpPr/>
          <p:nvPr/>
        </p:nvSpPr>
        <p:spPr>
          <a:xfrm>
            <a:off x="635794" y="2476984"/>
            <a:ext cx="200025" cy="200025"/>
          </a:xfrm>
          <a:prstGeom prst="ellipse">
            <a:avLst/>
          </a:prstGeom>
          <a:solidFill>
            <a:srgbClr val="E0ECEB"/>
          </a:solidFill>
          <a:ln/>
        </p:spPr>
        <p:txBody>
          <a:bodyPr wrap="square" rtlCol="0" anchor="ctr"/>
          <a:lstStyle/>
          <a:p>
            <a:pPr indent="0" marL="0">
              <a:buNone/>
            </a:pPr>
            <a:endParaRPr lang="en-US" dirty="0"/>
          </a:p>
        </p:txBody>
      </p:sp>
      <p:sp>
        <p:nvSpPr>
          <p:cNvPr id="30" name="Text 28"/>
          <p:cNvSpPr/>
          <p:nvPr/>
        </p:nvSpPr>
        <p:spPr>
          <a:xfrm>
            <a:off x="635794" y="2476984"/>
            <a:ext cx="242888" cy="200025"/>
          </a:xfrm>
          <a:prstGeom prst="rect">
            <a:avLst/>
          </a:prstGeom>
          <a:noFill/>
          <a:ln/>
        </p:spPr>
        <p:txBody>
          <a:bodyPr wrap="none" lIns="0" tIns="0" rIns="0" bIns="0" rtlCol="0" anchor="ctr"/>
          <a:lstStyle/>
          <a:p>
            <a:pPr algn="ctr" indent="0" marL="0">
              <a:lnSpc>
                <a:spcPts val="1046"/>
              </a:lnSpc>
              <a:buNone/>
            </a:pPr>
            <a:r>
              <a:rPr lang="en-US" sz="800" b="1" dirty="0">
                <a:solidFill>
                  <a:srgbClr val="134E4A"/>
                </a:solidFill>
                <a:latin typeface="Liberation Sans Narrow" pitchFamily="34" charset="0"/>
                <a:ea typeface="Liberation Sans Narrow" pitchFamily="34" charset="-122"/>
                <a:cs typeface="Liberation Sans Narrow" pitchFamily="34" charset="-120"/>
              </a:rPr>
              <a:t>2</a:t>
            </a:r>
            <a:endParaRPr lang="en-US" sz="800" dirty="0"/>
          </a:p>
        </p:txBody>
      </p:sp>
      <p:sp>
        <p:nvSpPr>
          <p:cNvPr id="31" name="Text 29"/>
          <p:cNvSpPr/>
          <p:nvPr/>
        </p:nvSpPr>
        <p:spPr>
          <a:xfrm>
            <a:off x="921544" y="2476984"/>
            <a:ext cx="3386137" cy="112206"/>
          </a:xfrm>
          <a:prstGeom prst="rect">
            <a:avLst/>
          </a:prstGeom>
          <a:noFill/>
          <a:ln/>
        </p:spPr>
        <p:txBody>
          <a:bodyPr wrap="none" lIns="0" tIns="0" rIns="0" bIns="0" rtlCol="0" anchor="t">
            <a:normAutofit/>
          </a:bodyPr>
          <a:lstStyle/>
          <a:p>
            <a:pPr algn="l" indent="0" marL="0">
              <a:lnSpc>
                <a:spcPts val="987"/>
              </a:lnSpc>
              <a:buNone/>
            </a:pPr>
            <a:r>
              <a:rPr lang="en-US" sz="800" dirty="0">
                <a:solidFill>
                  <a:srgbClr val="134E4A"/>
                </a:solidFill>
                <a:latin typeface="Carlito" pitchFamily="34" charset="0"/>
                <a:ea typeface="Carlito" pitchFamily="34" charset="-122"/>
                <a:cs typeface="Carlito" pitchFamily="34" charset="-120"/>
              </a:rPr>
              <a:t>Full-Text Retrieval</a:t>
            </a:r>
            <a:endParaRPr lang="en-US" sz="800" dirty="0"/>
          </a:p>
        </p:txBody>
      </p:sp>
      <p:sp>
        <p:nvSpPr>
          <p:cNvPr id="32" name="Text 30"/>
          <p:cNvSpPr/>
          <p:nvPr/>
        </p:nvSpPr>
        <p:spPr>
          <a:xfrm>
            <a:off x="921544" y="2616622"/>
            <a:ext cx="3386138" cy="159106"/>
          </a:xfrm>
          <a:prstGeom prst="rect">
            <a:avLst/>
          </a:prstGeom>
          <a:noFill/>
          <a:ln/>
        </p:spPr>
        <p:txBody>
          <a:bodyPr wrap="square" lIns="0" tIns="0" rIns="0" bIns="0" rtlCol="0" anchor="t"/>
          <a:lstStyle/>
          <a:p>
            <a:pPr algn="l" indent="0" marL="0">
              <a:lnSpc>
                <a:spcPts val="1020"/>
              </a:lnSpc>
              <a:buNone/>
            </a:pPr>
            <a:r>
              <a:rPr lang="en-US" sz="703" dirty="0">
                <a:solidFill>
                  <a:srgbClr val="475569"/>
                </a:solidFill>
                <a:latin typeface="Carlito" pitchFamily="34" charset="0"/>
                <a:ea typeface="Carlito" pitchFamily="34" charset="-122"/>
                <a:cs typeface="Carlito" pitchFamily="34" charset="-120"/>
              </a:rPr>
              <a:t>Paper yang lolos diunduh full-text; eksklusi dicatat dengan alasan spesifik.</a:t>
            </a:r>
            <a:endParaRPr lang="en-US" sz="703" dirty="0"/>
          </a:p>
        </p:txBody>
      </p:sp>
      <p:sp>
        <p:nvSpPr>
          <p:cNvPr id="33" name="Text 31"/>
          <p:cNvSpPr/>
          <p:nvPr/>
        </p:nvSpPr>
        <p:spPr>
          <a:xfrm>
            <a:off x="728663" y="2746102"/>
            <a:ext cx="3579019" cy="100013"/>
          </a:xfrm>
          <a:prstGeom prst="rect">
            <a:avLst/>
          </a:prstGeom>
          <a:solidFill>
            <a:srgbClr val="E0ECEB"/>
          </a:solidFill>
          <a:ln/>
        </p:spPr>
        <p:txBody>
          <a:bodyPr wrap="square" rtlCol="0" anchor="ctr"/>
          <a:lstStyle/>
          <a:p>
            <a:pPr indent="0" marL="0">
              <a:buNone/>
            </a:pPr>
            <a:endParaRPr lang="en-US" dirty="0"/>
          </a:p>
        </p:txBody>
      </p:sp>
      <p:sp>
        <p:nvSpPr>
          <p:cNvPr id="34" name="Text 32"/>
          <p:cNvSpPr/>
          <p:nvPr/>
        </p:nvSpPr>
        <p:spPr>
          <a:xfrm>
            <a:off x="635794" y="2846115"/>
            <a:ext cx="200025" cy="200025"/>
          </a:xfrm>
          <a:prstGeom prst="ellipse">
            <a:avLst/>
          </a:prstGeom>
          <a:solidFill>
            <a:srgbClr val="E0ECEB"/>
          </a:solidFill>
          <a:ln/>
        </p:spPr>
        <p:txBody>
          <a:bodyPr wrap="square" rtlCol="0" anchor="ctr"/>
          <a:lstStyle/>
          <a:p>
            <a:pPr indent="0" marL="0">
              <a:buNone/>
            </a:pPr>
            <a:endParaRPr lang="en-US" dirty="0"/>
          </a:p>
        </p:txBody>
      </p:sp>
      <p:sp>
        <p:nvSpPr>
          <p:cNvPr id="35" name="Text 33"/>
          <p:cNvSpPr/>
          <p:nvPr/>
        </p:nvSpPr>
        <p:spPr>
          <a:xfrm>
            <a:off x="635794" y="2846115"/>
            <a:ext cx="242888" cy="200025"/>
          </a:xfrm>
          <a:prstGeom prst="rect">
            <a:avLst/>
          </a:prstGeom>
          <a:noFill/>
          <a:ln/>
        </p:spPr>
        <p:txBody>
          <a:bodyPr wrap="none" lIns="0" tIns="0" rIns="0" bIns="0" rtlCol="0" anchor="ctr"/>
          <a:lstStyle/>
          <a:p>
            <a:pPr algn="ctr" indent="0" marL="0">
              <a:lnSpc>
                <a:spcPts val="1046"/>
              </a:lnSpc>
              <a:buNone/>
            </a:pPr>
            <a:r>
              <a:rPr lang="en-US" sz="800" b="1" dirty="0">
                <a:solidFill>
                  <a:srgbClr val="134E4A"/>
                </a:solidFill>
                <a:latin typeface="Liberation Sans Narrow" pitchFamily="34" charset="0"/>
                <a:ea typeface="Liberation Sans Narrow" pitchFamily="34" charset="-122"/>
                <a:cs typeface="Liberation Sans Narrow" pitchFamily="34" charset="-120"/>
              </a:rPr>
              <a:t>3</a:t>
            </a:r>
            <a:endParaRPr lang="en-US" sz="800" dirty="0"/>
          </a:p>
        </p:txBody>
      </p:sp>
      <p:sp>
        <p:nvSpPr>
          <p:cNvPr id="36" name="Text 34"/>
          <p:cNvSpPr/>
          <p:nvPr/>
        </p:nvSpPr>
        <p:spPr>
          <a:xfrm>
            <a:off x="921544" y="2846115"/>
            <a:ext cx="3386137" cy="112206"/>
          </a:xfrm>
          <a:prstGeom prst="rect">
            <a:avLst/>
          </a:prstGeom>
          <a:noFill/>
          <a:ln/>
        </p:spPr>
        <p:txBody>
          <a:bodyPr wrap="none" lIns="0" tIns="0" rIns="0" bIns="0" rtlCol="0" anchor="t">
            <a:normAutofit/>
          </a:bodyPr>
          <a:lstStyle/>
          <a:p>
            <a:pPr algn="l" indent="0" marL="0">
              <a:lnSpc>
                <a:spcPts val="987"/>
              </a:lnSpc>
              <a:buNone/>
            </a:pPr>
            <a:r>
              <a:rPr lang="en-US" sz="800" dirty="0">
                <a:solidFill>
                  <a:srgbClr val="134E4A"/>
                </a:solidFill>
                <a:latin typeface="Carlito" pitchFamily="34" charset="0"/>
                <a:ea typeface="Carlito" pitchFamily="34" charset="-122"/>
                <a:cs typeface="Carlito" pitchFamily="34" charset="-120"/>
              </a:rPr>
              <a:t>Independent Dual Review</a:t>
            </a:r>
            <a:endParaRPr lang="en-US" sz="800" dirty="0"/>
          </a:p>
        </p:txBody>
      </p:sp>
      <p:sp>
        <p:nvSpPr>
          <p:cNvPr id="37" name="Text 35"/>
          <p:cNvSpPr/>
          <p:nvPr/>
        </p:nvSpPr>
        <p:spPr>
          <a:xfrm>
            <a:off x="921544" y="2985753"/>
            <a:ext cx="3386138" cy="318211"/>
          </a:xfrm>
          <a:prstGeom prst="rect">
            <a:avLst/>
          </a:prstGeom>
          <a:noFill/>
          <a:ln/>
        </p:spPr>
        <p:txBody>
          <a:bodyPr wrap="square" lIns="0" tIns="0" rIns="0" bIns="0" rtlCol="0" anchor="t"/>
          <a:lstStyle/>
          <a:p>
            <a:pPr algn="l" indent="0" marL="0">
              <a:lnSpc>
                <a:spcPts val="1020"/>
              </a:lnSpc>
              <a:buNone/>
            </a:pPr>
            <a:r>
              <a:rPr lang="en-US" sz="800" dirty="0">
                <a:solidFill>
                  <a:srgbClr val="475569"/>
                </a:solidFill>
                <a:latin typeface="Carlito" pitchFamily="34" charset="0"/>
                <a:ea typeface="Carlito" pitchFamily="34" charset="-122"/>
                <a:cs typeface="Carlito" pitchFamily="34" charset="-120"/>
              </a:rPr>
              <a:t>Dua reviewer menilai terpisah; tingkat agreement dihitung dengan </a:t>
            </a:r>
            <a:pPr algn="l" indent="0" marL="0">
              <a:lnSpc>
                <a:spcPts val="1020"/>
              </a:lnSpc>
              <a:buNone/>
            </a:pPr>
            <a:r>
              <a:rPr lang="en-US" sz="800" i="1" dirty="0">
                <a:solidFill>
                  <a:srgbClr val="475569"/>
                </a:solidFill>
                <a:latin typeface="Carlito" pitchFamily="34" charset="0"/>
                <a:ea typeface="Carlito" pitchFamily="34" charset="-122"/>
                <a:cs typeface="Carlito" pitchFamily="34" charset="-120"/>
              </a:rPr>
              <a:t>Cohen Kappa</a:t>
            </a:r>
            <a:pPr algn="l" indent="0" marL="0">
              <a:lnSpc>
                <a:spcPts val="1020"/>
              </a:lnSpc>
              <a:buNone/>
            </a:pPr>
            <a:r>
              <a:rPr lang="en-US" sz="800" dirty="0">
                <a:solidFill>
                  <a:srgbClr val="475569"/>
                </a:solidFill>
                <a:latin typeface="Carlito" pitchFamily="34" charset="0"/>
                <a:ea typeface="Carlito" pitchFamily="34" charset="-122"/>
                <a:cs typeface="Carlito" pitchFamily="34" charset="-120"/>
              </a:rPr>
              <a:t>.</a:t>
            </a:r>
            <a:endParaRPr lang="en-US" sz="800" dirty="0"/>
          </a:p>
        </p:txBody>
      </p:sp>
      <p:sp>
        <p:nvSpPr>
          <p:cNvPr id="38" name="Text 36"/>
          <p:cNvSpPr/>
          <p:nvPr/>
        </p:nvSpPr>
        <p:spPr>
          <a:xfrm>
            <a:off x="728663" y="3244714"/>
            <a:ext cx="3579019" cy="100013"/>
          </a:xfrm>
          <a:prstGeom prst="rect">
            <a:avLst/>
          </a:prstGeom>
          <a:solidFill>
            <a:srgbClr val="E0ECEB"/>
          </a:solidFill>
          <a:ln/>
        </p:spPr>
        <p:txBody>
          <a:bodyPr wrap="square" rtlCol="0" anchor="ctr"/>
          <a:lstStyle/>
          <a:p>
            <a:pPr indent="0" marL="0">
              <a:buNone/>
            </a:pPr>
            <a:endParaRPr lang="en-US" dirty="0"/>
          </a:p>
        </p:txBody>
      </p:sp>
      <p:sp>
        <p:nvSpPr>
          <p:cNvPr id="39" name="Text 37"/>
          <p:cNvSpPr/>
          <p:nvPr/>
        </p:nvSpPr>
        <p:spPr>
          <a:xfrm>
            <a:off x="635794" y="3344726"/>
            <a:ext cx="200025" cy="200025"/>
          </a:xfrm>
          <a:prstGeom prst="ellipse">
            <a:avLst/>
          </a:prstGeom>
          <a:solidFill>
            <a:srgbClr val="FFF1E6"/>
          </a:solidFill>
          <a:ln/>
        </p:spPr>
        <p:txBody>
          <a:bodyPr wrap="square" rtlCol="0" anchor="ctr"/>
          <a:lstStyle/>
          <a:p>
            <a:pPr indent="0" marL="0">
              <a:buNone/>
            </a:pPr>
            <a:endParaRPr lang="en-US" dirty="0"/>
          </a:p>
        </p:txBody>
      </p:sp>
      <p:sp>
        <p:nvSpPr>
          <p:cNvPr id="40" name="Text 38"/>
          <p:cNvSpPr/>
          <p:nvPr/>
        </p:nvSpPr>
        <p:spPr>
          <a:xfrm>
            <a:off x="635794" y="3344726"/>
            <a:ext cx="242888" cy="200025"/>
          </a:xfrm>
          <a:prstGeom prst="rect">
            <a:avLst/>
          </a:prstGeom>
          <a:noFill/>
          <a:ln/>
        </p:spPr>
        <p:txBody>
          <a:bodyPr wrap="none" lIns="0" tIns="0" rIns="0" bIns="0" rtlCol="0" anchor="ctr"/>
          <a:lstStyle/>
          <a:p>
            <a:pPr algn="ctr" indent="0" marL="0">
              <a:lnSpc>
                <a:spcPts val="1046"/>
              </a:lnSpc>
              <a:buNone/>
            </a:pPr>
            <a:r>
              <a:rPr lang="en-US" sz="800" b="1" dirty="0">
                <a:solidFill>
                  <a:srgbClr val="EA680C"/>
                </a:solidFill>
                <a:latin typeface="Liberation Sans Narrow" pitchFamily="34" charset="0"/>
                <a:ea typeface="Liberation Sans Narrow" pitchFamily="34" charset="-122"/>
                <a:cs typeface="Liberation Sans Narrow" pitchFamily="34" charset="-120"/>
              </a:rPr>
              <a:t>4</a:t>
            </a:r>
            <a:endParaRPr lang="en-US" sz="800" dirty="0"/>
          </a:p>
        </p:txBody>
      </p:sp>
      <p:sp>
        <p:nvSpPr>
          <p:cNvPr id="41" name="Text 39"/>
          <p:cNvSpPr/>
          <p:nvPr/>
        </p:nvSpPr>
        <p:spPr>
          <a:xfrm>
            <a:off x="921544" y="3344726"/>
            <a:ext cx="3386137" cy="112206"/>
          </a:xfrm>
          <a:prstGeom prst="rect">
            <a:avLst/>
          </a:prstGeom>
          <a:noFill/>
          <a:ln/>
        </p:spPr>
        <p:txBody>
          <a:bodyPr wrap="none" lIns="0" tIns="0" rIns="0" bIns="0" rtlCol="0" anchor="t">
            <a:normAutofit/>
          </a:bodyPr>
          <a:lstStyle/>
          <a:p>
            <a:pPr algn="l" indent="0" marL="0">
              <a:lnSpc>
                <a:spcPts val="987"/>
              </a:lnSpc>
              <a:buNone/>
            </a:pPr>
            <a:r>
              <a:rPr lang="en-US" sz="800" dirty="0">
                <a:solidFill>
                  <a:srgbClr val="134E4A"/>
                </a:solidFill>
                <a:latin typeface="Carlito" pitchFamily="34" charset="0"/>
                <a:ea typeface="Carlito" pitchFamily="34" charset="-122"/>
                <a:cs typeface="Carlito" pitchFamily="34" charset="-120"/>
              </a:rPr>
              <a:t>Conflict Resolution</a:t>
            </a:r>
            <a:endParaRPr lang="en-US" sz="800" dirty="0"/>
          </a:p>
        </p:txBody>
      </p:sp>
      <p:sp>
        <p:nvSpPr>
          <p:cNvPr id="42" name="Text 40"/>
          <p:cNvSpPr/>
          <p:nvPr/>
        </p:nvSpPr>
        <p:spPr>
          <a:xfrm>
            <a:off x="921544" y="3484364"/>
            <a:ext cx="3386138" cy="159106"/>
          </a:xfrm>
          <a:prstGeom prst="rect">
            <a:avLst/>
          </a:prstGeom>
          <a:noFill/>
          <a:ln/>
        </p:spPr>
        <p:txBody>
          <a:bodyPr wrap="square" lIns="0" tIns="0" rIns="0" bIns="0" rtlCol="0" anchor="t"/>
          <a:lstStyle/>
          <a:p>
            <a:pPr algn="l" indent="0" marL="0">
              <a:lnSpc>
                <a:spcPts val="1020"/>
              </a:lnSpc>
              <a:buNone/>
            </a:pPr>
            <a:r>
              <a:rPr lang="en-US" sz="703" dirty="0">
                <a:solidFill>
                  <a:srgbClr val="475569"/>
                </a:solidFill>
                <a:latin typeface="Carlito" pitchFamily="34" charset="0"/>
                <a:ea typeface="Carlito" pitchFamily="34" charset="-122"/>
                <a:cs typeface="Carlito" pitchFamily="34" charset="-120"/>
              </a:rPr>
              <a:t>Ketidaksepakatan diselesaikan konsensus atau reviewer ketiga (mediator).</a:t>
            </a:r>
            <a:endParaRPr lang="en-US" sz="703" dirty="0"/>
          </a:p>
        </p:txBody>
      </p:sp>
      <p:sp>
        <p:nvSpPr>
          <p:cNvPr id="43" name="Text 41"/>
          <p:cNvSpPr/>
          <p:nvPr/>
        </p:nvSpPr>
        <p:spPr>
          <a:xfrm>
            <a:off x="728663" y="3613845"/>
            <a:ext cx="3579019" cy="100013"/>
          </a:xfrm>
          <a:prstGeom prst="rect">
            <a:avLst/>
          </a:prstGeom>
          <a:solidFill>
            <a:srgbClr val="E0ECEB"/>
          </a:solidFill>
          <a:ln/>
        </p:spPr>
        <p:txBody>
          <a:bodyPr wrap="square" rtlCol="0" anchor="ctr"/>
          <a:lstStyle/>
          <a:p>
            <a:pPr indent="0" marL="0">
              <a:buNone/>
            </a:pPr>
            <a:endParaRPr lang="en-US" dirty="0"/>
          </a:p>
        </p:txBody>
      </p:sp>
      <p:sp>
        <p:nvSpPr>
          <p:cNvPr id="44" name="Text 42"/>
          <p:cNvSpPr/>
          <p:nvPr/>
        </p:nvSpPr>
        <p:spPr>
          <a:xfrm>
            <a:off x="635794" y="3713857"/>
            <a:ext cx="200025" cy="200025"/>
          </a:xfrm>
          <a:prstGeom prst="ellipse">
            <a:avLst/>
          </a:prstGeom>
          <a:solidFill>
            <a:srgbClr val="FFF1E6"/>
          </a:solidFill>
          <a:ln/>
        </p:spPr>
        <p:txBody>
          <a:bodyPr wrap="square" rtlCol="0" anchor="ctr"/>
          <a:lstStyle/>
          <a:p>
            <a:pPr indent="0" marL="0">
              <a:buNone/>
            </a:pPr>
            <a:endParaRPr lang="en-US" dirty="0"/>
          </a:p>
        </p:txBody>
      </p:sp>
      <p:sp>
        <p:nvSpPr>
          <p:cNvPr id="45" name="Text 43"/>
          <p:cNvSpPr/>
          <p:nvPr/>
        </p:nvSpPr>
        <p:spPr>
          <a:xfrm>
            <a:off x="635794" y="3713857"/>
            <a:ext cx="242888" cy="200025"/>
          </a:xfrm>
          <a:prstGeom prst="rect">
            <a:avLst/>
          </a:prstGeom>
          <a:noFill/>
          <a:ln/>
        </p:spPr>
        <p:txBody>
          <a:bodyPr wrap="none" lIns="0" tIns="0" rIns="0" bIns="0" rtlCol="0" anchor="ctr"/>
          <a:lstStyle/>
          <a:p>
            <a:pPr algn="ctr" indent="0" marL="0">
              <a:lnSpc>
                <a:spcPts val="1046"/>
              </a:lnSpc>
              <a:buNone/>
            </a:pPr>
            <a:r>
              <a:rPr lang="en-US" sz="800" b="1" dirty="0">
                <a:solidFill>
                  <a:srgbClr val="EA680C"/>
                </a:solidFill>
                <a:latin typeface="Liberation Sans Narrow" pitchFamily="34" charset="0"/>
                <a:ea typeface="Liberation Sans Narrow" pitchFamily="34" charset="-122"/>
                <a:cs typeface="Liberation Sans Narrow" pitchFamily="34" charset="-120"/>
              </a:rPr>
              <a:t>5</a:t>
            </a:r>
            <a:endParaRPr lang="en-US" sz="800" dirty="0"/>
          </a:p>
        </p:txBody>
      </p:sp>
      <p:sp>
        <p:nvSpPr>
          <p:cNvPr id="46" name="Text 44"/>
          <p:cNvSpPr/>
          <p:nvPr/>
        </p:nvSpPr>
        <p:spPr>
          <a:xfrm>
            <a:off x="921544" y="3713857"/>
            <a:ext cx="3386137" cy="112206"/>
          </a:xfrm>
          <a:prstGeom prst="rect">
            <a:avLst/>
          </a:prstGeom>
          <a:noFill/>
          <a:ln/>
        </p:spPr>
        <p:txBody>
          <a:bodyPr wrap="none" lIns="0" tIns="0" rIns="0" bIns="0" rtlCol="0" anchor="t">
            <a:normAutofit/>
          </a:bodyPr>
          <a:lstStyle/>
          <a:p>
            <a:pPr algn="l" indent="0" marL="0">
              <a:lnSpc>
                <a:spcPts val="987"/>
              </a:lnSpc>
              <a:buNone/>
            </a:pPr>
            <a:r>
              <a:rPr lang="en-US" sz="800" dirty="0">
                <a:solidFill>
                  <a:srgbClr val="134E4A"/>
                </a:solidFill>
                <a:latin typeface="Carlito" pitchFamily="34" charset="0"/>
                <a:ea typeface="Carlito" pitchFamily="34" charset="-122"/>
                <a:cs typeface="Carlito" pitchFamily="34" charset="-120"/>
              </a:rPr>
              <a:t>Final Inclusion</a:t>
            </a:r>
            <a:endParaRPr lang="en-US" sz="800" dirty="0"/>
          </a:p>
        </p:txBody>
      </p:sp>
      <p:sp>
        <p:nvSpPr>
          <p:cNvPr id="47" name="Text 45"/>
          <p:cNvSpPr/>
          <p:nvPr/>
        </p:nvSpPr>
        <p:spPr>
          <a:xfrm>
            <a:off x="921544" y="3853495"/>
            <a:ext cx="3386138" cy="129480"/>
          </a:xfrm>
          <a:prstGeom prst="rect">
            <a:avLst/>
          </a:prstGeom>
          <a:noFill/>
          <a:ln/>
        </p:spPr>
        <p:txBody>
          <a:bodyPr wrap="square" lIns="0" tIns="0" rIns="0" bIns="0" rtlCol="0" anchor="t"/>
          <a:lstStyle/>
          <a:p>
            <a:pPr algn="l" indent="0" marL="0">
              <a:lnSpc>
                <a:spcPts val="1020"/>
              </a:lnSpc>
              <a:buNone/>
            </a:pPr>
            <a:r>
              <a:rPr lang="en-US" sz="703" dirty="0">
                <a:solidFill>
                  <a:srgbClr val="475569"/>
                </a:solidFill>
                <a:latin typeface="Carlito" pitchFamily="34" charset="0"/>
                <a:ea typeface="Carlito" pitchFamily="34" charset="-122"/>
                <a:cs typeface="Carlito" pitchFamily="34" charset="-120"/>
              </a:rPr>
              <a:t>Daftar studi final disepakati dan didokumentasikan di diagram PRISMA.</a:t>
            </a:r>
            <a:endParaRPr lang="en-US" sz="703" dirty="0"/>
          </a:p>
        </p:txBody>
      </p:sp>
      <p:sp>
        <p:nvSpPr>
          <p:cNvPr id="48" name="Text 46"/>
          <p:cNvSpPr/>
          <p:nvPr/>
        </p:nvSpPr>
        <p:spPr>
          <a:xfrm>
            <a:off x="4657725" y="1133512"/>
            <a:ext cx="4029075" cy="3013770"/>
          </a:xfrm>
          <a:prstGeom prst="roundRect">
            <a:avLst>
              <a:gd name="adj" fmla="val 3793"/>
            </a:avLst>
          </a:prstGeom>
          <a:solidFill>
            <a:srgbClr val="FFFFFF"/>
          </a:solidFill>
          <a:ln/>
        </p:spPr>
        <p:txBody>
          <a:bodyPr wrap="square" rtlCol="0" anchor="ctr"/>
          <a:lstStyle/>
          <a:p>
            <a:pPr indent="0" marL="0">
              <a:buNone/>
            </a:pPr>
            <a:endParaRPr lang="en-US" dirty="0"/>
          </a:p>
        </p:txBody>
      </p:sp>
      <p:sp>
        <p:nvSpPr>
          <p:cNvPr id="49" name="Text 47"/>
          <p:cNvSpPr/>
          <p:nvPr/>
        </p:nvSpPr>
        <p:spPr>
          <a:xfrm>
            <a:off x="4834890" y="1286420"/>
            <a:ext cx="1702735" cy="212777"/>
          </a:xfrm>
          <a:prstGeom prst="roundRect">
            <a:avLst>
              <a:gd name="adj" fmla="val 4472041"/>
            </a:avLst>
          </a:prstGeom>
          <a:solidFill>
            <a:srgbClr val="FFF1E6"/>
          </a:solidFill>
          <a:ln/>
        </p:spPr>
        <p:txBody>
          <a:bodyPr wrap="square" rtlCol="0" anchor="ctr"/>
          <a:lstStyle/>
          <a:p>
            <a:pPr indent="0" marL="0">
              <a:buNone/>
            </a:pPr>
            <a:endParaRPr lang="en-US" dirty="0"/>
          </a:p>
        </p:txBody>
      </p:sp>
      <p:sp>
        <p:nvSpPr>
          <p:cNvPr id="50" name="Text 48"/>
          <p:cNvSpPr/>
          <p:nvPr/>
        </p:nvSpPr>
        <p:spPr>
          <a:xfrm>
            <a:off x="4857750" y="1297818"/>
            <a:ext cx="1657015" cy="189979"/>
          </a:xfrm>
          <a:prstGeom prst="rect">
            <a:avLst/>
          </a:prstGeom>
          <a:noFill/>
          <a:ln/>
        </p:spPr>
        <p:txBody>
          <a:bodyPr wrap="none" lIns="0" tIns="0" rIns="0" bIns="0" rtlCol="0" anchor="ctr"/>
          <a:lstStyle/>
          <a:p>
            <a:pPr algn="ctr" indent="0" marL="0">
              <a:lnSpc>
                <a:spcPts val="1046"/>
              </a:lnSpc>
              <a:buNone/>
            </a:pPr>
            <a:r>
              <a:rPr lang="en-US" sz="800" spc="27" kern="0" dirty="0">
                <a:solidFill>
                  <a:srgbClr val="EA680C"/>
                </a:solidFill>
                <a:latin typeface="Carlito" pitchFamily="34" charset="0"/>
                <a:ea typeface="Carlito" pitchFamily="34" charset="-122"/>
                <a:cs typeface="Carlito" pitchFamily="34" charset="-120"/>
              </a:rPr>
              <a:t>QUALITY ASSESSMENT TOOLS</a:t>
            </a:r>
            <a:endParaRPr lang="en-US" sz="800" dirty="0"/>
          </a:p>
        </p:txBody>
      </p:sp>
      <p:sp>
        <p:nvSpPr>
          <p:cNvPr id="51" name="Text 49"/>
          <p:cNvSpPr/>
          <p:nvPr/>
        </p:nvSpPr>
        <p:spPr>
          <a:xfrm>
            <a:off x="8351044" y="1314227"/>
            <a:ext cx="157163" cy="157163"/>
          </a:xfrm>
          <a:prstGeom prst="rect">
            <a:avLst/>
          </a:prstGeom>
          <a:noFill/>
          <a:ln/>
        </p:spPr>
        <p:txBody>
          <a:bodyPr wrap="none" lIns="0" tIns="0" rIns="0" bIns="0" rtlCol="0" anchor="ctr"/>
          <a:lstStyle/>
          <a:p>
            <a:pPr algn="ctr" indent="0" marL="0">
              <a:buNone/>
            </a:pPr>
            <a:r>
              <a:rPr lang="en-US" sz="1547" dirty="0">
                <a:solidFill>
                  <a:srgbClr val="F97316"/>
                </a:solidFill>
                <a:latin typeface="Segoe UI Symbol" pitchFamily="34" charset="0"/>
                <a:ea typeface="Segoe UI Symbol" pitchFamily="34" charset="-122"/>
                <a:cs typeface="Segoe UI Symbol" pitchFamily="34" charset="-120"/>
              </a:rPr>
              <a:t>⛨</a:t>
            </a:r>
            <a:endParaRPr lang="en-US" sz="1547" dirty="0"/>
          </a:p>
        </p:txBody>
      </p:sp>
      <p:sp>
        <p:nvSpPr>
          <p:cNvPr id="52" name="Text 50"/>
          <p:cNvSpPr/>
          <p:nvPr/>
        </p:nvSpPr>
        <p:spPr>
          <a:xfrm>
            <a:off x="4857750" y="1559235"/>
            <a:ext cx="3760184" cy="172593"/>
          </a:xfrm>
          <a:prstGeom prst="rect">
            <a:avLst/>
          </a:prstGeom>
          <a:noFill/>
          <a:ln/>
        </p:spPr>
        <p:txBody>
          <a:bodyPr wrap="square" lIns="0" tIns="0" rIns="0" bIns="0" rtlCol="0" anchor="t">
            <a:normAutofit/>
          </a:bodyPr>
          <a:lstStyle/>
          <a:p>
            <a:pPr algn="l" indent="0" marL="0">
              <a:lnSpc>
                <a:spcPts val="1350"/>
              </a:lnSpc>
              <a:buNone/>
            </a:pPr>
            <a:r>
              <a:rPr lang="en-US" sz="1125" dirty="0">
                <a:solidFill>
                  <a:srgbClr val="134E4A"/>
                </a:solidFill>
                <a:latin typeface="Tinos" pitchFamily="34" charset="0"/>
                <a:ea typeface="Tinos" pitchFamily="34" charset="-122"/>
                <a:cs typeface="Tinos" pitchFamily="34" charset="-120"/>
              </a:rPr>
              <a:t>Alat Penilaian Risk of Bias</a:t>
            </a:r>
            <a:endParaRPr lang="en-US" sz="1125" dirty="0"/>
          </a:p>
        </p:txBody>
      </p:sp>
      <p:sp>
        <p:nvSpPr>
          <p:cNvPr id="53" name="Text 51"/>
          <p:cNvSpPr/>
          <p:nvPr/>
        </p:nvSpPr>
        <p:spPr>
          <a:xfrm>
            <a:off x="4857750" y="1759260"/>
            <a:ext cx="3650456" cy="159076"/>
          </a:xfrm>
          <a:prstGeom prst="rect">
            <a:avLst/>
          </a:prstGeom>
          <a:noFill/>
          <a:ln/>
        </p:spPr>
        <p:txBody>
          <a:bodyPr wrap="square" lIns="0" tIns="0" rIns="0" bIns="0" rtlCol="0" anchor="t"/>
          <a:lstStyle/>
          <a:p>
            <a:pPr algn="l" indent="0" marL="0">
              <a:lnSpc>
                <a:spcPts val="938"/>
              </a:lnSpc>
              <a:buNone/>
            </a:pPr>
            <a:r>
              <a:rPr lang="en-US" sz="800" dirty="0">
                <a:solidFill>
                  <a:srgbClr val="64748B"/>
                </a:solidFill>
                <a:latin typeface="Carlito" pitchFamily="34" charset="0"/>
                <a:ea typeface="Carlito" pitchFamily="34" charset="-122"/>
                <a:cs typeface="Carlito" pitchFamily="34" charset="-120"/>
              </a:rPr>
              <a:t>Empat instrumen standar sesuai jenis studi yang direview.</a:t>
            </a:r>
            <a:endParaRPr lang="en-US" sz="800" dirty="0"/>
          </a:p>
        </p:txBody>
      </p:sp>
      <p:sp>
        <p:nvSpPr>
          <p:cNvPr id="54" name="Text 52"/>
          <p:cNvSpPr/>
          <p:nvPr/>
        </p:nvSpPr>
        <p:spPr>
          <a:xfrm>
            <a:off x="4857750" y="2035522"/>
            <a:ext cx="157163" cy="157163"/>
          </a:xfrm>
          <a:prstGeom prst="rect">
            <a:avLst/>
          </a:prstGeom>
          <a:noFill/>
          <a:ln/>
        </p:spPr>
        <p:txBody>
          <a:bodyPr wrap="none" lIns="0" tIns="0" rIns="0" bIns="0" rtlCol="0" anchor="ctr"/>
          <a:lstStyle/>
          <a:p>
            <a:pPr algn="ctr" indent="0" marL="0">
              <a:buNone/>
            </a:pPr>
            <a:r>
              <a:rPr lang="en-US" sz="1547" dirty="0">
                <a:solidFill>
                  <a:srgbClr val="F97316"/>
                </a:solidFill>
                <a:latin typeface="Segoe UI Symbol" pitchFamily="34" charset="0"/>
                <a:ea typeface="Segoe UI Symbol" pitchFamily="34" charset="-122"/>
                <a:cs typeface="Segoe UI Symbol" pitchFamily="34" charset="-120"/>
              </a:rPr>
              <a:t>⚗</a:t>
            </a:r>
            <a:endParaRPr lang="en-US" sz="1547" dirty="0"/>
          </a:p>
        </p:txBody>
      </p:sp>
      <p:sp>
        <p:nvSpPr>
          <p:cNvPr id="55" name="Text 53"/>
          <p:cNvSpPr/>
          <p:nvPr/>
        </p:nvSpPr>
        <p:spPr>
          <a:xfrm>
            <a:off x="5078016" y="2021235"/>
            <a:ext cx="898754" cy="169980"/>
          </a:xfrm>
          <a:prstGeom prst="rect">
            <a:avLst/>
          </a:prstGeom>
          <a:noFill/>
          <a:ln/>
        </p:spPr>
        <p:txBody>
          <a:bodyPr wrap="none" lIns="0" tIns="0" rIns="0" bIns="0" rtlCol="0" anchor="t"/>
          <a:lstStyle/>
          <a:p>
            <a:pPr algn="l" indent="0" marL="0">
              <a:lnSpc>
                <a:spcPts val="1221"/>
              </a:lnSpc>
              <a:buNone/>
            </a:pPr>
            <a:r>
              <a:rPr lang="en-US" sz="800" dirty="0">
                <a:solidFill>
                  <a:srgbClr val="134E4A"/>
                </a:solidFill>
                <a:latin typeface="Liberation Sans Narrow" pitchFamily="34" charset="0"/>
                <a:ea typeface="Liberation Sans Narrow" pitchFamily="34" charset="-122"/>
                <a:cs typeface="Liberation Sans Narrow" pitchFamily="34" charset="-120"/>
              </a:rPr>
              <a:t>Cochrane RoB 2</a:t>
            </a:r>
            <a:endParaRPr lang="en-US" sz="800" dirty="0"/>
          </a:p>
        </p:txBody>
      </p:sp>
      <p:sp>
        <p:nvSpPr>
          <p:cNvPr id="56" name="Text 54"/>
          <p:cNvSpPr/>
          <p:nvPr/>
        </p:nvSpPr>
        <p:spPr>
          <a:xfrm>
            <a:off x="5849169" y="2042666"/>
            <a:ext cx="2659038" cy="169980"/>
          </a:xfrm>
          <a:prstGeom prst="rect">
            <a:avLst/>
          </a:prstGeom>
          <a:noFill/>
          <a:ln/>
        </p:spPr>
        <p:txBody>
          <a:bodyPr wrap="none" lIns="0" tIns="0" rIns="0" bIns="0" rtlCol="0" anchor="t"/>
          <a:lstStyle/>
          <a:p>
            <a:pPr algn="l" indent="0" marL="0">
              <a:lnSpc>
                <a:spcPts val="915"/>
              </a:lnSpc>
              <a:buNone/>
            </a:pPr>
            <a:r>
              <a:rPr lang="en-US" sz="800" spc="35" kern="0" dirty="0">
                <a:solidFill>
                  <a:srgbClr val="64748B"/>
                </a:solidFill>
                <a:latin typeface="Carlito" pitchFamily="34" charset="0"/>
                <a:ea typeface="Carlito" pitchFamily="34" charset="-122"/>
                <a:cs typeface="Carlito" pitchFamily="34" charset="-120"/>
              </a:rPr>
              <a:t>UNTUK RCT</a:t>
            </a:r>
            <a:endParaRPr lang="en-US" sz="800" dirty="0"/>
          </a:p>
        </p:txBody>
      </p:sp>
      <p:sp>
        <p:nvSpPr>
          <p:cNvPr id="57" name="Text 55"/>
          <p:cNvSpPr/>
          <p:nvPr/>
        </p:nvSpPr>
        <p:spPr>
          <a:xfrm>
            <a:off x="5086350" y="2190452"/>
            <a:ext cx="3421856" cy="159106"/>
          </a:xfrm>
          <a:prstGeom prst="rect">
            <a:avLst/>
          </a:prstGeom>
          <a:noFill/>
          <a:ln/>
        </p:spPr>
        <p:txBody>
          <a:bodyPr wrap="square" lIns="0" tIns="0" rIns="0" bIns="0" rtlCol="0" anchor="t"/>
          <a:lstStyle/>
          <a:p>
            <a:pPr algn="l" indent="0" marL="0">
              <a:lnSpc>
                <a:spcPts val="1020"/>
              </a:lnSpc>
              <a:buNone/>
            </a:pPr>
            <a:r>
              <a:rPr lang="en-US" sz="703" dirty="0">
                <a:solidFill>
                  <a:srgbClr val="475569"/>
                </a:solidFill>
                <a:latin typeface="Carlito" pitchFamily="34" charset="0"/>
                <a:ea typeface="Carlito" pitchFamily="34" charset="-122"/>
                <a:cs typeface="Carlito" pitchFamily="34" charset="-120"/>
              </a:rPr>
              <a:t>Evaluasi 5 domain bias dengan judgement </a:t>
            </a:r>
            <a:pPr algn="l" indent="0" marL="0">
              <a:lnSpc>
                <a:spcPts val="1020"/>
              </a:lnSpc>
              <a:buNone/>
            </a:pPr>
            <a:r>
              <a:rPr lang="en-US" sz="703" i="1" dirty="0">
                <a:solidFill>
                  <a:srgbClr val="475569"/>
                </a:solidFill>
                <a:latin typeface="Carlito" pitchFamily="34" charset="0"/>
                <a:ea typeface="Carlito" pitchFamily="34" charset="-122"/>
                <a:cs typeface="Carlito" pitchFamily="34" charset="-120"/>
              </a:rPr>
              <a:t>low / some concerns / high</a:t>
            </a:r>
            <a:pPr algn="l" indent="0" marL="0">
              <a:lnSpc>
                <a:spcPts val="1020"/>
              </a:lnSpc>
              <a:buNone/>
            </a:pPr>
            <a:r>
              <a:rPr lang="en-US" sz="703" dirty="0">
                <a:solidFill>
                  <a:srgbClr val="475569"/>
                </a:solidFill>
                <a:latin typeface="Carlito" pitchFamily="34" charset="0"/>
                <a:ea typeface="Carlito" pitchFamily="34" charset="-122"/>
                <a:cs typeface="Carlito" pitchFamily="34" charset="-120"/>
              </a:rPr>
              <a:t>.</a:t>
            </a:r>
            <a:endParaRPr lang="en-US" sz="703" dirty="0"/>
          </a:p>
        </p:txBody>
      </p:sp>
      <p:sp>
        <p:nvSpPr>
          <p:cNvPr id="58" name="Text 56"/>
          <p:cNvSpPr/>
          <p:nvPr/>
        </p:nvSpPr>
        <p:spPr>
          <a:xfrm>
            <a:off x="4857750" y="2455664"/>
            <a:ext cx="157163" cy="157163"/>
          </a:xfrm>
          <a:prstGeom prst="rect">
            <a:avLst/>
          </a:prstGeom>
          <a:noFill/>
          <a:ln/>
        </p:spPr>
        <p:txBody>
          <a:bodyPr wrap="none" lIns="0" tIns="0" rIns="0" bIns="0" rtlCol="0" anchor="ctr"/>
          <a:lstStyle/>
          <a:p>
            <a:pPr algn="ctr" indent="0" marL="0">
              <a:buNone/>
            </a:pPr>
            <a:r>
              <a:rPr lang="en-US" sz="1547" dirty="0">
                <a:solidFill>
                  <a:srgbClr val="F97316"/>
                </a:solidFill>
                <a:latin typeface="Segoe UI Symbol" pitchFamily="34" charset="0"/>
                <a:ea typeface="Segoe UI Symbol" pitchFamily="34" charset="-122"/>
                <a:cs typeface="Segoe UI Symbol" pitchFamily="34" charset="-120"/>
              </a:rPr>
              <a:t>✓</a:t>
            </a:r>
            <a:endParaRPr lang="en-US" sz="1547" dirty="0"/>
          </a:p>
        </p:txBody>
      </p:sp>
      <p:sp>
        <p:nvSpPr>
          <p:cNvPr id="59" name="Text 57"/>
          <p:cNvSpPr/>
          <p:nvPr/>
        </p:nvSpPr>
        <p:spPr>
          <a:xfrm>
            <a:off x="5086350" y="2441377"/>
            <a:ext cx="1187788" cy="169980"/>
          </a:xfrm>
          <a:prstGeom prst="rect">
            <a:avLst/>
          </a:prstGeom>
          <a:noFill/>
          <a:ln/>
        </p:spPr>
        <p:txBody>
          <a:bodyPr wrap="none" lIns="0" tIns="0" rIns="0" bIns="0" rtlCol="0" anchor="t"/>
          <a:lstStyle/>
          <a:p>
            <a:pPr algn="l" indent="0" marL="0">
              <a:lnSpc>
                <a:spcPts val="1221"/>
              </a:lnSpc>
              <a:buNone/>
            </a:pPr>
            <a:r>
              <a:rPr lang="en-US" sz="788" dirty="0">
                <a:solidFill>
                  <a:srgbClr val="134E4A"/>
                </a:solidFill>
                <a:latin typeface="Tinos" pitchFamily="34" charset="0"/>
                <a:ea typeface="Tinos" pitchFamily="34" charset="-122"/>
                <a:cs typeface="Tinos" pitchFamily="34" charset="-120"/>
              </a:rPr>
              <a:t>JBI Critical Appraisal</a:t>
            </a:r>
            <a:endParaRPr lang="en-US" sz="788" dirty="0"/>
          </a:p>
        </p:txBody>
      </p:sp>
      <p:sp>
        <p:nvSpPr>
          <p:cNvPr id="60" name="Text 58"/>
          <p:cNvSpPr/>
          <p:nvPr/>
        </p:nvSpPr>
        <p:spPr>
          <a:xfrm>
            <a:off x="6093730" y="2462808"/>
            <a:ext cx="2414476" cy="169980"/>
          </a:xfrm>
          <a:prstGeom prst="rect">
            <a:avLst/>
          </a:prstGeom>
          <a:noFill/>
          <a:ln/>
        </p:spPr>
        <p:txBody>
          <a:bodyPr wrap="none" lIns="0" tIns="0" rIns="0" bIns="0" rtlCol="0" anchor="t"/>
          <a:lstStyle/>
          <a:p>
            <a:pPr algn="l" indent="0" marL="0">
              <a:lnSpc>
                <a:spcPts val="915"/>
              </a:lnSpc>
              <a:buNone/>
            </a:pPr>
            <a:r>
              <a:rPr lang="en-US" sz="800" spc="35" kern="0" dirty="0">
                <a:solidFill>
                  <a:srgbClr val="64748B"/>
                </a:solidFill>
                <a:latin typeface="Carlito" pitchFamily="34" charset="0"/>
                <a:ea typeface="Carlito" pitchFamily="34" charset="-122"/>
                <a:cs typeface="Carlito" pitchFamily="34" charset="-120"/>
              </a:rPr>
              <a:t>MULTI-DESIGN</a:t>
            </a:r>
            <a:endParaRPr lang="en-US" sz="800" dirty="0"/>
          </a:p>
        </p:txBody>
      </p:sp>
      <p:sp>
        <p:nvSpPr>
          <p:cNvPr id="61" name="Text 59"/>
          <p:cNvSpPr/>
          <p:nvPr/>
        </p:nvSpPr>
        <p:spPr>
          <a:xfrm>
            <a:off x="5086350" y="2610594"/>
            <a:ext cx="3421856" cy="129480"/>
          </a:xfrm>
          <a:prstGeom prst="rect">
            <a:avLst/>
          </a:prstGeom>
          <a:noFill/>
          <a:ln/>
        </p:spPr>
        <p:txBody>
          <a:bodyPr wrap="square" lIns="0" tIns="0" rIns="0" bIns="0" rtlCol="0" anchor="t"/>
          <a:lstStyle/>
          <a:p>
            <a:pPr algn="l" indent="0" marL="0">
              <a:lnSpc>
                <a:spcPts val="1020"/>
              </a:lnSpc>
              <a:buNone/>
            </a:pPr>
            <a:r>
              <a:rPr lang="en-US" sz="703" dirty="0">
                <a:solidFill>
                  <a:srgbClr val="475569"/>
                </a:solidFill>
                <a:latin typeface="Carlito" pitchFamily="34" charset="0"/>
                <a:ea typeface="Carlito" pitchFamily="34" charset="-122"/>
                <a:cs typeface="Carlito" pitchFamily="34" charset="-120"/>
              </a:rPr>
              <a:t>8 checklist tergantung desain studi (cross-sectional, cohort, qualitative).</a:t>
            </a:r>
            <a:endParaRPr lang="en-US" sz="703" dirty="0"/>
          </a:p>
        </p:txBody>
      </p:sp>
      <p:sp>
        <p:nvSpPr>
          <p:cNvPr id="62" name="Text 60"/>
          <p:cNvSpPr/>
          <p:nvPr/>
        </p:nvSpPr>
        <p:spPr>
          <a:xfrm>
            <a:off x="4857750" y="2875806"/>
            <a:ext cx="157163" cy="157163"/>
          </a:xfrm>
          <a:prstGeom prst="rect">
            <a:avLst/>
          </a:prstGeom>
          <a:noFill/>
          <a:ln/>
        </p:spPr>
        <p:txBody>
          <a:bodyPr wrap="none" lIns="0" tIns="0" rIns="0" bIns="0" rtlCol="0" anchor="ctr"/>
          <a:lstStyle/>
          <a:p>
            <a:pPr algn="ctr" indent="0" marL="0">
              <a:buNone/>
            </a:pPr>
            <a:r>
              <a:rPr lang="en-US" sz="1547" dirty="0">
                <a:solidFill>
                  <a:srgbClr val="F97316"/>
                </a:solidFill>
                <a:latin typeface="Segoe UI Symbol" pitchFamily="34" charset="0"/>
                <a:ea typeface="Segoe UI Symbol" pitchFamily="34" charset="-122"/>
                <a:cs typeface="Segoe UI Symbol" pitchFamily="34" charset="-120"/>
              </a:rPr>
              <a:t>✿</a:t>
            </a:r>
            <a:endParaRPr lang="en-US" sz="1547" dirty="0"/>
          </a:p>
        </p:txBody>
      </p:sp>
      <p:sp>
        <p:nvSpPr>
          <p:cNvPr id="63" name="Text 61"/>
          <p:cNvSpPr/>
          <p:nvPr/>
        </p:nvSpPr>
        <p:spPr>
          <a:xfrm>
            <a:off x="5086350" y="2861518"/>
            <a:ext cx="728338" cy="169980"/>
          </a:xfrm>
          <a:prstGeom prst="rect">
            <a:avLst/>
          </a:prstGeom>
          <a:noFill/>
          <a:ln/>
        </p:spPr>
        <p:txBody>
          <a:bodyPr wrap="none" lIns="0" tIns="0" rIns="0" bIns="0" rtlCol="0" anchor="t"/>
          <a:lstStyle/>
          <a:p>
            <a:pPr algn="l" indent="0" marL="0">
              <a:lnSpc>
                <a:spcPts val="1221"/>
              </a:lnSpc>
              <a:buNone/>
            </a:pPr>
            <a:r>
              <a:rPr lang="en-US" sz="800" dirty="0">
                <a:solidFill>
                  <a:srgbClr val="134E4A"/>
                </a:solidFill>
                <a:latin typeface="Liberation Sans Narrow" pitchFamily="34" charset="0"/>
                <a:ea typeface="Liberation Sans Narrow" pitchFamily="34" charset="-122"/>
                <a:cs typeface="Liberation Sans Narrow" pitchFamily="34" charset="-120"/>
              </a:rPr>
              <a:t>AMSTAR-2</a:t>
            </a:r>
            <a:endParaRPr lang="en-US" sz="800" dirty="0"/>
          </a:p>
        </p:txBody>
      </p:sp>
      <p:sp>
        <p:nvSpPr>
          <p:cNvPr id="64" name="Text 62"/>
          <p:cNvSpPr/>
          <p:nvPr/>
        </p:nvSpPr>
        <p:spPr>
          <a:xfrm>
            <a:off x="5652827" y="2882950"/>
            <a:ext cx="2855379" cy="169980"/>
          </a:xfrm>
          <a:prstGeom prst="rect">
            <a:avLst/>
          </a:prstGeom>
          <a:noFill/>
          <a:ln/>
        </p:spPr>
        <p:txBody>
          <a:bodyPr wrap="none" lIns="0" tIns="0" rIns="0" bIns="0" rtlCol="0" anchor="t"/>
          <a:lstStyle/>
          <a:p>
            <a:pPr algn="l" indent="0" marL="0">
              <a:lnSpc>
                <a:spcPts val="915"/>
              </a:lnSpc>
              <a:buNone/>
            </a:pPr>
            <a:r>
              <a:rPr lang="en-US" sz="800" spc="35" kern="0" dirty="0">
                <a:solidFill>
                  <a:srgbClr val="64748B"/>
                </a:solidFill>
                <a:latin typeface="Carlito" pitchFamily="34" charset="0"/>
                <a:ea typeface="Carlito" pitchFamily="34" charset="-122"/>
                <a:cs typeface="Carlito" pitchFamily="34" charset="-120"/>
              </a:rPr>
              <a:t>REVIEW OF REVIEWS</a:t>
            </a:r>
            <a:endParaRPr lang="en-US" sz="800" dirty="0"/>
          </a:p>
        </p:txBody>
      </p:sp>
      <p:sp>
        <p:nvSpPr>
          <p:cNvPr id="65" name="Text 63"/>
          <p:cNvSpPr/>
          <p:nvPr/>
        </p:nvSpPr>
        <p:spPr>
          <a:xfrm>
            <a:off x="5086350" y="3030736"/>
            <a:ext cx="3421856" cy="129480"/>
          </a:xfrm>
          <a:prstGeom prst="rect">
            <a:avLst/>
          </a:prstGeom>
          <a:noFill/>
          <a:ln/>
        </p:spPr>
        <p:txBody>
          <a:bodyPr wrap="square" lIns="0" tIns="0" rIns="0" bIns="0" rtlCol="0" anchor="t"/>
          <a:lstStyle/>
          <a:p>
            <a:pPr algn="l" indent="0" marL="0">
              <a:lnSpc>
                <a:spcPts val="1020"/>
              </a:lnSpc>
              <a:buNone/>
            </a:pPr>
            <a:r>
              <a:rPr lang="en-US" sz="800" dirty="0">
                <a:solidFill>
                  <a:srgbClr val="475569"/>
                </a:solidFill>
                <a:latin typeface="Carlito" pitchFamily="34" charset="0"/>
                <a:ea typeface="Carlito" pitchFamily="34" charset="-122"/>
                <a:cs typeface="Carlito" pitchFamily="34" charset="-120"/>
              </a:rPr>
              <a:t>Untuk systematic review of reviews (umbrella review).</a:t>
            </a:r>
            <a:endParaRPr lang="en-US" sz="800" dirty="0"/>
          </a:p>
        </p:txBody>
      </p:sp>
      <p:sp>
        <p:nvSpPr>
          <p:cNvPr id="66" name="Text 64"/>
          <p:cNvSpPr/>
          <p:nvPr/>
        </p:nvSpPr>
        <p:spPr>
          <a:xfrm>
            <a:off x="4857750" y="3295948"/>
            <a:ext cx="157163" cy="157163"/>
          </a:xfrm>
          <a:prstGeom prst="rect">
            <a:avLst/>
          </a:prstGeom>
          <a:noFill/>
          <a:ln/>
        </p:spPr>
        <p:txBody>
          <a:bodyPr wrap="none" lIns="0" tIns="0" rIns="0" bIns="0" rtlCol="0" anchor="ctr"/>
          <a:lstStyle/>
          <a:p>
            <a:pPr algn="ctr" indent="0" marL="0">
              <a:buNone/>
            </a:pPr>
            <a:r>
              <a:rPr lang="en-US" sz="1547" dirty="0">
                <a:solidFill>
                  <a:srgbClr val="F97316"/>
                </a:solidFill>
                <a:latin typeface="Segoe UI Symbol" pitchFamily="34" charset="0"/>
                <a:ea typeface="Segoe UI Symbol" pitchFamily="34" charset="-122"/>
                <a:cs typeface="Segoe UI Symbol" pitchFamily="34" charset="-120"/>
              </a:rPr>
              <a:t>▦</a:t>
            </a:r>
            <a:endParaRPr lang="en-US" sz="1547" dirty="0"/>
          </a:p>
        </p:txBody>
      </p:sp>
      <p:sp>
        <p:nvSpPr>
          <p:cNvPr id="67" name="Text 65"/>
          <p:cNvSpPr/>
          <p:nvPr/>
        </p:nvSpPr>
        <p:spPr>
          <a:xfrm>
            <a:off x="5086350" y="3281660"/>
            <a:ext cx="577929" cy="169980"/>
          </a:xfrm>
          <a:prstGeom prst="rect">
            <a:avLst/>
          </a:prstGeom>
          <a:noFill/>
          <a:ln/>
        </p:spPr>
        <p:txBody>
          <a:bodyPr wrap="none" lIns="0" tIns="0" rIns="0" bIns="0" rtlCol="0" anchor="t"/>
          <a:lstStyle/>
          <a:p>
            <a:pPr algn="l" indent="0" marL="0">
              <a:lnSpc>
                <a:spcPts val="1221"/>
              </a:lnSpc>
              <a:buNone/>
            </a:pPr>
            <a:r>
              <a:rPr lang="en-US" sz="800" dirty="0">
                <a:solidFill>
                  <a:srgbClr val="134E4A"/>
                </a:solidFill>
                <a:latin typeface="Tinos" pitchFamily="34" charset="0"/>
                <a:ea typeface="Tinos" pitchFamily="34" charset="-122"/>
                <a:cs typeface="Tinos" pitchFamily="34" charset="-120"/>
              </a:rPr>
              <a:t>GRADE</a:t>
            </a:r>
            <a:endParaRPr lang="en-US" sz="800" dirty="0"/>
          </a:p>
        </p:txBody>
      </p:sp>
      <p:sp>
        <p:nvSpPr>
          <p:cNvPr id="68" name="Text 66"/>
          <p:cNvSpPr/>
          <p:nvPr/>
        </p:nvSpPr>
        <p:spPr>
          <a:xfrm>
            <a:off x="5504706" y="3303091"/>
            <a:ext cx="3003500" cy="169980"/>
          </a:xfrm>
          <a:prstGeom prst="rect">
            <a:avLst/>
          </a:prstGeom>
          <a:noFill/>
          <a:ln/>
        </p:spPr>
        <p:txBody>
          <a:bodyPr wrap="none" lIns="0" tIns="0" rIns="0" bIns="0" rtlCol="0" anchor="t"/>
          <a:lstStyle/>
          <a:p>
            <a:pPr algn="l" indent="0" marL="0">
              <a:lnSpc>
                <a:spcPts val="915"/>
              </a:lnSpc>
              <a:buNone/>
            </a:pPr>
            <a:r>
              <a:rPr lang="en-US" sz="800" spc="35" kern="0" dirty="0">
                <a:solidFill>
                  <a:srgbClr val="64748B"/>
                </a:solidFill>
                <a:latin typeface="Carlito" pitchFamily="34" charset="0"/>
                <a:ea typeface="Carlito" pitchFamily="34" charset="-122"/>
                <a:cs typeface="Carlito" pitchFamily="34" charset="-120"/>
              </a:rPr>
              <a:t>CERTAINTY</a:t>
            </a:r>
            <a:endParaRPr lang="en-US" sz="800" dirty="0"/>
          </a:p>
        </p:txBody>
      </p:sp>
      <p:sp>
        <p:nvSpPr>
          <p:cNvPr id="69" name="Text 67"/>
          <p:cNvSpPr/>
          <p:nvPr/>
        </p:nvSpPr>
        <p:spPr>
          <a:xfrm>
            <a:off x="5086350" y="3450878"/>
            <a:ext cx="3421856" cy="129480"/>
          </a:xfrm>
          <a:prstGeom prst="rect">
            <a:avLst/>
          </a:prstGeom>
          <a:noFill/>
          <a:ln/>
        </p:spPr>
        <p:txBody>
          <a:bodyPr wrap="square" lIns="0" tIns="0" rIns="0" bIns="0" rtlCol="0" anchor="t"/>
          <a:lstStyle/>
          <a:p>
            <a:pPr algn="l" indent="0" marL="0">
              <a:lnSpc>
                <a:spcPts val="1020"/>
              </a:lnSpc>
              <a:buNone/>
            </a:pPr>
            <a:r>
              <a:rPr lang="en-US" sz="703" dirty="0">
                <a:solidFill>
                  <a:srgbClr val="475569"/>
                </a:solidFill>
                <a:latin typeface="Carlito" pitchFamily="34" charset="0"/>
                <a:ea typeface="Carlito" pitchFamily="34" charset="-122"/>
                <a:cs typeface="Carlito" pitchFamily="34" charset="-120"/>
              </a:rPr>
              <a:t>Menilai certainty of evidence dari sangat rendah hingga tinggi.</a:t>
            </a:r>
            <a:endParaRPr lang="en-US" sz="703" dirty="0"/>
          </a:p>
        </p:txBody>
      </p:sp>
      <p:sp>
        <p:nvSpPr>
          <p:cNvPr id="70" name="Text 68"/>
          <p:cNvSpPr/>
          <p:nvPr/>
        </p:nvSpPr>
        <p:spPr>
          <a:xfrm>
            <a:off x="4857750" y="3801814"/>
            <a:ext cx="3650456" cy="109947"/>
          </a:xfrm>
          <a:prstGeom prst="rect">
            <a:avLst/>
          </a:prstGeom>
          <a:noFill/>
          <a:ln/>
        </p:spPr>
        <p:txBody>
          <a:bodyPr wrap="square" lIns="0" tIns="0" rIns="0" bIns="0" rtlCol="0" anchor="t"/>
          <a:lstStyle/>
          <a:p>
            <a:pPr algn="l" indent="0" marL="0">
              <a:lnSpc>
                <a:spcPts val="866"/>
              </a:lnSpc>
              <a:buNone/>
            </a:pPr>
            <a:r>
              <a:rPr lang="en-US" sz="619" i="1" dirty="0">
                <a:solidFill>
                  <a:srgbClr val="64748B"/>
                </a:solidFill>
                <a:latin typeface="Carlito" pitchFamily="34" charset="0"/>
                <a:ea typeface="Carlito" pitchFamily="34" charset="-122"/>
                <a:cs typeface="Carlito" pitchFamily="34" charset="-120"/>
              </a:rPr>
              <a:t>Hasil penilaian dilaporkan sebagai tabel risk-of-bias visual (PRISMA 2020 item 18–20).</a:t>
            </a:r>
            <a:endParaRPr lang="en-US" sz="619"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8"/>
        </a:solidFill>
      </p:bgPr>
    </p:bg>
    <p:spTree>
      <p:nvGrpSpPr>
        <p:cNvPr id="1" name=""/>
        <p:cNvGrpSpPr/>
        <p:nvPr/>
      </p:nvGrpSpPr>
      <p:grpSpPr>
        <a:xfrm>
          <a:off x="0" y="0"/>
          <a:ext cx="0" cy="0"/>
          <a:chOff x="0" y="0"/>
          <a:chExt cx="0" cy="0"/>
        </a:xfrm>
      </p:grpSpPr>
      <p:sp>
        <p:nvSpPr>
          <p:cNvPr id="2" name="Text 0"/>
          <p:cNvSpPr/>
          <p:nvPr/>
        </p:nvSpPr>
        <p:spPr>
          <a:xfrm>
            <a:off x="7071512" y="-214312"/>
            <a:ext cx="2072488" cy="1234440"/>
          </a:xfrm>
          <a:prstGeom prst="rect">
            <a:avLst/>
          </a:prstGeom>
          <a:noFill/>
          <a:ln/>
        </p:spPr>
        <p:txBody>
          <a:bodyPr wrap="square" lIns="0" tIns="0" rIns="0" bIns="0" rtlCol="0" anchor="t"/>
          <a:lstStyle/>
          <a:p>
            <a:pPr algn="l" indent="0" marL="0">
              <a:lnSpc>
                <a:spcPts val="9000"/>
              </a:lnSpc>
              <a:buNone/>
            </a:pPr>
            <a:r>
              <a:rPr lang="en-US" sz="9000" dirty="0">
                <a:solidFill>
                  <a:srgbClr val="134E4A">
                    <a:alpha val="5000"/>
                  </a:srgbClr>
                </a:solidFill>
                <a:latin typeface="Liberation Sans Narrow" pitchFamily="34" charset="0"/>
                <a:ea typeface="Liberation Sans Narrow" pitchFamily="34" charset="-122"/>
                <a:cs typeface="Liberation Sans Narrow" pitchFamily="34" charset="-120"/>
              </a:rPr>
              <a:t>03</a:t>
            </a:r>
            <a:endParaRPr lang="en-US" sz="9000" dirty="0"/>
          </a:p>
        </p:txBody>
      </p:sp>
      <p:sp>
        <p:nvSpPr>
          <p:cNvPr id="3" name="Shape 1"/>
          <p:cNvSpPr/>
          <p:nvPr/>
        </p:nvSpPr>
        <p:spPr>
          <a:xfrm>
            <a:off x="457200" y="994209"/>
            <a:ext cx="428625" cy="0"/>
          </a:xfrm>
          <a:prstGeom prst="line">
            <a:avLst/>
          </a:prstGeom>
          <a:noFill/>
          <a:ln w="21431">
            <a:solidFill>
              <a:srgbClr val="134E4A"/>
            </a:solidFill>
            <a:prstDash val="solid"/>
          </a:ln>
        </p:spPr>
      </p:sp>
      <p:sp>
        <p:nvSpPr>
          <p:cNvPr id="4" name="Shape 2"/>
          <p:cNvSpPr/>
          <p:nvPr/>
        </p:nvSpPr>
        <p:spPr>
          <a:xfrm>
            <a:off x="578644" y="1631566"/>
            <a:ext cx="1739503" cy="0"/>
          </a:xfrm>
          <a:prstGeom prst="line">
            <a:avLst/>
          </a:prstGeom>
          <a:noFill/>
          <a:ln w="7144">
            <a:solidFill>
              <a:srgbClr val="E2E8F0"/>
            </a:solidFill>
            <a:prstDash val="solid"/>
          </a:ln>
        </p:spPr>
      </p:sp>
      <p:sp>
        <p:nvSpPr>
          <p:cNvPr id="5" name="Shape 3"/>
          <p:cNvSpPr/>
          <p:nvPr/>
        </p:nvSpPr>
        <p:spPr>
          <a:xfrm>
            <a:off x="578644" y="3678362"/>
            <a:ext cx="1739503" cy="0"/>
          </a:xfrm>
          <a:prstGeom prst="line">
            <a:avLst/>
          </a:prstGeom>
          <a:noFill/>
          <a:ln w="7144">
            <a:solidFill>
              <a:srgbClr val="E2E8F0"/>
            </a:solidFill>
            <a:prstDash val="dash"/>
          </a:ln>
        </p:spPr>
      </p:sp>
      <p:sp>
        <p:nvSpPr>
          <p:cNvPr id="6" name="Shape 4"/>
          <p:cNvSpPr/>
          <p:nvPr/>
        </p:nvSpPr>
        <p:spPr>
          <a:xfrm>
            <a:off x="2661047" y="1602991"/>
            <a:ext cx="1739503" cy="0"/>
          </a:xfrm>
          <a:prstGeom prst="line">
            <a:avLst/>
          </a:prstGeom>
          <a:noFill/>
          <a:ln w="7144">
            <a:solidFill>
              <a:srgbClr val="E2E8F0"/>
            </a:solidFill>
            <a:prstDash val="solid"/>
          </a:ln>
        </p:spPr>
      </p:sp>
      <p:sp>
        <p:nvSpPr>
          <p:cNvPr id="7" name="Shape 5"/>
          <p:cNvSpPr/>
          <p:nvPr/>
        </p:nvSpPr>
        <p:spPr>
          <a:xfrm>
            <a:off x="4743450" y="1631566"/>
            <a:ext cx="1739503" cy="0"/>
          </a:xfrm>
          <a:prstGeom prst="line">
            <a:avLst/>
          </a:prstGeom>
          <a:noFill/>
          <a:ln w="7144">
            <a:solidFill>
              <a:srgbClr val="E2E8F0"/>
            </a:solidFill>
            <a:prstDash val="solid"/>
          </a:ln>
        </p:spPr>
      </p:sp>
      <p:sp>
        <p:nvSpPr>
          <p:cNvPr id="8" name="Shape 6"/>
          <p:cNvSpPr/>
          <p:nvPr/>
        </p:nvSpPr>
        <p:spPr>
          <a:xfrm>
            <a:off x="4743450" y="3678362"/>
            <a:ext cx="1739503" cy="0"/>
          </a:xfrm>
          <a:prstGeom prst="line">
            <a:avLst/>
          </a:prstGeom>
          <a:noFill/>
          <a:ln w="7144">
            <a:solidFill>
              <a:srgbClr val="E2E8F0"/>
            </a:solidFill>
            <a:prstDash val="dash"/>
          </a:ln>
        </p:spPr>
      </p:sp>
      <p:sp>
        <p:nvSpPr>
          <p:cNvPr id="9" name="Shape 7"/>
          <p:cNvSpPr/>
          <p:nvPr/>
        </p:nvSpPr>
        <p:spPr>
          <a:xfrm>
            <a:off x="6825853" y="1631566"/>
            <a:ext cx="1739503" cy="0"/>
          </a:xfrm>
          <a:prstGeom prst="line">
            <a:avLst/>
          </a:prstGeom>
          <a:noFill/>
          <a:ln w="7144">
            <a:solidFill>
              <a:srgbClr val="E2E8F0"/>
            </a:solidFill>
            <a:prstDash val="solid"/>
          </a:ln>
        </p:spPr>
      </p:sp>
      <p:sp>
        <p:nvSpPr>
          <p:cNvPr id="10" name="Shape 8"/>
          <p:cNvSpPr/>
          <p:nvPr/>
        </p:nvSpPr>
        <p:spPr>
          <a:xfrm>
            <a:off x="6825853" y="3678362"/>
            <a:ext cx="1739503" cy="0"/>
          </a:xfrm>
          <a:prstGeom prst="line">
            <a:avLst/>
          </a:prstGeom>
          <a:noFill/>
          <a:ln w="7144">
            <a:solidFill>
              <a:srgbClr val="E2E8F0"/>
            </a:solidFill>
            <a:prstDash val="dash"/>
          </a:ln>
        </p:spPr>
      </p:sp>
      <p:sp>
        <p:nvSpPr>
          <p:cNvPr id="11" name="Shape 9"/>
          <p:cNvSpPr/>
          <p:nvPr/>
        </p:nvSpPr>
        <p:spPr>
          <a:xfrm>
            <a:off x="471488" y="4091025"/>
            <a:ext cx="0" cy="642491"/>
          </a:xfrm>
          <a:prstGeom prst="line">
            <a:avLst/>
          </a:prstGeom>
          <a:noFill/>
          <a:ln w="28575">
            <a:solidFill>
              <a:srgbClr val="F97316"/>
            </a:solidFill>
            <a:prstDash val="solid"/>
          </a:ln>
        </p:spPr>
      </p:sp>
      <p:sp>
        <p:nvSpPr>
          <p:cNvPr id="12" name="Text 10"/>
          <p:cNvSpPr/>
          <p:nvPr/>
        </p:nvSpPr>
        <p:spPr>
          <a:xfrm>
            <a:off x="457200" y="160051"/>
            <a:ext cx="1457995" cy="212777"/>
          </a:xfrm>
          <a:prstGeom prst="roundRect">
            <a:avLst>
              <a:gd name="adj" fmla="val 4472041"/>
            </a:avLst>
          </a:prstGeom>
          <a:solidFill>
            <a:srgbClr val="E0ECEB"/>
          </a:solidFill>
          <a:ln/>
        </p:spPr>
        <p:txBody>
          <a:bodyPr wrap="square" rtlCol="0" anchor="ctr"/>
          <a:lstStyle/>
          <a:p>
            <a:pPr indent="0" marL="0">
              <a:buNone/>
            </a:pPr>
            <a:endParaRPr lang="en-US" dirty="0"/>
          </a:p>
        </p:txBody>
      </p:sp>
      <p:sp>
        <p:nvSpPr>
          <p:cNvPr id="13" name="Text 11"/>
          <p:cNvSpPr/>
          <p:nvPr/>
        </p:nvSpPr>
        <p:spPr>
          <a:xfrm>
            <a:off x="457200" y="171450"/>
            <a:ext cx="1457995" cy="189979"/>
          </a:xfrm>
          <a:prstGeom prst="rect">
            <a:avLst/>
          </a:prstGeom>
          <a:noFill/>
          <a:ln/>
        </p:spPr>
        <p:txBody>
          <a:bodyPr wrap="none" lIns="0" tIns="0" rIns="0" bIns="0" rtlCol="0" anchor="ctr"/>
          <a:lstStyle/>
          <a:p>
            <a:pPr algn="ctr" indent="0" marL="0">
              <a:lnSpc>
                <a:spcPts val="1046"/>
              </a:lnSpc>
              <a:buNone/>
            </a:pPr>
            <a:r>
              <a:rPr lang="en-US" sz="800" spc="27" kern="0" dirty="0">
                <a:solidFill>
                  <a:srgbClr val="134E4A"/>
                </a:solidFill>
                <a:latin typeface="Liberation Sans Narrow" pitchFamily="34" charset="0"/>
                <a:ea typeface="Liberation Sans Narrow" pitchFamily="34" charset="-122"/>
                <a:cs typeface="Liberation Sans Narrow" pitchFamily="34" charset="-120"/>
              </a:rPr>
              <a:t>BAB 03 · CHECKLIST 2020</a:t>
            </a:r>
            <a:endParaRPr lang="en-US" sz="800" dirty="0"/>
          </a:p>
        </p:txBody>
      </p:sp>
      <p:sp>
        <p:nvSpPr>
          <p:cNvPr id="14" name="Text 12"/>
          <p:cNvSpPr/>
          <p:nvPr/>
        </p:nvSpPr>
        <p:spPr>
          <a:xfrm>
            <a:off x="2000920" y="205494"/>
            <a:ext cx="1517111" cy="170047"/>
          </a:xfrm>
          <a:prstGeom prst="rect">
            <a:avLst/>
          </a:prstGeom>
          <a:noFill/>
          <a:ln/>
        </p:spPr>
        <p:txBody>
          <a:bodyPr wrap="none" lIns="0" tIns="0" rIns="0" bIns="0" rtlCol="0" anchor="t"/>
          <a:lstStyle/>
          <a:p>
            <a:pPr algn="l" indent="0" marL="0">
              <a:lnSpc>
                <a:spcPts val="959"/>
              </a:lnSpc>
              <a:buNone/>
            </a:pPr>
            <a:r>
              <a:rPr lang="en-US" sz="619" spc="50" kern="0" dirty="0">
                <a:solidFill>
                  <a:srgbClr val="64748B"/>
                </a:solidFill>
                <a:latin typeface="Carlito" pitchFamily="34" charset="0"/>
                <a:ea typeface="Carlito" pitchFamily="34" charset="-122"/>
                <a:cs typeface="Carlito" pitchFamily="34" charset="-120"/>
              </a:rPr>
              <a:t>PELAKSANAAN &amp; PELAPORAN</a:t>
            </a:r>
            <a:endParaRPr lang="en-US" sz="619" dirty="0"/>
          </a:p>
        </p:txBody>
      </p:sp>
      <p:sp>
        <p:nvSpPr>
          <p:cNvPr id="15" name="Text 13"/>
          <p:cNvSpPr/>
          <p:nvPr/>
        </p:nvSpPr>
        <p:spPr>
          <a:xfrm>
            <a:off x="8279271" y="188975"/>
            <a:ext cx="554239" cy="169980"/>
          </a:xfrm>
          <a:prstGeom prst="rect">
            <a:avLst/>
          </a:prstGeom>
          <a:noFill/>
          <a:ln/>
        </p:spPr>
        <p:txBody>
          <a:bodyPr wrap="none" lIns="0" tIns="0" rIns="0" bIns="0" rtlCol="0" anchor="t"/>
          <a:lstStyle/>
          <a:p>
            <a:pPr algn="l" indent="0" marL="0">
              <a:lnSpc>
                <a:spcPts val="1221"/>
              </a:lnSpc>
              <a:buNone/>
            </a:pPr>
            <a:r>
              <a:rPr lang="en-US" sz="800" spc="-16" kern="0" dirty="0">
                <a:solidFill>
                  <a:srgbClr val="64748B"/>
                </a:solidFill>
                <a:latin typeface="Liberation Sans Narrow" pitchFamily="34" charset="0"/>
                <a:ea typeface="Liberation Sans Narrow" pitchFamily="34" charset="-122"/>
                <a:cs typeface="Liberation Sans Narrow" pitchFamily="34" charset="-120"/>
              </a:rPr>
              <a:t>13 / 18</a:t>
            </a:r>
            <a:endParaRPr lang="en-US" sz="800" dirty="0"/>
          </a:p>
        </p:txBody>
      </p:sp>
      <p:sp>
        <p:nvSpPr>
          <p:cNvPr id="16" name="Text 14"/>
          <p:cNvSpPr/>
          <p:nvPr/>
        </p:nvSpPr>
        <p:spPr>
          <a:xfrm>
            <a:off x="457200" y="447154"/>
            <a:ext cx="8636000" cy="287451"/>
          </a:xfrm>
          <a:prstGeom prst="rect">
            <a:avLst/>
          </a:prstGeom>
          <a:noFill/>
          <a:ln/>
        </p:spPr>
        <p:txBody>
          <a:bodyPr wrap="square" lIns="0" tIns="0" rIns="0" bIns="0" rtlCol="0" anchor="t">
            <a:normAutofit/>
          </a:bodyPr>
          <a:lstStyle/>
          <a:p>
            <a:pPr algn="l" indent="0" marL="0">
              <a:lnSpc>
                <a:spcPts val="2142"/>
              </a:lnSpc>
              <a:buNone/>
            </a:pPr>
            <a:r>
              <a:rPr lang="en-US" sz="1913" spc="-19" kern="0" dirty="0">
                <a:solidFill>
                  <a:srgbClr val="134E4A"/>
                </a:solidFill>
                <a:latin typeface="Tinos" pitchFamily="34" charset="0"/>
                <a:ea typeface="Tinos" pitchFamily="34" charset="-122"/>
                <a:cs typeface="Tinos" pitchFamily="34" charset="-120"/>
              </a:rPr>
              <a:t>Checklist PRISMA 2020 — 27 Item Pelaporan</a:t>
            </a:r>
            <a:endParaRPr lang="en-US" sz="1913" dirty="0"/>
          </a:p>
        </p:txBody>
      </p:sp>
      <p:sp>
        <p:nvSpPr>
          <p:cNvPr id="17" name="Text 15"/>
          <p:cNvSpPr/>
          <p:nvPr/>
        </p:nvSpPr>
        <p:spPr>
          <a:xfrm>
            <a:off x="457200" y="762037"/>
            <a:ext cx="7858125" cy="164592"/>
          </a:xfrm>
          <a:prstGeom prst="rect">
            <a:avLst/>
          </a:prstGeom>
          <a:noFill/>
          <a:ln/>
        </p:spPr>
        <p:txBody>
          <a:bodyPr wrap="square" lIns="0" tIns="0" rIns="0" bIns="0" rtlCol="0" anchor="t"/>
          <a:lstStyle/>
          <a:p>
            <a:pPr algn="l" indent="0" marL="0">
              <a:lnSpc>
                <a:spcPts val="1181"/>
              </a:lnSpc>
              <a:buNone/>
            </a:pPr>
            <a:r>
              <a:rPr lang="en-US" sz="788" dirty="0">
                <a:solidFill>
                  <a:srgbClr val="475569"/>
                </a:solidFill>
                <a:latin typeface="Carlito" pitchFamily="34" charset="0"/>
                <a:ea typeface="Carlito" pitchFamily="34" charset="-122"/>
                <a:cs typeface="Carlito" pitchFamily="34" charset="-120"/>
              </a:rPr>
              <a:t>Checklist inti PRISMA 2020 menggantikan versi 2009 dengan item yang lebih presisi dan abstrak baru — wajib dilampirkan pada setiap publikasi SLR.</a:t>
            </a:r>
            <a:endParaRPr lang="en-US" sz="788" dirty="0"/>
          </a:p>
        </p:txBody>
      </p:sp>
      <p:sp>
        <p:nvSpPr>
          <p:cNvPr id="18" name="Text 16"/>
          <p:cNvSpPr/>
          <p:nvPr/>
        </p:nvSpPr>
        <p:spPr>
          <a:xfrm>
            <a:off x="460772" y="1108509"/>
            <a:ext cx="1975247" cy="2878931"/>
          </a:xfrm>
          <a:prstGeom prst="roundRect">
            <a:avLst>
              <a:gd name="adj" fmla="val 5787"/>
            </a:avLst>
          </a:prstGeom>
          <a:solidFill>
            <a:srgbClr val="FFFFFF"/>
          </a:solidFill>
          <a:ln w="7144">
            <a:solidFill>
              <a:srgbClr val="D8DEE2"/>
            </a:solidFill>
            <a:prstDash val="solid"/>
          </a:ln>
        </p:spPr>
        <p:txBody>
          <a:bodyPr wrap="square" rtlCol="0" anchor="ctr"/>
          <a:lstStyle/>
          <a:p>
            <a:pPr indent="0" marL="0">
              <a:buNone/>
            </a:pPr>
            <a:endParaRPr lang="en-US" dirty="0"/>
          </a:p>
        </p:txBody>
      </p:sp>
      <p:sp>
        <p:nvSpPr>
          <p:cNvPr id="19" name="Text 17"/>
          <p:cNvSpPr/>
          <p:nvPr/>
        </p:nvSpPr>
        <p:spPr>
          <a:xfrm>
            <a:off x="555784" y="1231788"/>
            <a:ext cx="917704" cy="165771"/>
          </a:xfrm>
          <a:prstGeom prst="roundRect">
            <a:avLst>
              <a:gd name="adj" fmla="val 5740132"/>
            </a:avLst>
          </a:prstGeom>
          <a:solidFill>
            <a:srgbClr val="E0ECEB"/>
          </a:solidFill>
          <a:ln/>
        </p:spPr>
        <p:txBody>
          <a:bodyPr wrap="square" rtlCol="0" anchor="ctr"/>
          <a:lstStyle/>
          <a:p>
            <a:pPr indent="0" marL="0">
              <a:buNone/>
            </a:pPr>
            <a:endParaRPr lang="en-US" dirty="0"/>
          </a:p>
        </p:txBody>
      </p:sp>
      <p:sp>
        <p:nvSpPr>
          <p:cNvPr id="20" name="Text 18"/>
          <p:cNvSpPr/>
          <p:nvPr/>
        </p:nvSpPr>
        <p:spPr>
          <a:xfrm>
            <a:off x="578644" y="1240668"/>
            <a:ext cx="871984" cy="148010"/>
          </a:xfrm>
          <a:prstGeom prst="rect">
            <a:avLst/>
          </a:prstGeom>
          <a:noFill/>
          <a:ln/>
        </p:spPr>
        <p:txBody>
          <a:bodyPr wrap="none" lIns="0" tIns="0" rIns="0" bIns="0" rtlCol="0" anchor="ctr"/>
          <a:lstStyle/>
          <a:p>
            <a:pPr algn="ctr" indent="0" marL="0">
              <a:lnSpc>
                <a:spcPts val="828"/>
              </a:lnSpc>
              <a:buNone/>
            </a:pPr>
            <a:r>
              <a:rPr lang="en-US" sz="800" spc="21" kern="0" dirty="0">
                <a:solidFill>
                  <a:srgbClr val="134E4A"/>
                </a:solidFill>
                <a:latin typeface="Carlito" pitchFamily="34" charset="0"/>
                <a:ea typeface="Carlito" pitchFamily="34" charset="-122"/>
                <a:cs typeface="Carlito" pitchFamily="34" charset="-120"/>
              </a:rPr>
              <a:t>TITLE &amp; ABSTRACT</a:t>
            </a:r>
            <a:endParaRPr lang="en-US" sz="800" dirty="0"/>
          </a:p>
        </p:txBody>
      </p:sp>
      <p:sp>
        <p:nvSpPr>
          <p:cNvPr id="21" name="Text 19"/>
          <p:cNvSpPr/>
          <p:nvPr/>
        </p:nvSpPr>
        <p:spPr>
          <a:xfrm>
            <a:off x="2157395" y="1253728"/>
            <a:ext cx="184210" cy="170047"/>
          </a:xfrm>
          <a:prstGeom prst="rect">
            <a:avLst/>
          </a:prstGeom>
          <a:noFill/>
          <a:ln/>
        </p:spPr>
        <p:txBody>
          <a:bodyPr wrap="none" lIns="0" tIns="0" rIns="0" bIns="0" rtlCol="0" anchor="t"/>
          <a:lstStyle/>
          <a:p>
            <a:pPr algn="l" indent="0" marL="0">
              <a:lnSpc>
                <a:spcPts val="959"/>
              </a:lnSpc>
              <a:buNone/>
            </a:pPr>
            <a:r>
              <a:rPr lang="en-US" sz="619" spc="-12" kern="0" dirty="0">
                <a:solidFill>
                  <a:srgbClr val="64748B"/>
                </a:solidFill>
                <a:latin typeface="Liberation Sans Narrow" pitchFamily="34" charset="0"/>
                <a:ea typeface="Liberation Sans Narrow" pitchFamily="34" charset="-122"/>
                <a:cs typeface="Liberation Sans Narrow" pitchFamily="34" charset="-120"/>
              </a:rPr>
              <a:t>1–2</a:t>
            </a:r>
            <a:endParaRPr lang="en-US" sz="619" dirty="0"/>
          </a:p>
        </p:txBody>
      </p:sp>
      <p:sp>
        <p:nvSpPr>
          <p:cNvPr id="22" name="Text 20"/>
          <p:cNvSpPr/>
          <p:nvPr/>
        </p:nvSpPr>
        <p:spPr>
          <a:xfrm>
            <a:off x="578644" y="1445828"/>
            <a:ext cx="1843873" cy="207699"/>
          </a:xfrm>
          <a:prstGeom prst="rect">
            <a:avLst/>
          </a:prstGeom>
          <a:noFill/>
          <a:ln/>
        </p:spPr>
        <p:txBody>
          <a:bodyPr wrap="square" lIns="0" tIns="0" rIns="0" bIns="57150" rtlCol="0" anchor="t"/>
          <a:lstStyle/>
          <a:p>
            <a:pPr algn="l" indent="0" marL="0">
              <a:lnSpc>
                <a:spcPts val="984"/>
              </a:lnSpc>
              <a:buNone/>
            </a:pPr>
            <a:r>
              <a:rPr lang="en-US" sz="800" dirty="0">
                <a:solidFill>
                  <a:srgbClr val="134E4A"/>
                </a:solidFill>
                <a:latin typeface="Tinos" pitchFamily="34" charset="0"/>
                <a:ea typeface="Tinos" pitchFamily="34" charset="-122"/>
                <a:cs typeface="Tinos" pitchFamily="34" charset="-120"/>
              </a:rPr>
              <a:t>Dua item pembuka publikasi.</a:t>
            </a:r>
            <a:endParaRPr lang="en-US" sz="800" dirty="0"/>
          </a:p>
        </p:txBody>
      </p:sp>
      <p:sp>
        <p:nvSpPr>
          <p:cNvPr id="23" name="Text 21"/>
          <p:cNvSpPr/>
          <p:nvPr/>
        </p:nvSpPr>
        <p:spPr>
          <a:xfrm>
            <a:off x="578644" y="1713719"/>
            <a:ext cx="205740" cy="158981"/>
          </a:xfrm>
          <a:prstGeom prst="rect">
            <a:avLst/>
          </a:prstGeom>
          <a:noFill/>
          <a:ln/>
        </p:spPr>
        <p:txBody>
          <a:bodyPr wrap="none" lIns="0" tIns="0" rIns="0" bIns="0" rtlCol="0" anchor="t"/>
          <a:lstStyle/>
          <a:p>
            <a:pPr algn="l" indent="0" marL="0">
              <a:lnSpc>
                <a:spcPts val="897"/>
              </a:lnSpc>
              <a:buNone/>
            </a:pPr>
            <a:r>
              <a:rPr lang="en-US" sz="800" dirty="0">
                <a:solidFill>
                  <a:srgbClr val="EA680C"/>
                </a:solidFill>
                <a:latin typeface="Liberation Sans Narrow" pitchFamily="34" charset="0"/>
                <a:ea typeface="Liberation Sans Narrow" pitchFamily="34" charset="-122"/>
                <a:cs typeface="Liberation Sans Narrow" pitchFamily="34" charset="-120"/>
              </a:rPr>
              <a:t>1.</a:t>
            </a:r>
            <a:endParaRPr lang="en-US" sz="800" dirty="0"/>
          </a:p>
        </p:txBody>
      </p:sp>
      <p:sp>
        <p:nvSpPr>
          <p:cNvPr id="24" name="Text 22"/>
          <p:cNvSpPr/>
          <p:nvPr/>
        </p:nvSpPr>
        <p:spPr>
          <a:xfrm>
            <a:off x="764381" y="1713719"/>
            <a:ext cx="1645206" cy="318040"/>
          </a:xfrm>
          <a:prstGeom prst="rect">
            <a:avLst/>
          </a:prstGeom>
          <a:noFill/>
          <a:ln/>
        </p:spPr>
        <p:txBody>
          <a:bodyPr wrap="square" lIns="0" tIns="0" rIns="0" bIns="0" rtlCol="0" anchor="t"/>
          <a:lstStyle/>
          <a:p>
            <a:pPr algn="l" indent="0" marL="0">
              <a:lnSpc>
                <a:spcPts val="979"/>
              </a:lnSpc>
              <a:buNone/>
            </a:pPr>
            <a:r>
              <a:rPr lang="en-US" sz="800" dirty="0">
                <a:solidFill>
                  <a:srgbClr val="134E4A"/>
                </a:solidFill>
                <a:latin typeface="Carlito" pitchFamily="34" charset="0"/>
                <a:ea typeface="Carlito" pitchFamily="34" charset="-122"/>
                <a:cs typeface="Carlito" pitchFamily="34" charset="-120"/>
              </a:rPr>
              <a:t>Title</a:t>
            </a:r>
            <a:pPr algn="l" indent="0" marL="0">
              <a:lnSpc>
                <a:spcPts val="979"/>
              </a:lnSpc>
              <a:buNone/>
            </a:pPr>
            <a:r>
              <a:rPr lang="en-US" sz="800" dirty="0">
                <a:solidFill>
                  <a:srgbClr val="0F172A"/>
                </a:solidFill>
                <a:latin typeface="Carlito" pitchFamily="34" charset="0"/>
                <a:ea typeface="Carlito" pitchFamily="34" charset="-122"/>
                <a:cs typeface="Carlito" pitchFamily="34" charset="-120"/>
              </a:rPr>
              <a:t> — identifikasi sebagai systematic review.</a:t>
            </a:r>
            <a:endParaRPr lang="en-US" sz="800" dirty="0"/>
          </a:p>
        </p:txBody>
      </p:sp>
      <p:sp>
        <p:nvSpPr>
          <p:cNvPr id="25" name="Text 23"/>
          <p:cNvSpPr/>
          <p:nvPr/>
        </p:nvSpPr>
        <p:spPr>
          <a:xfrm>
            <a:off x="578644" y="2005050"/>
            <a:ext cx="205740" cy="158981"/>
          </a:xfrm>
          <a:prstGeom prst="rect">
            <a:avLst/>
          </a:prstGeom>
          <a:noFill/>
          <a:ln/>
        </p:spPr>
        <p:txBody>
          <a:bodyPr wrap="none" lIns="0" tIns="0" rIns="0" bIns="0" rtlCol="0" anchor="t"/>
          <a:lstStyle/>
          <a:p>
            <a:pPr algn="l" indent="0" marL="0">
              <a:lnSpc>
                <a:spcPts val="897"/>
              </a:lnSpc>
              <a:buNone/>
            </a:pPr>
            <a:r>
              <a:rPr lang="en-US" sz="800" dirty="0">
                <a:solidFill>
                  <a:srgbClr val="EA680C"/>
                </a:solidFill>
                <a:latin typeface="Liberation Sans Narrow" pitchFamily="34" charset="0"/>
                <a:ea typeface="Liberation Sans Narrow" pitchFamily="34" charset="-122"/>
                <a:cs typeface="Liberation Sans Narrow" pitchFamily="34" charset="-120"/>
              </a:rPr>
              <a:t>2.</a:t>
            </a:r>
            <a:endParaRPr lang="en-US" sz="800" dirty="0"/>
          </a:p>
        </p:txBody>
      </p:sp>
      <p:sp>
        <p:nvSpPr>
          <p:cNvPr id="26" name="Text 24"/>
          <p:cNvSpPr/>
          <p:nvPr/>
        </p:nvSpPr>
        <p:spPr>
          <a:xfrm>
            <a:off x="764381" y="2005050"/>
            <a:ext cx="1645206" cy="318040"/>
          </a:xfrm>
          <a:prstGeom prst="rect">
            <a:avLst/>
          </a:prstGeom>
          <a:noFill/>
          <a:ln/>
        </p:spPr>
        <p:txBody>
          <a:bodyPr wrap="square" lIns="0" tIns="0" rIns="0" bIns="0" rtlCol="0" anchor="t"/>
          <a:lstStyle/>
          <a:p>
            <a:pPr algn="l" indent="0" marL="0">
              <a:lnSpc>
                <a:spcPts val="979"/>
              </a:lnSpc>
              <a:buNone/>
            </a:pPr>
            <a:r>
              <a:rPr lang="en-US" sz="800" dirty="0">
                <a:solidFill>
                  <a:srgbClr val="134E4A"/>
                </a:solidFill>
                <a:latin typeface="Carlito" pitchFamily="34" charset="0"/>
                <a:ea typeface="Carlito" pitchFamily="34" charset="-122"/>
                <a:cs typeface="Carlito" pitchFamily="34" charset="-120"/>
              </a:rPr>
              <a:t>Abstract</a:t>
            </a:r>
            <a:pPr algn="l" indent="0" marL="0">
              <a:lnSpc>
                <a:spcPts val="979"/>
              </a:lnSpc>
              <a:buNone/>
            </a:pPr>
            <a:r>
              <a:rPr lang="en-US" sz="800" dirty="0">
                <a:solidFill>
                  <a:srgbClr val="0F172A"/>
                </a:solidFill>
                <a:latin typeface="Carlito" pitchFamily="34" charset="0"/>
                <a:ea typeface="Carlito" pitchFamily="34" charset="-122"/>
                <a:cs typeface="Carlito" pitchFamily="34" charset="-120"/>
              </a:rPr>
              <a:t> — gunakan template PRISMA abstract.</a:t>
            </a:r>
            <a:endParaRPr lang="en-US" sz="800" dirty="0"/>
          </a:p>
        </p:txBody>
      </p:sp>
      <p:sp>
        <p:nvSpPr>
          <p:cNvPr id="27" name="Text 25"/>
          <p:cNvSpPr/>
          <p:nvPr/>
        </p:nvSpPr>
        <p:spPr>
          <a:xfrm>
            <a:off x="578644" y="3739976"/>
            <a:ext cx="114300" cy="114300"/>
          </a:xfrm>
          <a:prstGeom prst="rect">
            <a:avLst/>
          </a:prstGeom>
          <a:noFill/>
          <a:ln/>
        </p:spPr>
        <p:txBody>
          <a:bodyPr wrap="none" lIns="0" tIns="0" rIns="0" bIns="0" rtlCol="0" anchor="ctr"/>
          <a:lstStyle/>
          <a:p>
            <a:pPr algn="ctr" indent="0" marL="0">
              <a:buNone/>
            </a:pPr>
            <a:r>
              <a:rPr lang="en-US" sz="1125" dirty="0">
                <a:solidFill>
                  <a:srgbClr val="4A8480"/>
                </a:solidFill>
                <a:latin typeface="Segoe UI Symbol" pitchFamily="34" charset="0"/>
                <a:ea typeface="Segoe UI Symbol" pitchFamily="34" charset="-122"/>
                <a:cs typeface="Segoe UI Symbol" pitchFamily="34" charset="-120"/>
              </a:rPr>
              <a:t>▤</a:t>
            </a:r>
            <a:endParaRPr lang="en-US" sz="1125" dirty="0"/>
          </a:p>
        </p:txBody>
      </p:sp>
      <p:sp>
        <p:nvSpPr>
          <p:cNvPr id="28" name="Text 26"/>
          <p:cNvSpPr/>
          <p:nvPr/>
        </p:nvSpPr>
        <p:spPr>
          <a:xfrm>
            <a:off x="735806" y="3739083"/>
            <a:ext cx="1582341" cy="116198"/>
          </a:xfrm>
          <a:prstGeom prst="rect">
            <a:avLst/>
          </a:prstGeom>
          <a:noFill/>
          <a:ln/>
        </p:spPr>
        <p:txBody>
          <a:bodyPr wrap="square" lIns="0" tIns="0" rIns="0" bIns="0" rtlCol="0" anchor="t"/>
          <a:lstStyle/>
          <a:p>
            <a:pPr algn="l" indent="0" marL="0">
              <a:lnSpc>
                <a:spcPts val="915"/>
              </a:lnSpc>
              <a:buNone/>
            </a:pPr>
            <a:r>
              <a:rPr lang="en-US" sz="600" i="1" dirty="0">
                <a:solidFill>
                  <a:srgbClr val="64748B"/>
                </a:solidFill>
                <a:latin typeface="Carlito" pitchFamily="34" charset="0"/>
                <a:ea typeface="Carlito" pitchFamily="34" charset="-122"/>
                <a:cs typeface="Carlito" pitchFamily="34" charset="-120"/>
              </a:rPr>
              <a:t>Identitas &amp; ringkasan standar.</a:t>
            </a:r>
            <a:endParaRPr lang="en-US" sz="600" dirty="0"/>
          </a:p>
        </p:txBody>
      </p:sp>
      <p:sp>
        <p:nvSpPr>
          <p:cNvPr id="29" name="Text 27"/>
          <p:cNvSpPr/>
          <p:nvPr/>
        </p:nvSpPr>
        <p:spPr>
          <a:xfrm>
            <a:off x="2543175" y="1108509"/>
            <a:ext cx="1975247" cy="2878931"/>
          </a:xfrm>
          <a:prstGeom prst="roundRect">
            <a:avLst>
              <a:gd name="adj" fmla="val 5787"/>
            </a:avLst>
          </a:prstGeom>
          <a:solidFill>
            <a:srgbClr val="FFFFFF"/>
          </a:solidFill>
          <a:ln w="7144">
            <a:solidFill>
              <a:srgbClr val="D8DEE2"/>
            </a:solidFill>
            <a:prstDash val="solid"/>
          </a:ln>
        </p:spPr>
        <p:txBody>
          <a:bodyPr wrap="square" rtlCol="0" anchor="ctr"/>
          <a:lstStyle/>
          <a:p>
            <a:pPr indent="0" marL="0">
              <a:buNone/>
            </a:pPr>
            <a:endParaRPr lang="en-US" dirty="0"/>
          </a:p>
        </p:txBody>
      </p:sp>
      <p:sp>
        <p:nvSpPr>
          <p:cNvPr id="30" name="Text 28"/>
          <p:cNvSpPr/>
          <p:nvPr/>
        </p:nvSpPr>
        <p:spPr>
          <a:xfrm>
            <a:off x="2640518" y="1231788"/>
            <a:ext cx="554292" cy="165771"/>
          </a:xfrm>
          <a:prstGeom prst="roundRect">
            <a:avLst>
              <a:gd name="adj" fmla="val 5740132"/>
            </a:avLst>
          </a:prstGeom>
          <a:solidFill>
            <a:srgbClr val="E0ECEB"/>
          </a:solidFill>
          <a:ln/>
        </p:spPr>
        <p:txBody>
          <a:bodyPr wrap="square" rtlCol="0" anchor="ctr"/>
          <a:lstStyle/>
          <a:p>
            <a:pPr indent="0" marL="0">
              <a:buNone/>
            </a:pPr>
            <a:endParaRPr lang="en-US" dirty="0"/>
          </a:p>
        </p:txBody>
      </p:sp>
      <p:sp>
        <p:nvSpPr>
          <p:cNvPr id="31" name="Text 29"/>
          <p:cNvSpPr/>
          <p:nvPr/>
        </p:nvSpPr>
        <p:spPr>
          <a:xfrm>
            <a:off x="2639727" y="1240668"/>
            <a:ext cx="555874" cy="148010"/>
          </a:xfrm>
          <a:prstGeom prst="rect">
            <a:avLst/>
          </a:prstGeom>
          <a:noFill/>
          <a:ln/>
        </p:spPr>
        <p:txBody>
          <a:bodyPr wrap="none" lIns="0" tIns="0" rIns="0" bIns="0" rtlCol="0" anchor="ctr"/>
          <a:lstStyle/>
          <a:p>
            <a:pPr algn="ctr" indent="0" marL="0">
              <a:lnSpc>
                <a:spcPts val="828"/>
              </a:lnSpc>
              <a:buNone/>
            </a:pPr>
            <a:r>
              <a:rPr lang="en-US" sz="800" spc="21" kern="0" dirty="0">
                <a:solidFill>
                  <a:srgbClr val="134E4A"/>
                </a:solidFill>
                <a:latin typeface="Carlito" pitchFamily="34" charset="0"/>
                <a:ea typeface="Carlito" pitchFamily="34" charset="-122"/>
                <a:cs typeface="Carlito" pitchFamily="34" charset="-120"/>
              </a:rPr>
              <a:t>METHODS</a:t>
            </a:r>
            <a:endParaRPr lang="en-US" sz="800" dirty="0"/>
          </a:p>
        </p:txBody>
      </p:sp>
      <p:sp>
        <p:nvSpPr>
          <p:cNvPr id="32" name="Text 30"/>
          <p:cNvSpPr/>
          <p:nvPr/>
        </p:nvSpPr>
        <p:spPr>
          <a:xfrm>
            <a:off x="4188171" y="1253728"/>
            <a:ext cx="241700" cy="170047"/>
          </a:xfrm>
          <a:prstGeom prst="rect">
            <a:avLst/>
          </a:prstGeom>
          <a:noFill/>
          <a:ln/>
        </p:spPr>
        <p:txBody>
          <a:bodyPr wrap="none" lIns="0" tIns="0" rIns="0" bIns="0" rtlCol="0" anchor="t"/>
          <a:lstStyle/>
          <a:p>
            <a:pPr algn="l" indent="0" marL="0">
              <a:lnSpc>
                <a:spcPts val="959"/>
              </a:lnSpc>
              <a:buNone/>
            </a:pPr>
            <a:r>
              <a:rPr lang="en-US" sz="619" spc="-12" kern="0" dirty="0">
                <a:solidFill>
                  <a:srgbClr val="64748B"/>
                </a:solidFill>
                <a:latin typeface="Liberation Sans Narrow" pitchFamily="34" charset="0"/>
                <a:ea typeface="Liberation Sans Narrow" pitchFamily="34" charset="-122"/>
                <a:cs typeface="Liberation Sans Narrow" pitchFamily="34" charset="-120"/>
              </a:rPr>
              <a:t>3–16</a:t>
            </a:r>
            <a:endParaRPr lang="en-US" sz="619" dirty="0"/>
          </a:p>
        </p:txBody>
      </p:sp>
      <p:sp>
        <p:nvSpPr>
          <p:cNvPr id="33" name="Text 31"/>
          <p:cNvSpPr/>
          <p:nvPr/>
        </p:nvSpPr>
        <p:spPr>
          <a:xfrm>
            <a:off x="2661047" y="1431541"/>
            <a:ext cx="1843873" cy="190452"/>
          </a:xfrm>
          <a:prstGeom prst="rect">
            <a:avLst/>
          </a:prstGeom>
          <a:noFill/>
          <a:ln/>
        </p:spPr>
        <p:txBody>
          <a:bodyPr wrap="square" lIns="0" tIns="0" rIns="0" bIns="42863" rtlCol="0" anchor="t">
            <a:normAutofit/>
          </a:bodyPr>
          <a:lstStyle/>
          <a:p>
            <a:pPr algn="l" indent="0" marL="0">
              <a:lnSpc>
                <a:spcPts val="984"/>
              </a:lnSpc>
              <a:buNone/>
            </a:pPr>
            <a:r>
              <a:rPr lang="en-US" sz="800" dirty="0">
                <a:solidFill>
                  <a:srgbClr val="134E4A"/>
                </a:solidFill>
                <a:latin typeface="Tinos" pitchFamily="34" charset="0"/>
                <a:ea typeface="Tinos" pitchFamily="34" charset="-122"/>
                <a:cs typeface="Tinos" pitchFamily="34" charset="-120"/>
              </a:rPr>
              <a:t>Empat belas item metodologis.</a:t>
            </a:r>
            <a:endParaRPr lang="en-US" sz="800" dirty="0"/>
          </a:p>
        </p:txBody>
      </p:sp>
      <p:sp>
        <p:nvSpPr>
          <p:cNvPr id="34" name="Text 32"/>
          <p:cNvSpPr/>
          <p:nvPr/>
        </p:nvSpPr>
        <p:spPr>
          <a:xfrm>
            <a:off x="2661047" y="1670856"/>
            <a:ext cx="205740" cy="158981"/>
          </a:xfrm>
          <a:prstGeom prst="rect">
            <a:avLst/>
          </a:prstGeom>
          <a:noFill/>
          <a:ln/>
        </p:spPr>
        <p:txBody>
          <a:bodyPr wrap="none" lIns="0" tIns="0" rIns="0" bIns="0" rtlCol="0" anchor="t"/>
          <a:lstStyle/>
          <a:p>
            <a:pPr algn="l" indent="0" marL="0">
              <a:lnSpc>
                <a:spcPts val="897"/>
              </a:lnSpc>
              <a:buNone/>
            </a:pPr>
            <a:r>
              <a:rPr lang="en-US" sz="800" dirty="0">
                <a:solidFill>
                  <a:srgbClr val="EA680C"/>
                </a:solidFill>
                <a:latin typeface="Liberation Sans Narrow" pitchFamily="34" charset="0"/>
                <a:ea typeface="Liberation Sans Narrow" pitchFamily="34" charset="-122"/>
                <a:cs typeface="Liberation Sans Narrow" pitchFamily="34" charset="-120"/>
              </a:rPr>
              <a:t>3.</a:t>
            </a:r>
            <a:endParaRPr lang="en-US" sz="800" dirty="0"/>
          </a:p>
        </p:txBody>
      </p:sp>
      <p:sp>
        <p:nvSpPr>
          <p:cNvPr id="35" name="Text 33"/>
          <p:cNvSpPr/>
          <p:nvPr/>
        </p:nvSpPr>
        <p:spPr>
          <a:xfrm>
            <a:off x="2846784" y="1670856"/>
            <a:ext cx="1553766" cy="159020"/>
          </a:xfrm>
          <a:prstGeom prst="rect">
            <a:avLst/>
          </a:prstGeom>
          <a:noFill/>
          <a:ln/>
        </p:spPr>
        <p:txBody>
          <a:bodyPr wrap="none" lIns="0" tIns="0" rIns="0" bIns="0" rtlCol="0" anchor="t"/>
          <a:lstStyle/>
          <a:p>
            <a:pPr algn="l" indent="0" marL="0">
              <a:lnSpc>
                <a:spcPts val="979"/>
              </a:lnSpc>
              <a:buNone/>
            </a:pPr>
            <a:r>
              <a:rPr lang="en-US" sz="800" dirty="0">
                <a:solidFill>
                  <a:srgbClr val="0F172A"/>
                </a:solidFill>
                <a:latin typeface="Carlito" pitchFamily="34" charset="0"/>
                <a:ea typeface="Carlito" pitchFamily="34" charset="-122"/>
                <a:cs typeface="Carlito" pitchFamily="34" charset="-120"/>
              </a:rPr>
              <a:t>Registration (PROSPERO)</a:t>
            </a:r>
            <a:endParaRPr lang="en-US" sz="800" dirty="0"/>
          </a:p>
        </p:txBody>
      </p:sp>
      <p:sp>
        <p:nvSpPr>
          <p:cNvPr id="36" name="Text 34"/>
          <p:cNvSpPr/>
          <p:nvPr/>
        </p:nvSpPr>
        <p:spPr>
          <a:xfrm>
            <a:off x="2661047" y="1837953"/>
            <a:ext cx="205740" cy="158981"/>
          </a:xfrm>
          <a:prstGeom prst="rect">
            <a:avLst/>
          </a:prstGeom>
          <a:noFill/>
          <a:ln/>
        </p:spPr>
        <p:txBody>
          <a:bodyPr wrap="none" lIns="0" tIns="0" rIns="0" bIns="0" rtlCol="0" anchor="t"/>
          <a:lstStyle/>
          <a:p>
            <a:pPr algn="l" indent="0" marL="0">
              <a:lnSpc>
                <a:spcPts val="897"/>
              </a:lnSpc>
              <a:buNone/>
            </a:pPr>
            <a:r>
              <a:rPr lang="en-US" sz="800" dirty="0">
                <a:solidFill>
                  <a:srgbClr val="EA680C"/>
                </a:solidFill>
                <a:latin typeface="Liberation Sans Narrow" pitchFamily="34" charset="0"/>
                <a:ea typeface="Liberation Sans Narrow" pitchFamily="34" charset="-122"/>
                <a:cs typeface="Liberation Sans Narrow" pitchFamily="34" charset="-120"/>
              </a:rPr>
              <a:t>4.</a:t>
            </a:r>
            <a:endParaRPr lang="en-US" sz="800" dirty="0"/>
          </a:p>
        </p:txBody>
      </p:sp>
      <p:sp>
        <p:nvSpPr>
          <p:cNvPr id="37" name="Text 35"/>
          <p:cNvSpPr/>
          <p:nvPr/>
        </p:nvSpPr>
        <p:spPr>
          <a:xfrm>
            <a:off x="2846784" y="1837953"/>
            <a:ext cx="1553766" cy="159020"/>
          </a:xfrm>
          <a:prstGeom prst="rect">
            <a:avLst/>
          </a:prstGeom>
          <a:noFill/>
          <a:ln/>
        </p:spPr>
        <p:txBody>
          <a:bodyPr wrap="none" lIns="0" tIns="0" rIns="0" bIns="0" rtlCol="0" anchor="t"/>
          <a:lstStyle/>
          <a:p>
            <a:pPr algn="l" indent="0" marL="0">
              <a:lnSpc>
                <a:spcPts val="979"/>
              </a:lnSpc>
              <a:buNone/>
            </a:pPr>
            <a:r>
              <a:rPr lang="en-US" sz="800" dirty="0">
                <a:solidFill>
                  <a:srgbClr val="0F172A"/>
                </a:solidFill>
                <a:latin typeface="Carlito" pitchFamily="34" charset="0"/>
                <a:ea typeface="Carlito" pitchFamily="34" charset="-122"/>
                <a:cs typeface="Carlito" pitchFamily="34" charset="-120"/>
              </a:rPr>
              <a:t>Protocol</a:t>
            </a:r>
            <a:endParaRPr lang="en-US" sz="800" dirty="0"/>
          </a:p>
        </p:txBody>
      </p:sp>
      <p:sp>
        <p:nvSpPr>
          <p:cNvPr id="38" name="Text 36"/>
          <p:cNvSpPr/>
          <p:nvPr/>
        </p:nvSpPr>
        <p:spPr>
          <a:xfrm>
            <a:off x="2661047" y="2005050"/>
            <a:ext cx="205740" cy="158981"/>
          </a:xfrm>
          <a:prstGeom prst="rect">
            <a:avLst/>
          </a:prstGeom>
          <a:noFill/>
          <a:ln/>
        </p:spPr>
        <p:txBody>
          <a:bodyPr wrap="none" lIns="0" tIns="0" rIns="0" bIns="0" rtlCol="0" anchor="t"/>
          <a:lstStyle/>
          <a:p>
            <a:pPr algn="l" indent="0" marL="0">
              <a:lnSpc>
                <a:spcPts val="897"/>
              </a:lnSpc>
              <a:buNone/>
            </a:pPr>
            <a:r>
              <a:rPr lang="en-US" sz="800" dirty="0">
                <a:solidFill>
                  <a:srgbClr val="EA680C"/>
                </a:solidFill>
                <a:latin typeface="Liberation Sans Narrow" pitchFamily="34" charset="0"/>
                <a:ea typeface="Liberation Sans Narrow" pitchFamily="34" charset="-122"/>
                <a:cs typeface="Liberation Sans Narrow" pitchFamily="34" charset="-120"/>
              </a:rPr>
              <a:t>5.</a:t>
            </a:r>
            <a:endParaRPr lang="en-US" sz="800" dirty="0"/>
          </a:p>
        </p:txBody>
      </p:sp>
      <p:sp>
        <p:nvSpPr>
          <p:cNvPr id="39" name="Text 37"/>
          <p:cNvSpPr/>
          <p:nvPr/>
        </p:nvSpPr>
        <p:spPr>
          <a:xfrm>
            <a:off x="2846784" y="2005050"/>
            <a:ext cx="1553766" cy="159020"/>
          </a:xfrm>
          <a:prstGeom prst="rect">
            <a:avLst/>
          </a:prstGeom>
          <a:noFill/>
          <a:ln/>
        </p:spPr>
        <p:txBody>
          <a:bodyPr wrap="none" lIns="0" tIns="0" rIns="0" bIns="0" rtlCol="0" anchor="t"/>
          <a:lstStyle/>
          <a:p>
            <a:pPr algn="l" indent="0" marL="0">
              <a:lnSpc>
                <a:spcPts val="979"/>
              </a:lnSpc>
              <a:buNone/>
            </a:pPr>
            <a:r>
              <a:rPr lang="en-US" sz="800" dirty="0">
                <a:solidFill>
                  <a:srgbClr val="0F172A"/>
                </a:solidFill>
                <a:latin typeface="Carlito" pitchFamily="34" charset="0"/>
                <a:ea typeface="Carlito" pitchFamily="34" charset="-122"/>
                <a:cs typeface="Carlito" pitchFamily="34" charset="-120"/>
              </a:rPr>
              <a:t>Eligibility criteria</a:t>
            </a:r>
            <a:endParaRPr lang="en-US" sz="800" dirty="0"/>
          </a:p>
        </p:txBody>
      </p:sp>
      <p:sp>
        <p:nvSpPr>
          <p:cNvPr id="40" name="Text 38"/>
          <p:cNvSpPr/>
          <p:nvPr/>
        </p:nvSpPr>
        <p:spPr>
          <a:xfrm>
            <a:off x="2661047" y="2172146"/>
            <a:ext cx="205740" cy="158981"/>
          </a:xfrm>
          <a:prstGeom prst="rect">
            <a:avLst/>
          </a:prstGeom>
          <a:noFill/>
          <a:ln/>
        </p:spPr>
        <p:txBody>
          <a:bodyPr wrap="none" lIns="0" tIns="0" rIns="0" bIns="0" rtlCol="0" anchor="t"/>
          <a:lstStyle/>
          <a:p>
            <a:pPr algn="l" indent="0" marL="0">
              <a:lnSpc>
                <a:spcPts val="897"/>
              </a:lnSpc>
              <a:buNone/>
            </a:pPr>
            <a:r>
              <a:rPr lang="en-US" sz="800" dirty="0">
                <a:solidFill>
                  <a:srgbClr val="EA680C"/>
                </a:solidFill>
                <a:latin typeface="Liberation Sans Narrow" pitchFamily="34" charset="0"/>
                <a:ea typeface="Liberation Sans Narrow" pitchFamily="34" charset="-122"/>
                <a:cs typeface="Liberation Sans Narrow" pitchFamily="34" charset="-120"/>
              </a:rPr>
              <a:t>6.</a:t>
            </a:r>
            <a:endParaRPr lang="en-US" sz="800" dirty="0"/>
          </a:p>
        </p:txBody>
      </p:sp>
      <p:sp>
        <p:nvSpPr>
          <p:cNvPr id="41" name="Text 39"/>
          <p:cNvSpPr/>
          <p:nvPr/>
        </p:nvSpPr>
        <p:spPr>
          <a:xfrm>
            <a:off x="2846784" y="2172146"/>
            <a:ext cx="1553766" cy="159020"/>
          </a:xfrm>
          <a:prstGeom prst="rect">
            <a:avLst/>
          </a:prstGeom>
          <a:noFill/>
          <a:ln/>
        </p:spPr>
        <p:txBody>
          <a:bodyPr wrap="none" lIns="0" tIns="0" rIns="0" bIns="0" rtlCol="0" anchor="t"/>
          <a:lstStyle/>
          <a:p>
            <a:pPr algn="l" indent="0" marL="0">
              <a:lnSpc>
                <a:spcPts val="979"/>
              </a:lnSpc>
              <a:buNone/>
            </a:pPr>
            <a:r>
              <a:rPr lang="en-US" sz="800" dirty="0">
                <a:solidFill>
                  <a:srgbClr val="0F172A"/>
                </a:solidFill>
                <a:latin typeface="Carlito" pitchFamily="34" charset="0"/>
                <a:ea typeface="Carlito" pitchFamily="34" charset="-122"/>
                <a:cs typeface="Carlito" pitchFamily="34" charset="-120"/>
              </a:rPr>
              <a:t>Information sources</a:t>
            </a:r>
            <a:endParaRPr lang="en-US" sz="800" dirty="0"/>
          </a:p>
        </p:txBody>
      </p:sp>
      <p:sp>
        <p:nvSpPr>
          <p:cNvPr id="42" name="Text 40"/>
          <p:cNvSpPr/>
          <p:nvPr/>
        </p:nvSpPr>
        <p:spPr>
          <a:xfrm>
            <a:off x="2661047" y="2339243"/>
            <a:ext cx="205740" cy="158981"/>
          </a:xfrm>
          <a:prstGeom prst="rect">
            <a:avLst/>
          </a:prstGeom>
          <a:noFill/>
          <a:ln/>
        </p:spPr>
        <p:txBody>
          <a:bodyPr wrap="none" lIns="0" tIns="0" rIns="0" bIns="0" rtlCol="0" anchor="t"/>
          <a:lstStyle/>
          <a:p>
            <a:pPr algn="l" indent="0" marL="0">
              <a:lnSpc>
                <a:spcPts val="897"/>
              </a:lnSpc>
              <a:buNone/>
            </a:pPr>
            <a:r>
              <a:rPr lang="en-US" sz="800" dirty="0">
                <a:solidFill>
                  <a:srgbClr val="EA680C"/>
                </a:solidFill>
                <a:latin typeface="Liberation Sans Narrow" pitchFamily="34" charset="0"/>
                <a:ea typeface="Liberation Sans Narrow" pitchFamily="34" charset="-122"/>
                <a:cs typeface="Liberation Sans Narrow" pitchFamily="34" charset="-120"/>
              </a:rPr>
              <a:t>7.</a:t>
            </a:r>
            <a:endParaRPr lang="en-US" sz="800" dirty="0"/>
          </a:p>
        </p:txBody>
      </p:sp>
      <p:sp>
        <p:nvSpPr>
          <p:cNvPr id="43" name="Text 41"/>
          <p:cNvSpPr/>
          <p:nvPr/>
        </p:nvSpPr>
        <p:spPr>
          <a:xfrm>
            <a:off x="2846784" y="2339243"/>
            <a:ext cx="1553766" cy="159020"/>
          </a:xfrm>
          <a:prstGeom prst="rect">
            <a:avLst/>
          </a:prstGeom>
          <a:noFill/>
          <a:ln/>
        </p:spPr>
        <p:txBody>
          <a:bodyPr wrap="none" lIns="0" tIns="0" rIns="0" bIns="0" rtlCol="0" anchor="t"/>
          <a:lstStyle/>
          <a:p>
            <a:pPr algn="l" indent="0" marL="0">
              <a:lnSpc>
                <a:spcPts val="979"/>
              </a:lnSpc>
              <a:buNone/>
            </a:pPr>
            <a:r>
              <a:rPr lang="en-US" sz="800" dirty="0">
                <a:solidFill>
                  <a:srgbClr val="0F172A"/>
                </a:solidFill>
                <a:latin typeface="Carlito" pitchFamily="34" charset="0"/>
                <a:ea typeface="Carlito" pitchFamily="34" charset="-122"/>
                <a:cs typeface="Carlito" pitchFamily="34" charset="-120"/>
              </a:rPr>
              <a:t>Search strategy</a:t>
            </a:r>
            <a:endParaRPr lang="en-US" sz="800" dirty="0"/>
          </a:p>
        </p:txBody>
      </p:sp>
      <p:sp>
        <p:nvSpPr>
          <p:cNvPr id="44" name="Text 42"/>
          <p:cNvSpPr/>
          <p:nvPr/>
        </p:nvSpPr>
        <p:spPr>
          <a:xfrm>
            <a:off x="2661047" y="2506340"/>
            <a:ext cx="205740" cy="158981"/>
          </a:xfrm>
          <a:prstGeom prst="rect">
            <a:avLst/>
          </a:prstGeom>
          <a:noFill/>
          <a:ln/>
        </p:spPr>
        <p:txBody>
          <a:bodyPr wrap="none" lIns="0" tIns="0" rIns="0" bIns="0" rtlCol="0" anchor="t"/>
          <a:lstStyle/>
          <a:p>
            <a:pPr algn="l" indent="0" marL="0">
              <a:lnSpc>
                <a:spcPts val="897"/>
              </a:lnSpc>
              <a:buNone/>
            </a:pPr>
            <a:r>
              <a:rPr lang="en-US" sz="800" dirty="0">
                <a:solidFill>
                  <a:srgbClr val="EA680C"/>
                </a:solidFill>
                <a:latin typeface="Liberation Sans Narrow" pitchFamily="34" charset="0"/>
                <a:ea typeface="Liberation Sans Narrow" pitchFamily="34" charset="-122"/>
                <a:cs typeface="Liberation Sans Narrow" pitchFamily="34" charset="-120"/>
              </a:rPr>
              <a:t>8.</a:t>
            </a:r>
            <a:endParaRPr lang="en-US" sz="800" dirty="0"/>
          </a:p>
        </p:txBody>
      </p:sp>
      <p:sp>
        <p:nvSpPr>
          <p:cNvPr id="45" name="Text 43"/>
          <p:cNvSpPr/>
          <p:nvPr/>
        </p:nvSpPr>
        <p:spPr>
          <a:xfrm>
            <a:off x="2846784" y="2506340"/>
            <a:ext cx="1553766" cy="159020"/>
          </a:xfrm>
          <a:prstGeom prst="rect">
            <a:avLst/>
          </a:prstGeom>
          <a:noFill/>
          <a:ln/>
        </p:spPr>
        <p:txBody>
          <a:bodyPr wrap="none" lIns="0" tIns="0" rIns="0" bIns="0" rtlCol="0" anchor="t"/>
          <a:lstStyle/>
          <a:p>
            <a:pPr algn="l" indent="0" marL="0">
              <a:lnSpc>
                <a:spcPts val="979"/>
              </a:lnSpc>
              <a:buNone/>
            </a:pPr>
            <a:r>
              <a:rPr lang="en-US" sz="800" dirty="0">
                <a:solidFill>
                  <a:srgbClr val="0F172A"/>
                </a:solidFill>
                <a:latin typeface="Carlito" pitchFamily="34" charset="0"/>
                <a:ea typeface="Carlito" pitchFamily="34" charset="-122"/>
                <a:cs typeface="Carlito" pitchFamily="34" charset="-120"/>
              </a:rPr>
              <a:t>Selection process</a:t>
            </a:r>
            <a:endParaRPr lang="en-US" sz="800" dirty="0"/>
          </a:p>
        </p:txBody>
      </p:sp>
      <p:sp>
        <p:nvSpPr>
          <p:cNvPr id="46" name="Text 44"/>
          <p:cNvSpPr/>
          <p:nvPr/>
        </p:nvSpPr>
        <p:spPr>
          <a:xfrm>
            <a:off x="2661047" y="2673437"/>
            <a:ext cx="205740" cy="158981"/>
          </a:xfrm>
          <a:prstGeom prst="rect">
            <a:avLst/>
          </a:prstGeom>
          <a:noFill/>
          <a:ln/>
        </p:spPr>
        <p:txBody>
          <a:bodyPr wrap="none" lIns="0" tIns="0" rIns="0" bIns="0" rtlCol="0" anchor="t"/>
          <a:lstStyle/>
          <a:p>
            <a:pPr algn="l" indent="0" marL="0">
              <a:lnSpc>
                <a:spcPts val="897"/>
              </a:lnSpc>
              <a:buNone/>
            </a:pPr>
            <a:r>
              <a:rPr lang="en-US" sz="800" dirty="0">
                <a:solidFill>
                  <a:srgbClr val="EA680C"/>
                </a:solidFill>
                <a:latin typeface="Liberation Sans Narrow" pitchFamily="34" charset="0"/>
                <a:ea typeface="Liberation Sans Narrow" pitchFamily="34" charset="-122"/>
                <a:cs typeface="Liberation Sans Narrow" pitchFamily="34" charset="-120"/>
              </a:rPr>
              <a:t>9.</a:t>
            </a:r>
            <a:endParaRPr lang="en-US" sz="800" dirty="0"/>
          </a:p>
        </p:txBody>
      </p:sp>
      <p:sp>
        <p:nvSpPr>
          <p:cNvPr id="47" name="Text 45"/>
          <p:cNvSpPr/>
          <p:nvPr/>
        </p:nvSpPr>
        <p:spPr>
          <a:xfrm>
            <a:off x="2846784" y="2673437"/>
            <a:ext cx="1553766" cy="159020"/>
          </a:xfrm>
          <a:prstGeom prst="rect">
            <a:avLst/>
          </a:prstGeom>
          <a:noFill/>
          <a:ln/>
        </p:spPr>
        <p:txBody>
          <a:bodyPr wrap="none" lIns="0" tIns="0" rIns="0" bIns="0" rtlCol="0" anchor="t"/>
          <a:lstStyle/>
          <a:p>
            <a:pPr algn="l" indent="0" marL="0">
              <a:lnSpc>
                <a:spcPts val="979"/>
              </a:lnSpc>
              <a:buNone/>
            </a:pPr>
            <a:r>
              <a:rPr lang="en-US" sz="800" dirty="0">
                <a:solidFill>
                  <a:srgbClr val="0F172A"/>
                </a:solidFill>
                <a:latin typeface="Carlito" pitchFamily="34" charset="0"/>
                <a:ea typeface="Carlito" pitchFamily="34" charset="-122"/>
                <a:cs typeface="Carlito" pitchFamily="34" charset="-120"/>
              </a:rPr>
              <a:t>Data extraction</a:t>
            </a:r>
            <a:endParaRPr lang="en-US" sz="800" dirty="0"/>
          </a:p>
        </p:txBody>
      </p:sp>
      <p:sp>
        <p:nvSpPr>
          <p:cNvPr id="48" name="Text 46"/>
          <p:cNvSpPr/>
          <p:nvPr/>
        </p:nvSpPr>
        <p:spPr>
          <a:xfrm>
            <a:off x="2655547" y="2840534"/>
            <a:ext cx="238171" cy="158981"/>
          </a:xfrm>
          <a:prstGeom prst="rect">
            <a:avLst/>
          </a:prstGeom>
          <a:noFill/>
          <a:ln/>
        </p:spPr>
        <p:txBody>
          <a:bodyPr wrap="none" lIns="0" tIns="0" rIns="0" bIns="0" rtlCol="0" anchor="t"/>
          <a:lstStyle/>
          <a:p>
            <a:pPr algn="l" indent="0" marL="0">
              <a:lnSpc>
                <a:spcPts val="897"/>
              </a:lnSpc>
              <a:buNone/>
            </a:pPr>
            <a:r>
              <a:rPr lang="en-US" sz="800" dirty="0">
                <a:solidFill>
                  <a:srgbClr val="EA680C"/>
                </a:solidFill>
                <a:latin typeface="Liberation Sans Narrow" pitchFamily="34" charset="0"/>
                <a:ea typeface="Liberation Sans Narrow" pitchFamily="34" charset="-122"/>
                <a:cs typeface="Liberation Sans Narrow" pitchFamily="34" charset="-120"/>
              </a:rPr>
              <a:t>10.</a:t>
            </a:r>
            <a:endParaRPr lang="en-US" sz="800" dirty="0"/>
          </a:p>
        </p:txBody>
      </p:sp>
      <p:sp>
        <p:nvSpPr>
          <p:cNvPr id="49" name="Text 47"/>
          <p:cNvSpPr/>
          <p:nvPr/>
        </p:nvSpPr>
        <p:spPr>
          <a:xfrm>
            <a:off x="2860179" y="2840534"/>
            <a:ext cx="1540371" cy="159020"/>
          </a:xfrm>
          <a:prstGeom prst="rect">
            <a:avLst/>
          </a:prstGeom>
          <a:noFill/>
          <a:ln/>
        </p:spPr>
        <p:txBody>
          <a:bodyPr wrap="none" lIns="0" tIns="0" rIns="0" bIns="0" rtlCol="0" anchor="t"/>
          <a:lstStyle/>
          <a:p>
            <a:pPr algn="l" indent="0" marL="0">
              <a:lnSpc>
                <a:spcPts val="979"/>
              </a:lnSpc>
              <a:buNone/>
            </a:pPr>
            <a:r>
              <a:rPr lang="en-US" sz="800" dirty="0">
                <a:solidFill>
                  <a:srgbClr val="0F172A"/>
                </a:solidFill>
                <a:latin typeface="Carlito" pitchFamily="34" charset="0"/>
                <a:ea typeface="Carlito" pitchFamily="34" charset="-122"/>
                <a:cs typeface="Carlito" pitchFamily="34" charset="-120"/>
              </a:rPr>
              <a:t>Data items</a:t>
            </a:r>
            <a:endParaRPr lang="en-US" sz="800" dirty="0"/>
          </a:p>
        </p:txBody>
      </p:sp>
      <p:sp>
        <p:nvSpPr>
          <p:cNvPr id="50" name="Text 48"/>
          <p:cNvSpPr/>
          <p:nvPr/>
        </p:nvSpPr>
        <p:spPr>
          <a:xfrm>
            <a:off x="2655547" y="3007630"/>
            <a:ext cx="238171" cy="158981"/>
          </a:xfrm>
          <a:prstGeom prst="rect">
            <a:avLst/>
          </a:prstGeom>
          <a:noFill/>
          <a:ln/>
        </p:spPr>
        <p:txBody>
          <a:bodyPr wrap="none" lIns="0" tIns="0" rIns="0" bIns="0" rtlCol="0" anchor="t"/>
          <a:lstStyle/>
          <a:p>
            <a:pPr algn="l" indent="0" marL="0">
              <a:lnSpc>
                <a:spcPts val="897"/>
              </a:lnSpc>
              <a:buNone/>
            </a:pPr>
            <a:r>
              <a:rPr lang="en-US" sz="800" dirty="0">
                <a:solidFill>
                  <a:srgbClr val="EA680C"/>
                </a:solidFill>
                <a:latin typeface="Liberation Sans Narrow" pitchFamily="34" charset="0"/>
                <a:ea typeface="Liberation Sans Narrow" pitchFamily="34" charset="-122"/>
                <a:cs typeface="Liberation Sans Narrow" pitchFamily="34" charset="-120"/>
              </a:rPr>
              <a:t>11.</a:t>
            </a:r>
            <a:endParaRPr lang="en-US" sz="800" dirty="0"/>
          </a:p>
        </p:txBody>
      </p:sp>
      <p:sp>
        <p:nvSpPr>
          <p:cNvPr id="51" name="Text 49"/>
          <p:cNvSpPr/>
          <p:nvPr/>
        </p:nvSpPr>
        <p:spPr>
          <a:xfrm>
            <a:off x="2860179" y="3007630"/>
            <a:ext cx="1540371" cy="159020"/>
          </a:xfrm>
          <a:prstGeom prst="rect">
            <a:avLst/>
          </a:prstGeom>
          <a:noFill/>
          <a:ln/>
        </p:spPr>
        <p:txBody>
          <a:bodyPr wrap="none" lIns="0" tIns="0" rIns="0" bIns="0" rtlCol="0" anchor="t"/>
          <a:lstStyle/>
          <a:p>
            <a:pPr algn="l" indent="0" marL="0">
              <a:lnSpc>
                <a:spcPts val="979"/>
              </a:lnSpc>
              <a:buNone/>
            </a:pPr>
            <a:r>
              <a:rPr lang="en-US" sz="800" dirty="0">
                <a:solidFill>
                  <a:srgbClr val="0F172A"/>
                </a:solidFill>
                <a:latin typeface="Carlito" pitchFamily="34" charset="0"/>
                <a:ea typeface="Carlito" pitchFamily="34" charset="-122"/>
                <a:cs typeface="Carlito" pitchFamily="34" charset="-120"/>
              </a:rPr>
              <a:t>Study risk of bias</a:t>
            </a:r>
            <a:endParaRPr lang="en-US" sz="800" dirty="0"/>
          </a:p>
        </p:txBody>
      </p:sp>
      <p:sp>
        <p:nvSpPr>
          <p:cNvPr id="52" name="Text 50"/>
          <p:cNvSpPr/>
          <p:nvPr/>
        </p:nvSpPr>
        <p:spPr>
          <a:xfrm>
            <a:off x="2655547" y="3174727"/>
            <a:ext cx="238171" cy="158981"/>
          </a:xfrm>
          <a:prstGeom prst="rect">
            <a:avLst/>
          </a:prstGeom>
          <a:noFill/>
          <a:ln/>
        </p:spPr>
        <p:txBody>
          <a:bodyPr wrap="none" lIns="0" tIns="0" rIns="0" bIns="0" rtlCol="0" anchor="t"/>
          <a:lstStyle/>
          <a:p>
            <a:pPr algn="l" indent="0" marL="0">
              <a:lnSpc>
                <a:spcPts val="897"/>
              </a:lnSpc>
              <a:buNone/>
            </a:pPr>
            <a:r>
              <a:rPr lang="en-US" sz="800" dirty="0">
                <a:solidFill>
                  <a:srgbClr val="EA680C"/>
                </a:solidFill>
                <a:latin typeface="Liberation Sans Narrow" pitchFamily="34" charset="0"/>
                <a:ea typeface="Liberation Sans Narrow" pitchFamily="34" charset="-122"/>
                <a:cs typeface="Liberation Sans Narrow" pitchFamily="34" charset="-120"/>
              </a:rPr>
              <a:t>12.</a:t>
            </a:r>
            <a:endParaRPr lang="en-US" sz="800" dirty="0"/>
          </a:p>
        </p:txBody>
      </p:sp>
      <p:sp>
        <p:nvSpPr>
          <p:cNvPr id="53" name="Text 51"/>
          <p:cNvSpPr/>
          <p:nvPr/>
        </p:nvSpPr>
        <p:spPr>
          <a:xfrm>
            <a:off x="2860179" y="3174727"/>
            <a:ext cx="1540371" cy="159020"/>
          </a:xfrm>
          <a:prstGeom prst="rect">
            <a:avLst/>
          </a:prstGeom>
          <a:noFill/>
          <a:ln/>
        </p:spPr>
        <p:txBody>
          <a:bodyPr wrap="none" lIns="0" tIns="0" rIns="0" bIns="0" rtlCol="0" anchor="t"/>
          <a:lstStyle/>
          <a:p>
            <a:pPr algn="l" indent="0" marL="0">
              <a:lnSpc>
                <a:spcPts val="979"/>
              </a:lnSpc>
              <a:buNone/>
            </a:pPr>
            <a:r>
              <a:rPr lang="en-US" sz="800" dirty="0">
                <a:solidFill>
                  <a:srgbClr val="0F172A"/>
                </a:solidFill>
                <a:latin typeface="Carlito" pitchFamily="34" charset="0"/>
                <a:ea typeface="Carlito" pitchFamily="34" charset="-122"/>
                <a:cs typeface="Carlito" pitchFamily="34" charset="-120"/>
              </a:rPr>
              <a:t>Effect measures</a:t>
            </a:r>
            <a:endParaRPr lang="en-US" sz="800" dirty="0"/>
          </a:p>
        </p:txBody>
      </p:sp>
      <p:sp>
        <p:nvSpPr>
          <p:cNvPr id="54" name="Text 52"/>
          <p:cNvSpPr/>
          <p:nvPr/>
        </p:nvSpPr>
        <p:spPr>
          <a:xfrm>
            <a:off x="2655547" y="3341824"/>
            <a:ext cx="238171" cy="158981"/>
          </a:xfrm>
          <a:prstGeom prst="rect">
            <a:avLst/>
          </a:prstGeom>
          <a:noFill/>
          <a:ln/>
        </p:spPr>
        <p:txBody>
          <a:bodyPr wrap="none" lIns="0" tIns="0" rIns="0" bIns="0" rtlCol="0" anchor="t"/>
          <a:lstStyle/>
          <a:p>
            <a:pPr algn="l" indent="0" marL="0">
              <a:lnSpc>
                <a:spcPts val="897"/>
              </a:lnSpc>
              <a:buNone/>
            </a:pPr>
            <a:r>
              <a:rPr lang="en-US" sz="800" dirty="0">
                <a:solidFill>
                  <a:srgbClr val="EA680C"/>
                </a:solidFill>
                <a:latin typeface="Liberation Sans Narrow" pitchFamily="34" charset="0"/>
                <a:ea typeface="Liberation Sans Narrow" pitchFamily="34" charset="-122"/>
                <a:cs typeface="Liberation Sans Narrow" pitchFamily="34" charset="-120"/>
              </a:rPr>
              <a:t>13.</a:t>
            </a:r>
            <a:endParaRPr lang="en-US" sz="800" dirty="0"/>
          </a:p>
        </p:txBody>
      </p:sp>
      <p:sp>
        <p:nvSpPr>
          <p:cNvPr id="55" name="Text 53"/>
          <p:cNvSpPr/>
          <p:nvPr/>
        </p:nvSpPr>
        <p:spPr>
          <a:xfrm>
            <a:off x="2860179" y="3341824"/>
            <a:ext cx="1540371" cy="159020"/>
          </a:xfrm>
          <a:prstGeom prst="rect">
            <a:avLst/>
          </a:prstGeom>
          <a:noFill/>
          <a:ln/>
        </p:spPr>
        <p:txBody>
          <a:bodyPr wrap="none" lIns="0" tIns="0" rIns="0" bIns="0" rtlCol="0" anchor="t"/>
          <a:lstStyle/>
          <a:p>
            <a:pPr algn="l" indent="0" marL="0">
              <a:lnSpc>
                <a:spcPts val="979"/>
              </a:lnSpc>
              <a:buNone/>
            </a:pPr>
            <a:r>
              <a:rPr lang="en-US" sz="800" dirty="0">
                <a:solidFill>
                  <a:srgbClr val="0F172A"/>
                </a:solidFill>
                <a:latin typeface="Carlito" pitchFamily="34" charset="0"/>
                <a:ea typeface="Carlito" pitchFamily="34" charset="-122"/>
                <a:cs typeface="Carlito" pitchFamily="34" charset="-120"/>
              </a:rPr>
              <a:t>Synthesis methods</a:t>
            </a:r>
            <a:endParaRPr lang="en-US" sz="800" dirty="0"/>
          </a:p>
        </p:txBody>
      </p:sp>
      <p:sp>
        <p:nvSpPr>
          <p:cNvPr id="56" name="Text 54"/>
          <p:cNvSpPr/>
          <p:nvPr/>
        </p:nvSpPr>
        <p:spPr>
          <a:xfrm>
            <a:off x="2655547" y="3508921"/>
            <a:ext cx="238171" cy="158981"/>
          </a:xfrm>
          <a:prstGeom prst="rect">
            <a:avLst/>
          </a:prstGeom>
          <a:noFill/>
          <a:ln/>
        </p:spPr>
        <p:txBody>
          <a:bodyPr wrap="none" lIns="0" tIns="0" rIns="0" bIns="0" rtlCol="0" anchor="t"/>
          <a:lstStyle/>
          <a:p>
            <a:pPr algn="l" indent="0" marL="0">
              <a:lnSpc>
                <a:spcPts val="897"/>
              </a:lnSpc>
              <a:buNone/>
            </a:pPr>
            <a:r>
              <a:rPr lang="en-US" sz="800" dirty="0">
                <a:solidFill>
                  <a:srgbClr val="EA680C"/>
                </a:solidFill>
                <a:latin typeface="Liberation Sans Narrow" pitchFamily="34" charset="0"/>
                <a:ea typeface="Liberation Sans Narrow" pitchFamily="34" charset="-122"/>
                <a:cs typeface="Liberation Sans Narrow" pitchFamily="34" charset="-120"/>
              </a:rPr>
              <a:t>14.</a:t>
            </a:r>
            <a:endParaRPr lang="en-US" sz="800" dirty="0"/>
          </a:p>
        </p:txBody>
      </p:sp>
      <p:sp>
        <p:nvSpPr>
          <p:cNvPr id="57" name="Text 55"/>
          <p:cNvSpPr/>
          <p:nvPr/>
        </p:nvSpPr>
        <p:spPr>
          <a:xfrm>
            <a:off x="2860179" y="3508921"/>
            <a:ext cx="1632793" cy="159020"/>
          </a:xfrm>
          <a:prstGeom prst="rect">
            <a:avLst/>
          </a:prstGeom>
          <a:noFill/>
          <a:ln/>
        </p:spPr>
        <p:txBody>
          <a:bodyPr wrap="square" lIns="0" tIns="0" rIns="0" bIns="0" rtlCol="0" anchor="t"/>
          <a:lstStyle/>
          <a:p>
            <a:pPr algn="l" indent="0" marL="0">
              <a:lnSpc>
                <a:spcPts val="979"/>
              </a:lnSpc>
              <a:buNone/>
            </a:pPr>
            <a:r>
              <a:rPr lang="en-US" sz="800" dirty="0">
                <a:solidFill>
                  <a:srgbClr val="0F172A"/>
                </a:solidFill>
                <a:latin typeface="Carlito" pitchFamily="34" charset="0"/>
                <a:ea typeface="Carlito" pitchFamily="34" charset="-122"/>
                <a:cs typeface="Carlito" pitchFamily="34" charset="-120"/>
              </a:rPr>
              <a:t>Reporting bias assessment</a:t>
            </a:r>
            <a:endParaRPr lang="en-US" sz="800" dirty="0"/>
          </a:p>
        </p:txBody>
      </p:sp>
      <p:sp>
        <p:nvSpPr>
          <p:cNvPr id="58" name="Text 56"/>
          <p:cNvSpPr/>
          <p:nvPr/>
        </p:nvSpPr>
        <p:spPr>
          <a:xfrm>
            <a:off x="2655547" y="3676017"/>
            <a:ext cx="238171" cy="158981"/>
          </a:xfrm>
          <a:prstGeom prst="rect">
            <a:avLst/>
          </a:prstGeom>
          <a:noFill/>
          <a:ln/>
        </p:spPr>
        <p:txBody>
          <a:bodyPr wrap="none" lIns="0" tIns="0" rIns="0" bIns="0" rtlCol="0" anchor="t"/>
          <a:lstStyle/>
          <a:p>
            <a:pPr algn="l" indent="0" marL="0">
              <a:lnSpc>
                <a:spcPts val="897"/>
              </a:lnSpc>
              <a:buNone/>
            </a:pPr>
            <a:r>
              <a:rPr lang="en-US" sz="800" dirty="0">
                <a:solidFill>
                  <a:srgbClr val="EA680C"/>
                </a:solidFill>
                <a:latin typeface="Liberation Sans Narrow" pitchFamily="34" charset="0"/>
                <a:ea typeface="Liberation Sans Narrow" pitchFamily="34" charset="-122"/>
                <a:cs typeface="Liberation Sans Narrow" pitchFamily="34" charset="-120"/>
              </a:rPr>
              <a:t>15.</a:t>
            </a:r>
            <a:endParaRPr lang="en-US" sz="800" dirty="0"/>
          </a:p>
        </p:txBody>
      </p:sp>
      <p:sp>
        <p:nvSpPr>
          <p:cNvPr id="59" name="Text 57"/>
          <p:cNvSpPr/>
          <p:nvPr/>
        </p:nvSpPr>
        <p:spPr>
          <a:xfrm>
            <a:off x="2860179" y="3676017"/>
            <a:ext cx="1540371" cy="159020"/>
          </a:xfrm>
          <a:prstGeom prst="rect">
            <a:avLst/>
          </a:prstGeom>
          <a:noFill/>
          <a:ln/>
        </p:spPr>
        <p:txBody>
          <a:bodyPr wrap="none" lIns="0" tIns="0" rIns="0" bIns="0" rtlCol="0" anchor="t"/>
          <a:lstStyle/>
          <a:p>
            <a:pPr algn="l" indent="0" marL="0">
              <a:lnSpc>
                <a:spcPts val="979"/>
              </a:lnSpc>
              <a:buNone/>
            </a:pPr>
            <a:r>
              <a:rPr lang="en-US" sz="800" dirty="0">
                <a:solidFill>
                  <a:srgbClr val="0F172A"/>
                </a:solidFill>
                <a:latin typeface="Carlito" pitchFamily="34" charset="0"/>
                <a:ea typeface="Carlito" pitchFamily="34" charset="-122"/>
                <a:cs typeface="Carlito" pitchFamily="34" charset="-120"/>
              </a:rPr>
              <a:t>Certainty assessment</a:t>
            </a:r>
            <a:endParaRPr lang="en-US" sz="800" dirty="0"/>
          </a:p>
        </p:txBody>
      </p:sp>
      <p:sp>
        <p:nvSpPr>
          <p:cNvPr id="60" name="Text 58"/>
          <p:cNvSpPr/>
          <p:nvPr/>
        </p:nvSpPr>
        <p:spPr>
          <a:xfrm>
            <a:off x="2655547" y="3843114"/>
            <a:ext cx="238171" cy="91440"/>
          </a:xfrm>
          <a:prstGeom prst="rect">
            <a:avLst/>
          </a:prstGeom>
          <a:noFill/>
          <a:ln/>
        </p:spPr>
        <p:txBody>
          <a:bodyPr wrap="none" lIns="0" tIns="0" rIns="0" bIns="0" rtlCol="0" anchor="t"/>
          <a:lstStyle/>
          <a:p>
            <a:pPr algn="l" indent="0" marL="0">
              <a:lnSpc>
                <a:spcPts val="897"/>
              </a:lnSpc>
              <a:buNone/>
            </a:pPr>
            <a:r>
              <a:rPr lang="en-US" sz="800" dirty="0">
                <a:solidFill>
                  <a:srgbClr val="EA680C"/>
                </a:solidFill>
                <a:latin typeface="Liberation Sans Narrow" pitchFamily="34" charset="0"/>
                <a:ea typeface="Liberation Sans Narrow" pitchFamily="34" charset="-122"/>
                <a:cs typeface="Liberation Sans Narrow" pitchFamily="34" charset="-120"/>
              </a:rPr>
              <a:t>16.</a:t>
            </a:r>
            <a:endParaRPr lang="en-US" sz="800" dirty="0"/>
          </a:p>
        </p:txBody>
      </p:sp>
      <p:sp>
        <p:nvSpPr>
          <p:cNvPr id="61" name="Text 59"/>
          <p:cNvSpPr/>
          <p:nvPr/>
        </p:nvSpPr>
        <p:spPr>
          <a:xfrm>
            <a:off x="2860179" y="3843114"/>
            <a:ext cx="1540371" cy="91440"/>
          </a:xfrm>
          <a:prstGeom prst="rect">
            <a:avLst/>
          </a:prstGeom>
          <a:noFill/>
          <a:ln/>
        </p:spPr>
        <p:txBody>
          <a:bodyPr wrap="none" lIns="0" tIns="0" rIns="0" bIns="0" rtlCol="0" anchor="t"/>
          <a:lstStyle/>
          <a:p>
            <a:pPr algn="l" indent="0" marL="0">
              <a:lnSpc>
                <a:spcPts val="979"/>
              </a:lnSpc>
              <a:buNone/>
            </a:pPr>
            <a:r>
              <a:rPr lang="en-US" sz="800" dirty="0">
                <a:solidFill>
                  <a:srgbClr val="0F172A"/>
                </a:solidFill>
                <a:latin typeface="Carlito" pitchFamily="34" charset="0"/>
                <a:ea typeface="Carlito" pitchFamily="34" charset="-122"/>
                <a:cs typeface="Carlito" pitchFamily="34" charset="-120"/>
              </a:rPr>
              <a:t>Subgroup / sensitivity</a:t>
            </a:r>
            <a:endParaRPr lang="en-US" sz="800" dirty="0"/>
          </a:p>
        </p:txBody>
      </p:sp>
      <p:sp>
        <p:nvSpPr>
          <p:cNvPr id="62" name="Text 60"/>
          <p:cNvSpPr/>
          <p:nvPr/>
        </p:nvSpPr>
        <p:spPr>
          <a:xfrm>
            <a:off x="4625578" y="1108509"/>
            <a:ext cx="1975247" cy="2878931"/>
          </a:xfrm>
          <a:prstGeom prst="roundRect">
            <a:avLst>
              <a:gd name="adj" fmla="val 5787"/>
            </a:avLst>
          </a:prstGeom>
          <a:solidFill>
            <a:srgbClr val="FFFFFF"/>
          </a:solidFill>
          <a:ln w="7144">
            <a:solidFill>
              <a:srgbClr val="D8DEE2"/>
            </a:solidFill>
            <a:prstDash val="solid"/>
          </a:ln>
        </p:spPr>
        <p:txBody>
          <a:bodyPr wrap="square" rtlCol="0" anchor="ctr"/>
          <a:lstStyle/>
          <a:p>
            <a:pPr indent="0" marL="0">
              <a:buNone/>
            </a:pPr>
            <a:endParaRPr lang="en-US" dirty="0"/>
          </a:p>
        </p:txBody>
      </p:sp>
      <p:sp>
        <p:nvSpPr>
          <p:cNvPr id="63" name="Text 61"/>
          <p:cNvSpPr/>
          <p:nvPr/>
        </p:nvSpPr>
        <p:spPr>
          <a:xfrm>
            <a:off x="4724925" y="1231788"/>
            <a:ext cx="500165" cy="165771"/>
          </a:xfrm>
          <a:prstGeom prst="roundRect">
            <a:avLst>
              <a:gd name="adj" fmla="val 5740132"/>
            </a:avLst>
          </a:prstGeom>
          <a:solidFill>
            <a:srgbClr val="E0ECEB"/>
          </a:solidFill>
          <a:ln/>
        </p:spPr>
        <p:txBody>
          <a:bodyPr wrap="square" rtlCol="0" anchor="ctr"/>
          <a:lstStyle/>
          <a:p>
            <a:pPr indent="0" marL="0">
              <a:buNone/>
            </a:pPr>
            <a:endParaRPr lang="en-US" dirty="0"/>
          </a:p>
        </p:txBody>
      </p:sp>
      <p:sp>
        <p:nvSpPr>
          <p:cNvPr id="64" name="Text 62"/>
          <p:cNvSpPr/>
          <p:nvPr/>
        </p:nvSpPr>
        <p:spPr>
          <a:xfrm>
            <a:off x="4697071" y="1240668"/>
            <a:ext cx="555874" cy="148010"/>
          </a:xfrm>
          <a:prstGeom prst="rect">
            <a:avLst/>
          </a:prstGeom>
          <a:noFill/>
          <a:ln/>
        </p:spPr>
        <p:txBody>
          <a:bodyPr wrap="none" lIns="0" tIns="0" rIns="0" bIns="0" rtlCol="0" anchor="ctr"/>
          <a:lstStyle/>
          <a:p>
            <a:pPr algn="ctr" indent="0" marL="0">
              <a:lnSpc>
                <a:spcPts val="828"/>
              </a:lnSpc>
              <a:buNone/>
            </a:pPr>
            <a:r>
              <a:rPr lang="en-US" sz="800" spc="21" kern="0" dirty="0">
                <a:solidFill>
                  <a:srgbClr val="134E4A"/>
                </a:solidFill>
                <a:latin typeface="Carlito" pitchFamily="34" charset="0"/>
                <a:ea typeface="Carlito" pitchFamily="34" charset="-122"/>
                <a:cs typeface="Carlito" pitchFamily="34" charset="-120"/>
              </a:rPr>
              <a:t>RESULTS</a:t>
            </a:r>
            <a:endParaRPr lang="en-US" sz="800" dirty="0"/>
          </a:p>
        </p:txBody>
      </p:sp>
      <p:sp>
        <p:nvSpPr>
          <p:cNvPr id="65" name="Text 63"/>
          <p:cNvSpPr/>
          <p:nvPr/>
        </p:nvSpPr>
        <p:spPr>
          <a:xfrm>
            <a:off x="6219002" y="1253728"/>
            <a:ext cx="299190" cy="170047"/>
          </a:xfrm>
          <a:prstGeom prst="rect">
            <a:avLst/>
          </a:prstGeom>
          <a:noFill/>
          <a:ln/>
        </p:spPr>
        <p:txBody>
          <a:bodyPr wrap="none" lIns="0" tIns="0" rIns="0" bIns="0" rtlCol="0" anchor="t"/>
          <a:lstStyle/>
          <a:p>
            <a:pPr algn="l" indent="0" marL="0">
              <a:lnSpc>
                <a:spcPts val="959"/>
              </a:lnSpc>
              <a:buNone/>
            </a:pPr>
            <a:r>
              <a:rPr lang="en-US" sz="619" spc="-12" kern="0" dirty="0">
                <a:solidFill>
                  <a:srgbClr val="64748B"/>
                </a:solidFill>
                <a:latin typeface="Liberation Sans Narrow" pitchFamily="34" charset="0"/>
                <a:ea typeface="Liberation Sans Narrow" pitchFamily="34" charset="-122"/>
                <a:cs typeface="Liberation Sans Narrow" pitchFamily="34" charset="-120"/>
              </a:rPr>
              <a:t>17–23</a:t>
            </a:r>
            <a:endParaRPr lang="en-US" sz="619" dirty="0"/>
          </a:p>
        </p:txBody>
      </p:sp>
      <p:sp>
        <p:nvSpPr>
          <p:cNvPr id="66" name="Text 64"/>
          <p:cNvSpPr/>
          <p:nvPr/>
        </p:nvSpPr>
        <p:spPr>
          <a:xfrm>
            <a:off x="4743450" y="1445828"/>
            <a:ext cx="1843873" cy="207699"/>
          </a:xfrm>
          <a:prstGeom prst="rect">
            <a:avLst/>
          </a:prstGeom>
          <a:noFill/>
          <a:ln/>
        </p:spPr>
        <p:txBody>
          <a:bodyPr wrap="square" lIns="0" tIns="0" rIns="0" bIns="57150" rtlCol="0" anchor="t"/>
          <a:lstStyle/>
          <a:p>
            <a:pPr algn="l" indent="0" marL="0">
              <a:lnSpc>
                <a:spcPts val="984"/>
              </a:lnSpc>
              <a:buNone/>
            </a:pPr>
            <a:r>
              <a:rPr lang="en-US" sz="800" dirty="0">
                <a:solidFill>
                  <a:srgbClr val="134E4A"/>
                </a:solidFill>
                <a:latin typeface="Tinos" pitchFamily="34" charset="0"/>
                <a:ea typeface="Tinos" pitchFamily="34" charset="-122"/>
                <a:cs typeface="Tinos" pitchFamily="34" charset="-120"/>
              </a:rPr>
              <a:t>Tujuh item pelaporan temuan.</a:t>
            </a:r>
            <a:endParaRPr lang="en-US" sz="800" dirty="0"/>
          </a:p>
        </p:txBody>
      </p:sp>
      <p:sp>
        <p:nvSpPr>
          <p:cNvPr id="67" name="Text 65"/>
          <p:cNvSpPr/>
          <p:nvPr/>
        </p:nvSpPr>
        <p:spPr>
          <a:xfrm>
            <a:off x="4737950" y="1713719"/>
            <a:ext cx="238171" cy="158981"/>
          </a:xfrm>
          <a:prstGeom prst="rect">
            <a:avLst/>
          </a:prstGeom>
          <a:noFill/>
          <a:ln/>
        </p:spPr>
        <p:txBody>
          <a:bodyPr wrap="none" lIns="0" tIns="0" rIns="0" bIns="0" rtlCol="0" anchor="t"/>
          <a:lstStyle/>
          <a:p>
            <a:pPr algn="l" indent="0" marL="0">
              <a:lnSpc>
                <a:spcPts val="897"/>
              </a:lnSpc>
              <a:buNone/>
            </a:pPr>
            <a:r>
              <a:rPr lang="en-US" sz="800" dirty="0">
                <a:solidFill>
                  <a:srgbClr val="EA680C"/>
                </a:solidFill>
                <a:latin typeface="Liberation Sans Narrow" pitchFamily="34" charset="0"/>
                <a:ea typeface="Liberation Sans Narrow" pitchFamily="34" charset="-122"/>
                <a:cs typeface="Liberation Sans Narrow" pitchFamily="34" charset="-120"/>
              </a:rPr>
              <a:t>17.</a:t>
            </a:r>
            <a:endParaRPr lang="en-US" sz="800" dirty="0"/>
          </a:p>
        </p:txBody>
      </p:sp>
      <p:sp>
        <p:nvSpPr>
          <p:cNvPr id="68" name="Text 66"/>
          <p:cNvSpPr/>
          <p:nvPr/>
        </p:nvSpPr>
        <p:spPr>
          <a:xfrm>
            <a:off x="4942582" y="1713719"/>
            <a:ext cx="1540371" cy="159020"/>
          </a:xfrm>
          <a:prstGeom prst="rect">
            <a:avLst/>
          </a:prstGeom>
          <a:noFill/>
          <a:ln/>
        </p:spPr>
        <p:txBody>
          <a:bodyPr wrap="none" lIns="0" tIns="0" rIns="0" bIns="0" rtlCol="0" anchor="t"/>
          <a:lstStyle/>
          <a:p>
            <a:pPr algn="l" indent="0" marL="0">
              <a:lnSpc>
                <a:spcPts val="979"/>
              </a:lnSpc>
              <a:buNone/>
            </a:pPr>
            <a:r>
              <a:rPr lang="en-US" sz="800" dirty="0">
                <a:solidFill>
                  <a:srgbClr val="0F172A"/>
                </a:solidFill>
                <a:latin typeface="Carlito" pitchFamily="34" charset="0"/>
                <a:ea typeface="Carlito" pitchFamily="34" charset="-122"/>
                <a:cs typeface="Carlito" pitchFamily="34" charset="-120"/>
              </a:rPr>
              <a:t>Study selection</a:t>
            </a:r>
            <a:endParaRPr lang="en-US" sz="800" dirty="0"/>
          </a:p>
        </p:txBody>
      </p:sp>
      <p:sp>
        <p:nvSpPr>
          <p:cNvPr id="69" name="Text 67"/>
          <p:cNvSpPr/>
          <p:nvPr/>
        </p:nvSpPr>
        <p:spPr>
          <a:xfrm>
            <a:off x="4737950" y="1880815"/>
            <a:ext cx="238171" cy="158981"/>
          </a:xfrm>
          <a:prstGeom prst="rect">
            <a:avLst/>
          </a:prstGeom>
          <a:noFill/>
          <a:ln/>
        </p:spPr>
        <p:txBody>
          <a:bodyPr wrap="none" lIns="0" tIns="0" rIns="0" bIns="0" rtlCol="0" anchor="t"/>
          <a:lstStyle/>
          <a:p>
            <a:pPr algn="l" indent="0" marL="0">
              <a:lnSpc>
                <a:spcPts val="897"/>
              </a:lnSpc>
              <a:buNone/>
            </a:pPr>
            <a:r>
              <a:rPr lang="en-US" sz="800" dirty="0">
                <a:solidFill>
                  <a:srgbClr val="EA680C"/>
                </a:solidFill>
                <a:latin typeface="Liberation Sans Narrow" pitchFamily="34" charset="0"/>
                <a:ea typeface="Liberation Sans Narrow" pitchFamily="34" charset="-122"/>
                <a:cs typeface="Liberation Sans Narrow" pitchFamily="34" charset="-120"/>
              </a:rPr>
              <a:t>18.</a:t>
            </a:r>
            <a:endParaRPr lang="en-US" sz="800" dirty="0"/>
          </a:p>
        </p:txBody>
      </p:sp>
      <p:sp>
        <p:nvSpPr>
          <p:cNvPr id="70" name="Text 68"/>
          <p:cNvSpPr/>
          <p:nvPr/>
        </p:nvSpPr>
        <p:spPr>
          <a:xfrm>
            <a:off x="4942582" y="1880815"/>
            <a:ext cx="1540371" cy="159020"/>
          </a:xfrm>
          <a:prstGeom prst="rect">
            <a:avLst/>
          </a:prstGeom>
          <a:noFill/>
          <a:ln/>
        </p:spPr>
        <p:txBody>
          <a:bodyPr wrap="none" lIns="0" tIns="0" rIns="0" bIns="0" rtlCol="0" anchor="t"/>
          <a:lstStyle/>
          <a:p>
            <a:pPr algn="l" indent="0" marL="0">
              <a:lnSpc>
                <a:spcPts val="979"/>
              </a:lnSpc>
              <a:buNone/>
            </a:pPr>
            <a:r>
              <a:rPr lang="en-US" sz="800" dirty="0">
                <a:solidFill>
                  <a:srgbClr val="0F172A"/>
                </a:solidFill>
                <a:latin typeface="Carlito" pitchFamily="34" charset="0"/>
                <a:ea typeface="Carlito" pitchFamily="34" charset="-122"/>
                <a:cs typeface="Carlito" pitchFamily="34" charset="-120"/>
              </a:rPr>
              <a:t>Study characteristics</a:t>
            </a:r>
            <a:endParaRPr lang="en-US" sz="800" dirty="0"/>
          </a:p>
        </p:txBody>
      </p:sp>
      <p:sp>
        <p:nvSpPr>
          <p:cNvPr id="71" name="Text 69"/>
          <p:cNvSpPr/>
          <p:nvPr/>
        </p:nvSpPr>
        <p:spPr>
          <a:xfrm>
            <a:off x="4737950" y="2047912"/>
            <a:ext cx="238171" cy="158981"/>
          </a:xfrm>
          <a:prstGeom prst="rect">
            <a:avLst/>
          </a:prstGeom>
          <a:noFill/>
          <a:ln/>
        </p:spPr>
        <p:txBody>
          <a:bodyPr wrap="none" lIns="0" tIns="0" rIns="0" bIns="0" rtlCol="0" anchor="t"/>
          <a:lstStyle/>
          <a:p>
            <a:pPr algn="l" indent="0" marL="0">
              <a:lnSpc>
                <a:spcPts val="897"/>
              </a:lnSpc>
              <a:buNone/>
            </a:pPr>
            <a:r>
              <a:rPr lang="en-US" sz="800" dirty="0">
                <a:solidFill>
                  <a:srgbClr val="EA680C"/>
                </a:solidFill>
                <a:latin typeface="Liberation Sans Narrow" pitchFamily="34" charset="0"/>
                <a:ea typeface="Liberation Sans Narrow" pitchFamily="34" charset="-122"/>
                <a:cs typeface="Liberation Sans Narrow" pitchFamily="34" charset="-120"/>
              </a:rPr>
              <a:t>19.</a:t>
            </a:r>
            <a:endParaRPr lang="en-US" sz="800" dirty="0"/>
          </a:p>
        </p:txBody>
      </p:sp>
      <p:sp>
        <p:nvSpPr>
          <p:cNvPr id="72" name="Text 70"/>
          <p:cNvSpPr/>
          <p:nvPr/>
        </p:nvSpPr>
        <p:spPr>
          <a:xfrm>
            <a:off x="4942582" y="2047912"/>
            <a:ext cx="1540371" cy="159020"/>
          </a:xfrm>
          <a:prstGeom prst="rect">
            <a:avLst/>
          </a:prstGeom>
          <a:noFill/>
          <a:ln/>
        </p:spPr>
        <p:txBody>
          <a:bodyPr wrap="none" lIns="0" tIns="0" rIns="0" bIns="0" rtlCol="0" anchor="t"/>
          <a:lstStyle/>
          <a:p>
            <a:pPr algn="l" indent="0" marL="0">
              <a:lnSpc>
                <a:spcPts val="979"/>
              </a:lnSpc>
              <a:buNone/>
            </a:pPr>
            <a:r>
              <a:rPr lang="en-US" sz="800" dirty="0">
                <a:solidFill>
                  <a:srgbClr val="0F172A"/>
                </a:solidFill>
                <a:latin typeface="Carlito" pitchFamily="34" charset="0"/>
                <a:ea typeface="Carlito" pitchFamily="34" charset="-122"/>
                <a:cs typeface="Carlito" pitchFamily="34" charset="-120"/>
              </a:rPr>
              <a:t>Risk of bias in studies</a:t>
            </a:r>
            <a:endParaRPr lang="en-US" sz="800" dirty="0"/>
          </a:p>
        </p:txBody>
      </p:sp>
      <p:sp>
        <p:nvSpPr>
          <p:cNvPr id="73" name="Text 71"/>
          <p:cNvSpPr/>
          <p:nvPr/>
        </p:nvSpPr>
        <p:spPr>
          <a:xfrm>
            <a:off x="4737950" y="2215009"/>
            <a:ext cx="238171" cy="158981"/>
          </a:xfrm>
          <a:prstGeom prst="rect">
            <a:avLst/>
          </a:prstGeom>
          <a:noFill/>
          <a:ln/>
        </p:spPr>
        <p:txBody>
          <a:bodyPr wrap="none" lIns="0" tIns="0" rIns="0" bIns="0" rtlCol="0" anchor="t"/>
          <a:lstStyle/>
          <a:p>
            <a:pPr algn="l" indent="0" marL="0">
              <a:lnSpc>
                <a:spcPts val="897"/>
              </a:lnSpc>
              <a:buNone/>
            </a:pPr>
            <a:r>
              <a:rPr lang="en-US" sz="800" dirty="0">
                <a:solidFill>
                  <a:srgbClr val="EA680C"/>
                </a:solidFill>
                <a:latin typeface="Liberation Sans Narrow" pitchFamily="34" charset="0"/>
                <a:ea typeface="Liberation Sans Narrow" pitchFamily="34" charset="-122"/>
                <a:cs typeface="Liberation Sans Narrow" pitchFamily="34" charset="-120"/>
              </a:rPr>
              <a:t>20.</a:t>
            </a:r>
            <a:endParaRPr lang="en-US" sz="800" dirty="0"/>
          </a:p>
        </p:txBody>
      </p:sp>
      <p:sp>
        <p:nvSpPr>
          <p:cNvPr id="74" name="Text 72"/>
          <p:cNvSpPr/>
          <p:nvPr/>
        </p:nvSpPr>
        <p:spPr>
          <a:xfrm>
            <a:off x="4942582" y="2215009"/>
            <a:ext cx="1632793" cy="159020"/>
          </a:xfrm>
          <a:prstGeom prst="rect">
            <a:avLst/>
          </a:prstGeom>
          <a:noFill/>
          <a:ln/>
        </p:spPr>
        <p:txBody>
          <a:bodyPr wrap="square" lIns="0" tIns="0" rIns="0" bIns="0" rtlCol="0" anchor="t"/>
          <a:lstStyle/>
          <a:p>
            <a:pPr algn="l" indent="0" marL="0">
              <a:lnSpc>
                <a:spcPts val="979"/>
              </a:lnSpc>
              <a:buNone/>
            </a:pPr>
            <a:r>
              <a:rPr lang="en-US" sz="675" dirty="0">
                <a:solidFill>
                  <a:srgbClr val="0F172A"/>
                </a:solidFill>
                <a:latin typeface="Carlito" pitchFamily="34" charset="0"/>
                <a:ea typeface="Carlito" pitchFamily="34" charset="-122"/>
                <a:cs typeface="Carlito" pitchFamily="34" charset="-120"/>
              </a:rPr>
              <a:t>Results of individual studies</a:t>
            </a:r>
            <a:endParaRPr lang="en-US" sz="675" dirty="0"/>
          </a:p>
        </p:txBody>
      </p:sp>
      <p:sp>
        <p:nvSpPr>
          <p:cNvPr id="75" name="Text 73"/>
          <p:cNvSpPr/>
          <p:nvPr/>
        </p:nvSpPr>
        <p:spPr>
          <a:xfrm>
            <a:off x="4737950" y="2382106"/>
            <a:ext cx="238171" cy="158981"/>
          </a:xfrm>
          <a:prstGeom prst="rect">
            <a:avLst/>
          </a:prstGeom>
          <a:noFill/>
          <a:ln/>
        </p:spPr>
        <p:txBody>
          <a:bodyPr wrap="none" lIns="0" tIns="0" rIns="0" bIns="0" rtlCol="0" anchor="t"/>
          <a:lstStyle/>
          <a:p>
            <a:pPr algn="l" indent="0" marL="0">
              <a:lnSpc>
                <a:spcPts val="897"/>
              </a:lnSpc>
              <a:buNone/>
            </a:pPr>
            <a:r>
              <a:rPr lang="en-US" sz="800" dirty="0">
                <a:solidFill>
                  <a:srgbClr val="EA680C"/>
                </a:solidFill>
                <a:latin typeface="Liberation Sans Narrow" pitchFamily="34" charset="0"/>
                <a:ea typeface="Liberation Sans Narrow" pitchFamily="34" charset="-122"/>
                <a:cs typeface="Liberation Sans Narrow" pitchFamily="34" charset="-120"/>
              </a:rPr>
              <a:t>21.</a:t>
            </a:r>
            <a:endParaRPr lang="en-US" sz="800" dirty="0"/>
          </a:p>
        </p:txBody>
      </p:sp>
      <p:sp>
        <p:nvSpPr>
          <p:cNvPr id="76" name="Text 74"/>
          <p:cNvSpPr/>
          <p:nvPr/>
        </p:nvSpPr>
        <p:spPr>
          <a:xfrm>
            <a:off x="4942582" y="2382106"/>
            <a:ext cx="1540371" cy="159020"/>
          </a:xfrm>
          <a:prstGeom prst="rect">
            <a:avLst/>
          </a:prstGeom>
          <a:noFill/>
          <a:ln/>
        </p:spPr>
        <p:txBody>
          <a:bodyPr wrap="none" lIns="0" tIns="0" rIns="0" bIns="0" rtlCol="0" anchor="t"/>
          <a:lstStyle/>
          <a:p>
            <a:pPr algn="l" indent="0" marL="0">
              <a:lnSpc>
                <a:spcPts val="979"/>
              </a:lnSpc>
              <a:buNone/>
            </a:pPr>
            <a:r>
              <a:rPr lang="en-US" sz="800" dirty="0">
                <a:solidFill>
                  <a:srgbClr val="0F172A"/>
                </a:solidFill>
                <a:latin typeface="Carlito" pitchFamily="34" charset="0"/>
                <a:ea typeface="Carlito" pitchFamily="34" charset="-122"/>
                <a:cs typeface="Carlito" pitchFamily="34" charset="-120"/>
              </a:rPr>
              <a:t>Results of syntheses</a:t>
            </a:r>
            <a:endParaRPr lang="en-US" sz="800" dirty="0"/>
          </a:p>
        </p:txBody>
      </p:sp>
      <p:sp>
        <p:nvSpPr>
          <p:cNvPr id="77" name="Text 75"/>
          <p:cNvSpPr/>
          <p:nvPr/>
        </p:nvSpPr>
        <p:spPr>
          <a:xfrm>
            <a:off x="4737950" y="2549203"/>
            <a:ext cx="238171" cy="158981"/>
          </a:xfrm>
          <a:prstGeom prst="rect">
            <a:avLst/>
          </a:prstGeom>
          <a:noFill/>
          <a:ln/>
        </p:spPr>
        <p:txBody>
          <a:bodyPr wrap="none" lIns="0" tIns="0" rIns="0" bIns="0" rtlCol="0" anchor="t"/>
          <a:lstStyle/>
          <a:p>
            <a:pPr algn="l" indent="0" marL="0">
              <a:lnSpc>
                <a:spcPts val="897"/>
              </a:lnSpc>
              <a:buNone/>
            </a:pPr>
            <a:r>
              <a:rPr lang="en-US" sz="800" dirty="0">
                <a:solidFill>
                  <a:srgbClr val="EA680C"/>
                </a:solidFill>
                <a:latin typeface="Liberation Sans Narrow" pitchFamily="34" charset="0"/>
                <a:ea typeface="Liberation Sans Narrow" pitchFamily="34" charset="-122"/>
                <a:cs typeface="Liberation Sans Narrow" pitchFamily="34" charset="-120"/>
              </a:rPr>
              <a:t>22.</a:t>
            </a:r>
            <a:endParaRPr lang="en-US" sz="800" dirty="0"/>
          </a:p>
        </p:txBody>
      </p:sp>
      <p:sp>
        <p:nvSpPr>
          <p:cNvPr id="78" name="Text 76"/>
          <p:cNvSpPr/>
          <p:nvPr/>
        </p:nvSpPr>
        <p:spPr>
          <a:xfrm>
            <a:off x="4942582" y="2549203"/>
            <a:ext cx="1540371" cy="159020"/>
          </a:xfrm>
          <a:prstGeom prst="rect">
            <a:avLst/>
          </a:prstGeom>
          <a:noFill/>
          <a:ln/>
        </p:spPr>
        <p:txBody>
          <a:bodyPr wrap="none" lIns="0" tIns="0" rIns="0" bIns="0" rtlCol="0" anchor="t"/>
          <a:lstStyle/>
          <a:p>
            <a:pPr algn="l" indent="0" marL="0">
              <a:lnSpc>
                <a:spcPts val="979"/>
              </a:lnSpc>
              <a:buNone/>
            </a:pPr>
            <a:r>
              <a:rPr lang="en-US" sz="800" dirty="0">
                <a:solidFill>
                  <a:srgbClr val="0F172A"/>
                </a:solidFill>
                <a:latin typeface="Carlito" pitchFamily="34" charset="0"/>
                <a:ea typeface="Carlito" pitchFamily="34" charset="-122"/>
                <a:cs typeface="Carlito" pitchFamily="34" charset="-120"/>
              </a:rPr>
              <a:t>Reporting biases</a:t>
            </a:r>
            <a:endParaRPr lang="en-US" sz="800" dirty="0"/>
          </a:p>
        </p:txBody>
      </p:sp>
      <p:sp>
        <p:nvSpPr>
          <p:cNvPr id="79" name="Text 77"/>
          <p:cNvSpPr/>
          <p:nvPr/>
        </p:nvSpPr>
        <p:spPr>
          <a:xfrm>
            <a:off x="4737950" y="2716299"/>
            <a:ext cx="238171" cy="158981"/>
          </a:xfrm>
          <a:prstGeom prst="rect">
            <a:avLst/>
          </a:prstGeom>
          <a:noFill/>
          <a:ln/>
        </p:spPr>
        <p:txBody>
          <a:bodyPr wrap="none" lIns="0" tIns="0" rIns="0" bIns="0" rtlCol="0" anchor="t"/>
          <a:lstStyle/>
          <a:p>
            <a:pPr algn="l" indent="0" marL="0">
              <a:lnSpc>
                <a:spcPts val="897"/>
              </a:lnSpc>
              <a:buNone/>
            </a:pPr>
            <a:r>
              <a:rPr lang="en-US" sz="800" dirty="0">
                <a:solidFill>
                  <a:srgbClr val="EA680C"/>
                </a:solidFill>
                <a:latin typeface="Liberation Sans Narrow" pitchFamily="34" charset="0"/>
                <a:ea typeface="Liberation Sans Narrow" pitchFamily="34" charset="-122"/>
                <a:cs typeface="Liberation Sans Narrow" pitchFamily="34" charset="-120"/>
              </a:rPr>
              <a:t>23.</a:t>
            </a:r>
            <a:endParaRPr lang="en-US" sz="800" dirty="0"/>
          </a:p>
        </p:txBody>
      </p:sp>
      <p:sp>
        <p:nvSpPr>
          <p:cNvPr id="80" name="Text 78"/>
          <p:cNvSpPr/>
          <p:nvPr/>
        </p:nvSpPr>
        <p:spPr>
          <a:xfrm>
            <a:off x="4942582" y="2716299"/>
            <a:ext cx="1540371" cy="159020"/>
          </a:xfrm>
          <a:prstGeom prst="rect">
            <a:avLst/>
          </a:prstGeom>
          <a:noFill/>
          <a:ln/>
        </p:spPr>
        <p:txBody>
          <a:bodyPr wrap="none" lIns="0" tIns="0" rIns="0" bIns="0" rtlCol="0" anchor="t"/>
          <a:lstStyle/>
          <a:p>
            <a:pPr algn="l" indent="0" marL="0">
              <a:lnSpc>
                <a:spcPts val="979"/>
              </a:lnSpc>
              <a:buNone/>
            </a:pPr>
            <a:r>
              <a:rPr lang="en-US" sz="800" dirty="0">
                <a:solidFill>
                  <a:srgbClr val="0F172A"/>
                </a:solidFill>
                <a:latin typeface="Carlito" pitchFamily="34" charset="0"/>
                <a:ea typeface="Carlito" pitchFamily="34" charset="-122"/>
                <a:cs typeface="Carlito" pitchFamily="34" charset="-120"/>
              </a:rPr>
              <a:t>Certainty of evidence</a:t>
            </a:r>
            <a:endParaRPr lang="en-US" sz="800" dirty="0"/>
          </a:p>
        </p:txBody>
      </p:sp>
      <p:sp>
        <p:nvSpPr>
          <p:cNvPr id="81" name="Text 79"/>
          <p:cNvSpPr/>
          <p:nvPr/>
        </p:nvSpPr>
        <p:spPr>
          <a:xfrm>
            <a:off x="4743450" y="3739976"/>
            <a:ext cx="114300" cy="114300"/>
          </a:xfrm>
          <a:prstGeom prst="rect">
            <a:avLst/>
          </a:prstGeom>
          <a:noFill/>
          <a:ln/>
        </p:spPr>
        <p:txBody>
          <a:bodyPr wrap="none" lIns="0" tIns="0" rIns="0" bIns="0" rtlCol="0" anchor="ctr"/>
          <a:lstStyle/>
          <a:p>
            <a:pPr algn="ctr" indent="0" marL="0">
              <a:buNone/>
            </a:pPr>
            <a:r>
              <a:rPr lang="en-US" sz="1125" dirty="0">
                <a:solidFill>
                  <a:srgbClr val="4A8480"/>
                </a:solidFill>
                <a:latin typeface="Segoe UI Symbol" pitchFamily="34" charset="0"/>
                <a:ea typeface="Segoe UI Symbol" pitchFamily="34" charset="-122"/>
                <a:cs typeface="Segoe UI Symbol" pitchFamily="34" charset="-120"/>
              </a:rPr>
              <a:t>▦</a:t>
            </a:r>
            <a:endParaRPr lang="en-US" sz="1125" dirty="0"/>
          </a:p>
        </p:txBody>
      </p:sp>
      <p:sp>
        <p:nvSpPr>
          <p:cNvPr id="82" name="Text 80"/>
          <p:cNvSpPr/>
          <p:nvPr/>
        </p:nvSpPr>
        <p:spPr>
          <a:xfrm>
            <a:off x="4900613" y="3739083"/>
            <a:ext cx="1582341" cy="116198"/>
          </a:xfrm>
          <a:prstGeom prst="rect">
            <a:avLst/>
          </a:prstGeom>
          <a:noFill/>
          <a:ln/>
        </p:spPr>
        <p:txBody>
          <a:bodyPr wrap="square" lIns="0" tIns="0" rIns="0" bIns="0" rtlCol="0" anchor="t"/>
          <a:lstStyle/>
          <a:p>
            <a:pPr algn="l" indent="0" marL="0">
              <a:lnSpc>
                <a:spcPts val="915"/>
              </a:lnSpc>
              <a:buNone/>
            </a:pPr>
            <a:r>
              <a:rPr lang="en-US" sz="800" i="1" dirty="0">
                <a:solidFill>
                  <a:srgbClr val="64748B"/>
                </a:solidFill>
                <a:latin typeface="Carlito" pitchFamily="34" charset="0"/>
                <a:ea typeface="Carlito" pitchFamily="34" charset="-122"/>
                <a:cs typeface="Carlito" pitchFamily="34" charset="-120"/>
              </a:rPr>
              <a:t>Sintesis &amp; bukti terlapor.</a:t>
            </a:r>
            <a:endParaRPr lang="en-US" sz="800" dirty="0"/>
          </a:p>
        </p:txBody>
      </p:sp>
      <p:sp>
        <p:nvSpPr>
          <p:cNvPr id="83" name="Text 81"/>
          <p:cNvSpPr/>
          <p:nvPr/>
        </p:nvSpPr>
        <p:spPr>
          <a:xfrm>
            <a:off x="6707981" y="1108509"/>
            <a:ext cx="1975247" cy="2878931"/>
          </a:xfrm>
          <a:prstGeom prst="roundRect">
            <a:avLst>
              <a:gd name="adj" fmla="val 5787"/>
            </a:avLst>
          </a:prstGeom>
          <a:solidFill>
            <a:srgbClr val="FFFFFF"/>
          </a:solidFill>
          <a:ln w="7144">
            <a:solidFill>
              <a:srgbClr val="D8DEE2"/>
            </a:solidFill>
            <a:prstDash val="solid"/>
          </a:ln>
        </p:spPr>
        <p:txBody>
          <a:bodyPr wrap="square" rtlCol="0" anchor="ctr"/>
          <a:lstStyle/>
          <a:p>
            <a:pPr indent="0" marL="0">
              <a:buNone/>
            </a:pPr>
            <a:endParaRPr lang="en-US" dirty="0"/>
          </a:p>
        </p:txBody>
      </p:sp>
      <p:sp>
        <p:nvSpPr>
          <p:cNvPr id="84" name="Text 82"/>
          <p:cNvSpPr/>
          <p:nvPr/>
        </p:nvSpPr>
        <p:spPr>
          <a:xfrm>
            <a:off x="6802993" y="1231788"/>
            <a:ext cx="1044617" cy="165771"/>
          </a:xfrm>
          <a:prstGeom prst="roundRect">
            <a:avLst>
              <a:gd name="adj" fmla="val 5740132"/>
            </a:avLst>
          </a:prstGeom>
          <a:solidFill>
            <a:srgbClr val="E0ECEB"/>
          </a:solidFill>
          <a:ln/>
        </p:spPr>
        <p:txBody>
          <a:bodyPr wrap="square" rtlCol="0" anchor="ctr"/>
          <a:lstStyle/>
          <a:p>
            <a:pPr indent="0" marL="0">
              <a:buNone/>
            </a:pPr>
            <a:endParaRPr lang="en-US" dirty="0"/>
          </a:p>
        </p:txBody>
      </p:sp>
      <p:sp>
        <p:nvSpPr>
          <p:cNvPr id="85" name="Text 83"/>
          <p:cNvSpPr/>
          <p:nvPr/>
        </p:nvSpPr>
        <p:spPr>
          <a:xfrm>
            <a:off x="6825853" y="1240668"/>
            <a:ext cx="998897" cy="148010"/>
          </a:xfrm>
          <a:prstGeom prst="rect">
            <a:avLst/>
          </a:prstGeom>
          <a:noFill/>
          <a:ln/>
        </p:spPr>
        <p:txBody>
          <a:bodyPr wrap="none" lIns="0" tIns="0" rIns="0" bIns="0" rtlCol="0" anchor="ctr"/>
          <a:lstStyle/>
          <a:p>
            <a:pPr algn="ctr" indent="0" marL="0">
              <a:lnSpc>
                <a:spcPts val="828"/>
              </a:lnSpc>
              <a:buNone/>
            </a:pPr>
            <a:r>
              <a:rPr lang="en-US" sz="800" spc="21" kern="0" dirty="0">
                <a:solidFill>
                  <a:srgbClr val="134E4A"/>
                </a:solidFill>
                <a:latin typeface="Carlito" pitchFamily="34" charset="0"/>
                <a:ea typeface="Carlito" pitchFamily="34" charset="-122"/>
                <a:cs typeface="Carlito" pitchFamily="34" charset="-120"/>
              </a:rPr>
              <a:t>DISCUSSION &amp; OTHER</a:t>
            </a:r>
            <a:endParaRPr lang="en-US" sz="800" dirty="0"/>
          </a:p>
        </p:txBody>
      </p:sp>
      <p:sp>
        <p:nvSpPr>
          <p:cNvPr id="86" name="Text 84"/>
          <p:cNvSpPr/>
          <p:nvPr/>
        </p:nvSpPr>
        <p:spPr>
          <a:xfrm>
            <a:off x="8301405" y="1253728"/>
            <a:ext cx="299190" cy="170047"/>
          </a:xfrm>
          <a:prstGeom prst="rect">
            <a:avLst/>
          </a:prstGeom>
          <a:noFill/>
          <a:ln/>
        </p:spPr>
        <p:txBody>
          <a:bodyPr wrap="none" lIns="0" tIns="0" rIns="0" bIns="0" rtlCol="0" anchor="t"/>
          <a:lstStyle/>
          <a:p>
            <a:pPr algn="l" indent="0" marL="0">
              <a:lnSpc>
                <a:spcPts val="959"/>
              </a:lnSpc>
              <a:buNone/>
            </a:pPr>
            <a:r>
              <a:rPr lang="en-US" sz="619" spc="-12" kern="0" dirty="0">
                <a:solidFill>
                  <a:srgbClr val="64748B"/>
                </a:solidFill>
                <a:latin typeface="Liberation Sans Narrow" pitchFamily="34" charset="0"/>
                <a:ea typeface="Liberation Sans Narrow" pitchFamily="34" charset="-122"/>
                <a:cs typeface="Liberation Sans Narrow" pitchFamily="34" charset="-120"/>
              </a:rPr>
              <a:t>24–27</a:t>
            </a:r>
            <a:endParaRPr lang="en-US" sz="619" dirty="0"/>
          </a:p>
        </p:txBody>
      </p:sp>
      <p:sp>
        <p:nvSpPr>
          <p:cNvPr id="87" name="Text 85"/>
          <p:cNvSpPr/>
          <p:nvPr/>
        </p:nvSpPr>
        <p:spPr>
          <a:xfrm>
            <a:off x="6825853" y="1445828"/>
            <a:ext cx="1843873" cy="207699"/>
          </a:xfrm>
          <a:prstGeom prst="rect">
            <a:avLst/>
          </a:prstGeom>
          <a:noFill/>
          <a:ln/>
        </p:spPr>
        <p:txBody>
          <a:bodyPr wrap="square" lIns="0" tIns="0" rIns="0" bIns="57150" rtlCol="0" anchor="t"/>
          <a:lstStyle/>
          <a:p>
            <a:pPr algn="l" indent="0" marL="0">
              <a:lnSpc>
                <a:spcPts val="984"/>
              </a:lnSpc>
              <a:buNone/>
            </a:pPr>
            <a:r>
              <a:rPr lang="en-US" sz="800" dirty="0">
                <a:solidFill>
                  <a:srgbClr val="134E4A"/>
                </a:solidFill>
                <a:latin typeface="Tinos" pitchFamily="34" charset="0"/>
                <a:ea typeface="Tinos" pitchFamily="34" charset="-122"/>
                <a:cs typeface="Tinos" pitchFamily="34" charset="-120"/>
              </a:rPr>
              <a:t>Empat item penutup pelaporan.</a:t>
            </a:r>
            <a:endParaRPr lang="en-US" sz="800" dirty="0"/>
          </a:p>
        </p:txBody>
      </p:sp>
      <p:sp>
        <p:nvSpPr>
          <p:cNvPr id="88" name="Text 86"/>
          <p:cNvSpPr/>
          <p:nvPr/>
        </p:nvSpPr>
        <p:spPr>
          <a:xfrm>
            <a:off x="6820353" y="1713719"/>
            <a:ext cx="238171" cy="158981"/>
          </a:xfrm>
          <a:prstGeom prst="rect">
            <a:avLst/>
          </a:prstGeom>
          <a:noFill/>
          <a:ln/>
        </p:spPr>
        <p:txBody>
          <a:bodyPr wrap="none" lIns="0" tIns="0" rIns="0" bIns="0" rtlCol="0" anchor="t"/>
          <a:lstStyle/>
          <a:p>
            <a:pPr algn="l" indent="0" marL="0">
              <a:lnSpc>
                <a:spcPts val="897"/>
              </a:lnSpc>
              <a:buNone/>
            </a:pPr>
            <a:r>
              <a:rPr lang="en-US" sz="800" dirty="0">
                <a:solidFill>
                  <a:srgbClr val="EA680C"/>
                </a:solidFill>
                <a:latin typeface="Liberation Sans Narrow" pitchFamily="34" charset="0"/>
                <a:ea typeface="Liberation Sans Narrow" pitchFamily="34" charset="-122"/>
                <a:cs typeface="Liberation Sans Narrow" pitchFamily="34" charset="-120"/>
              </a:rPr>
              <a:t>24.</a:t>
            </a:r>
            <a:endParaRPr lang="en-US" sz="800" dirty="0"/>
          </a:p>
        </p:txBody>
      </p:sp>
      <p:sp>
        <p:nvSpPr>
          <p:cNvPr id="89" name="Text 87"/>
          <p:cNvSpPr/>
          <p:nvPr/>
        </p:nvSpPr>
        <p:spPr>
          <a:xfrm>
            <a:off x="7024985" y="1713719"/>
            <a:ext cx="1632793" cy="159020"/>
          </a:xfrm>
          <a:prstGeom prst="rect">
            <a:avLst/>
          </a:prstGeom>
          <a:noFill/>
          <a:ln/>
        </p:spPr>
        <p:txBody>
          <a:bodyPr wrap="square" lIns="0" tIns="0" rIns="0" bIns="0" rtlCol="0" anchor="t"/>
          <a:lstStyle/>
          <a:p>
            <a:pPr algn="l" indent="0" marL="0">
              <a:lnSpc>
                <a:spcPts val="979"/>
              </a:lnSpc>
              <a:buNone/>
            </a:pPr>
            <a:r>
              <a:rPr lang="en-US" sz="800" dirty="0">
                <a:solidFill>
                  <a:srgbClr val="134E4A"/>
                </a:solidFill>
                <a:latin typeface="Carlito" pitchFamily="34" charset="0"/>
                <a:ea typeface="Carlito" pitchFamily="34" charset="-122"/>
                <a:cs typeface="Carlito" pitchFamily="34" charset="-120"/>
              </a:rPr>
              <a:t>Discussion</a:t>
            </a:r>
            <a:pPr algn="l" indent="0" marL="0">
              <a:lnSpc>
                <a:spcPts val="979"/>
              </a:lnSpc>
              <a:buNone/>
            </a:pPr>
            <a:r>
              <a:rPr lang="en-US" sz="800" dirty="0">
                <a:solidFill>
                  <a:srgbClr val="0F172A"/>
                </a:solidFill>
                <a:latin typeface="Carlito" pitchFamily="34" charset="0"/>
                <a:ea typeface="Carlito" pitchFamily="34" charset="-122"/>
                <a:cs typeface="Carlito" pitchFamily="34" charset="-120"/>
              </a:rPr>
              <a:t> — interpretation.</a:t>
            </a:r>
            <a:endParaRPr lang="en-US" sz="800" dirty="0"/>
          </a:p>
        </p:txBody>
      </p:sp>
      <p:sp>
        <p:nvSpPr>
          <p:cNvPr id="90" name="Text 88"/>
          <p:cNvSpPr/>
          <p:nvPr/>
        </p:nvSpPr>
        <p:spPr>
          <a:xfrm>
            <a:off x="6820353" y="1880815"/>
            <a:ext cx="238171" cy="158981"/>
          </a:xfrm>
          <a:prstGeom prst="rect">
            <a:avLst/>
          </a:prstGeom>
          <a:noFill/>
          <a:ln/>
        </p:spPr>
        <p:txBody>
          <a:bodyPr wrap="none" lIns="0" tIns="0" rIns="0" bIns="0" rtlCol="0" anchor="t"/>
          <a:lstStyle/>
          <a:p>
            <a:pPr algn="l" indent="0" marL="0">
              <a:lnSpc>
                <a:spcPts val="897"/>
              </a:lnSpc>
              <a:buNone/>
            </a:pPr>
            <a:r>
              <a:rPr lang="en-US" sz="800" dirty="0">
                <a:solidFill>
                  <a:srgbClr val="EA680C"/>
                </a:solidFill>
                <a:latin typeface="Liberation Sans Narrow" pitchFamily="34" charset="0"/>
                <a:ea typeface="Liberation Sans Narrow" pitchFamily="34" charset="-122"/>
                <a:cs typeface="Liberation Sans Narrow" pitchFamily="34" charset="-120"/>
              </a:rPr>
              <a:t>25.</a:t>
            </a:r>
            <a:endParaRPr lang="en-US" sz="800" dirty="0"/>
          </a:p>
        </p:txBody>
      </p:sp>
      <p:sp>
        <p:nvSpPr>
          <p:cNvPr id="91" name="Text 89"/>
          <p:cNvSpPr/>
          <p:nvPr/>
        </p:nvSpPr>
        <p:spPr>
          <a:xfrm>
            <a:off x="7024985" y="1880815"/>
            <a:ext cx="1540371" cy="159020"/>
          </a:xfrm>
          <a:prstGeom prst="rect">
            <a:avLst/>
          </a:prstGeom>
          <a:noFill/>
          <a:ln/>
        </p:spPr>
        <p:txBody>
          <a:bodyPr wrap="none" lIns="0" tIns="0" rIns="0" bIns="0" rtlCol="0" anchor="t"/>
          <a:lstStyle/>
          <a:p>
            <a:pPr algn="l" indent="0" marL="0">
              <a:lnSpc>
                <a:spcPts val="979"/>
              </a:lnSpc>
              <a:buNone/>
            </a:pPr>
            <a:r>
              <a:rPr lang="en-US" sz="800" dirty="0">
                <a:solidFill>
                  <a:srgbClr val="134E4A"/>
                </a:solidFill>
                <a:latin typeface="Carlito" pitchFamily="34" charset="0"/>
                <a:ea typeface="Carlito" pitchFamily="34" charset="-122"/>
                <a:cs typeface="Carlito" pitchFamily="34" charset="-120"/>
              </a:rPr>
              <a:t>Limitations</a:t>
            </a:r>
            <a:endParaRPr lang="en-US" sz="800" dirty="0"/>
          </a:p>
        </p:txBody>
      </p:sp>
      <p:sp>
        <p:nvSpPr>
          <p:cNvPr id="92" name="Text 90"/>
          <p:cNvSpPr/>
          <p:nvPr/>
        </p:nvSpPr>
        <p:spPr>
          <a:xfrm>
            <a:off x="6820353" y="2047912"/>
            <a:ext cx="238171" cy="158981"/>
          </a:xfrm>
          <a:prstGeom prst="rect">
            <a:avLst/>
          </a:prstGeom>
          <a:noFill/>
          <a:ln/>
        </p:spPr>
        <p:txBody>
          <a:bodyPr wrap="none" lIns="0" tIns="0" rIns="0" bIns="0" rtlCol="0" anchor="t"/>
          <a:lstStyle/>
          <a:p>
            <a:pPr algn="l" indent="0" marL="0">
              <a:lnSpc>
                <a:spcPts val="897"/>
              </a:lnSpc>
              <a:buNone/>
            </a:pPr>
            <a:r>
              <a:rPr lang="en-US" sz="800" dirty="0">
                <a:solidFill>
                  <a:srgbClr val="EA680C"/>
                </a:solidFill>
                <a:latin typeface="Liberation Sans Narrow" pitchFamily="34" charset="0"/>
                <a:ea typeface="Liberation Sans Narrow" pitchFamily="34" charset="-122"/>
                <a:cs typeface="Liberation Sans Narrow" pitchFamily="34" charset="-120"/>
              </a:rPr>
              <a:t>26.</a:t>
            </a:r>
            <a:endParaRPr lang="en-US" sz="800" dirty="0"/>
          </a:p>
        </p:txBody>
      </p:sp>
      <p:sp>
        <p:nvSpPr>
          <p:cNvPr id="93" name="Text 91"/>
          <p:cNvSpPr/>
          <p:nvPr/>
        </p:nvSpPr>
        <p:spPr>
          <a:xfrm>
            <a:off x="7024985" y="2047912"/>
            <a:ext cx="1540371" cy="159020"/>
          </a:xfrm>
          <a:prstGeom prst="rect">
            <a:avLst/>
          </a:prstGeom>
          <a:noFill/>
          <a:ln/>
        </p:spPr>
        <p:txBody>
          <a:bodyPr wrap="none" lIns="0" tIns="0" rIns="0" bIns="0" rtlCol="0" anchor="t"/>
          <a:lstStyle/>
          <a:p>
            <a:pPr algn="l" indent="0" marL="0">
              <a:lnSpc>
                <a:spcPts val="979"/>
              </a:lnSpc>
              <a:buNone/>
            </a:pPr>
            <a:r>
              <a:rPr lang="en-US" sz="800" dirty="0">
                <a:solidFill>
                  <a:srgbClr val="134E4A"/>
                </a:solidFill>
                <a:latin typeface="Carlito" pitchFamily="34" charset="0"/>
                <a:ea typeface="Carlito" pitchFamily="34" charset="-122"/>
                <a:cs typeface="Carlito" pitchFamily="34" charset="-120"/>
              </a:rPr>
              <a:t>Conclusions</a:t>
            </a:r>
            <a:endParaRPr lang="en-US" sz="800" dirty="0"/>
          </a:p>
        </p:txBody>
      </p:sp>
      <p:sp>
        <p:nvSpPr>
          <p:cNvPr id="94" name="Text 92"/>
          <p:cNvSpPr/>
          <p:nvPr/>
        </p:nvSpPr>
        <p:spPr>
          <a:xfrm>
            <a:off x="6820353" y="2215009"/>
            <a:ext cx="238171" cy="158981"/>
          </a:xfrm>
          <a:prstGeom prst="rect">
            <a:avLst/>
          </a:prstGeom>
          <a:noFill/>
          <a:ln/>
        </p:spPr>
        <p:txBody>
          <a:bodyPr wrap="none" lIns="0" tIns="0" rIns="0" bIns="0" rtlCol="0" anchor="t"/>
          <a:lstStyle/>
          <a:p>
            <a:pPr algn="l" indent="0" marL="0">
              <a:lnSpc>
                <a:spcPts val="897"/>
              </a:lnSpc>
              <a:buNone/>
            </a:pPr>
            <a:r>
              <a:rPr lang="en-US" sz="800" dirty="0">
                <a:solidFill>
                  <a:srgbClr val="EA680C"/>
                </a:solidFill>
                <a:latin typeface="Liberation Sans Narrow" pitchFamily="34" charset="0"/>
                <a:ea typeface="Liberation Sans Narrow" pitchFamily="34" charset="-122"/>
                <a:cs typeface="Liberation Sans Narrow" pitchFamily="34" charset="-120"/>
              </a:rPr>
              <a:t>27.</a:t>
            </a:r>
            <a:endParaRPr lang="en-US" sz="800" dirty="0"/>
          </a:p>
        </p:txBody>
      </p:sp>
      <p:sp>
        <p:nvSpPr>
          <p:cNvPr id="95" name="Text 93"/>
          <p:cNvSpPr/>
          <p:nvPr/>
        </p:nvSpPr>
        <p:spPr>
          <a:xfrm>
            <a:off x="7024985" y="2215009"/>
            <a:ext cx="1632793" cy="159020"/>
          </a:xfrm>
          <a:prstGeom prst="rect">
            <a:avLst/>
          </a:prstGeom>
          <a:noFill/>
          <a:ln/>
        </p:spPr>
        <p:txBody>
          <a:bodyPr wrap="square" lIns="0" tIns="0" rIns="0" bIns="0" rtlCol="0" anchor="t"/>
          <a:lstStyle/>
          <a:p>
            <a:pPr algn="l" indent="0" marL="0">
              <a:lnSpc>
                <a:spcPts val="979"/>
              </a:lnSpc>
              <a:buNone/>
            </a:pPr>
            <a:r>
              <a:rPr lang="en-US" sz="675" dirty="0">
                <a:solidFill>
                  <a:srgbClr val="134E4A"/>
                </a:solidFill>
                <a:latin typeface="Carlito" pitchFamily="34" charset="0"/>
                <a:ea typeface="Carlito" pitchFamily="34" charset="-122"/>
                <a:cs typeface="Carlito" pitchFamily="34" charset="-120"/>
              </a:rPr>
              <a:t>Funding &amp; competing interests</a:t>
            </a:r>
            <a:endParaRPr lang="en-US" sz="675" dirty="0"/>
          </a:p>
        </p:txBody>
      </p:sp>
      <p:sp>
        <p:nvSpPr>
          <p:cNvPr id="96" name="Text 94"/>
          <p:cNvSpPr/>
          <p:nvPr/>
        </p:nvSpPr>
        <p:spPr>
          <a:xfrm>
            <a:off x="6825853" y="3739976"/>
            <a:ext cx="114300" cy="114300"/>
          </a:xfrm>
          <a:prstGeom prst="rect">
            <a:avLst/>
          </a:prstGeom>
          <a:noFill/>
          <a:ln/>
        </p:spPr>
        <p:txBody>
          <a:bodyPr wrap="none" lIns="0" tIns="0" rIns="0" bIns="0" rtlCol="0" anchor="ctr"/>
          <a:lstStyle/>
          <a:p>
            <a:pPr algn="ctr" indent="0" marL="0">
              <a:buNone/>
            </a:pPr>
            <a:r>
              <a:rPr lang="en-US" sz="1125" dirty="0">
                <a:solidFill>
                  <a:srgbClr val="4A8480"/>
                </a:solidFill>
                <a:latin typeface="Segoe UI Symbol" pitchFamily="34" charset="0"/>
                <a:ea typeface="Segoe UI Symbol" pitchFamily="34" charset="-122"/>
                <a:cs typeface="Segoe UI Symbol" pitchFamily="34" charset="-120"/>
              </a:rPr>
              <a:t>◌</a:t>
            </a:r>
            <a:endParaRPr lang="en-US" sz="1125" dirty="0"/>
          </a:p>
        </p:txBody>
      </p:sp>
      <p:sp>
        <p:nvSpPr>
          <p:cNvPr id="97" name="Text 95"/>
          <p:cNvSpPr/>
          <p:nvPr/>
        </p:nvSpPr>
        <p:spPr>
          <a:xfrm>
            <a:off x="6983016" y="3739083"/>
            <a:ext cx="1582341" cy="116198"/>
          </a:xfrm>
          <a:prstGeom prst="rect">
            <a:avLst/>
          </a:prstGeom>
          <a:noFill/>
          <a:ln/>
        </p:spPr>
        <p:txBody>
          <a:bodyPr wrap="square" lIns="0" tIns="0" rIns="0" bIns="0" rtlCol="0" anchor="t"/>
          <a:lstStyle/>
          <a:p>
            <a:pPr algn="l" indent="0" marL="0">
              <a:lnSpc>
                <a:spcPts val="915"/>
              </a:lnSpc>
              <a:buNone/>
            </a:pPr>
            <a:r>
              <a:rPr lang="en-US" sz="600" i="1" dirty="0">
                <a:solidFill>
                  <a:srgbClr val="64748B"/>
                </a:solidFill>
                <a:latin typeface="Carlito" pitchFamily="34" charset="0"/>
                <a:ea typeface="Carlito" pitchFamily="34" charset="-122"/>
                <a:cs typeface="Carlito" pitchFamily="34" charset="-120"/>
              </a:rPr>
              <a:t>Interpretasi &amp; transparansi.</a:t>
            </a:r>
            <a:endParaRPr lang="en-US" sz="600" dirty="0"/>
          </a:p>
        </p:txBody>
      </p:sp>
      <p:sp>
        <p:nvSpPr>
          <p:cNvPr id="98" name="Text 96"/>
          <p:cNvSpPr/>
          <p:nvPr/>
        </p:nvSpPr>
        <p:spPr>
          <a:xfrm>
            <a:off x="457200" y="4091025"/>
            <a:ext cx="8229600" cy="642491"/>
          </a:xfrm>
          <a:prstGeom prst="roundRect">
            <a:avLst>
              <a:gd name="adj" fmla="val 11860"/>
            </a:avLst>
          </a:prstGeom>
          <a:solidFill>
            <a:srgbClr val="FFF1E6"/>
          </a:solidFill>
          <a:ln/>
        </p:spPr>
        <p:txBody>
          <a:bodyPr wrap="square" rtlCol="0" anchor="ctr"/>
          <a:lstStyle/>
          <a:p>
            <a:pPr indent="0" marL="0">
              <a:buNone/>
            </a:pPr>
            <a:endParaRPr lang="en-US" dirty="0"/>
          </a:p>
        </p:txBody>
      </p:sp>
      <p:sp>
        <p:nvSpPr>
          <p:cNvPr id="99" name="Text 97"/>
          <p:cNvSpPr/>
          <p:nvPr/>
        </p:nvSpPr>
        <p:spPr>
          <a:xfrm>
            <a:off x="628650" y="4205325"/>
            <a:ext cx="171450" cy="171450"/>
          </a:xfrm>
          <a:prstGeom prst="rect">
            <a:avLst/>
          </a:prstGeom>
          <a:noFill/>
          <a:ln/>
        </p:spPr>
        <p:txBody>
          <a:bodyPr wrap="none" lIns="0" tIns="0" rIns="0" bIns="0" rtlCol="0" anchor="ctr"/>
          <a:lstStyle/>
          <a:p>
            <a:pPr algn="ctr" indent="0" marL="0">
              <a:buNone/>
            </a:pPr>
            <a:r>
              <a:rPr lang="en-US" sz="1688" dirty="0">
                <a:solidFill>
                  <a:srgbClr val="F97316"/>
                </a:solidFill>
                <a:latin typeface="Segoe UI Symbol" pitchFamily="34" charset="0"/>
                <a:ea typeface="Segoe UI Symbol" pitchFamily="34" charset="-122"/>
                <a:cs typeface="Segoe UI Symbol" pitchFamily="34" charset="-120"/>
              </a:rPr>
              <a:t>◆</a:t>
            </a:r>
            <a:endParaRPr lang="en-US" sz="1688" dirty="0"/>
          </a:p>
        </p:txBody>
      </p:sp>
      <p:sp>
        <p:nvSpPr>
          <p:cNvPr id="100" name="Text 98"/>
          <p:cNvSpPr/>
          <p:nvPr/>
        </p:nvSpPr>
        <p:spPr>
          <a:xfrm>
            <a:off x="900113" y="4182491"/>
            <a:ext cx="482984" cy="172022"/>
          </a:xfrm>
          <a:prstGeom prst="roundRect">
            <a:avLst>
              <a:gd name="adj" fmla="val 5531545"/>
            </a:avLst>
          </a:prstGeom>
          <a:solidFill>
            <a:srgbClr val="FFF1E6"/>
          </a:solidFill>
          <a:ln/>
        </p:spPr>
        <p:txBody>
          <a:bodyPr wrap="square" rtlCol="0" anchor="ctr"/>
          <a:lstStyle/>
          <a:p>
            <a:pPr indent="0" marL="0">
              <a:buNone/>
            </a:pPr>
            <a:endParaRPr lang="en-US" dirty="0"/>
          </a:p>
        </p:txBody>
      </p:sp>
      <p:sp>
        <p:nvSpPr>
          <p:cNvPr id="101" name="Text 99"/>
          <p:cNvSpPr/>
          <p:nvPr/>
        </p:nvSpPr>
        <p:spPr>
          <a:xfrm>
            <a:off x="863668" y="4191707"/>
            <a:ext cx="555874" cy="153591"/>
          </a:xfrm>
          <a:prstGeom prst="rect">
            <a:avLst/>
          </a:prstGeom>
          <a:noFill/>
          <a:ln/>
        </p:spPr>
        <p:txBody>
          <a:bodyPr wrap="none" lIns="0" tIns="0" rIns="0" bIns="0" rtlCol="0" anchor="ctr"/>
          <a:lstStyle/>
          <a:p>
            <a:pPr algn="ctr" indent="0" marL="0">
              <a:lnSpc>
                <a:spcPts val="872"/>
              </a:lnSpc>
              <a:buNone/>
            </a:pPr>
            <a:r>
              <a:rPr lang="en-US" sz="800" spc="23" kern="0" dirty="0">
                <a:solidFill>
                  <a:srgbClr val="EA680C"/>
                </a:solidFill>
                <a:latin typeface="Carlito" pitchFamily="34" charset="0"/>
                <a:ea typeface="Carlito" pitchFamily="34" charset="-122"/>
                <a:cs typeface="Carlito" pitchFamily="34" charset="-120"/>
              </a:rPr>
              <a:t>PRAKTIK</a:t>
            </a:r>
            <a:endParaRPr lang="en-US" sz="800" dirty="0"/>
          </a:p>
        </p:txBody>
      </p:sp>
      <p:sp>
        <p:nvSpPr>
          <p:cNvPr id="102" name="Text 100"/>
          <p:cNvSpPr/>
          <p:nvPr/>
        </p:nvSpPr>
        <p:spPr>
          <a:xfrm>
            <a:off x="1454534" y="4191037"/>
            <a:ext cx="7089391" cy="169980"/>
          </a:xfrm>
          <a:prstGeom prst="rect">
            <a:avLst/>
          </a:prstGeom>
          <a:noFill/>
          <a:ln/>
        </p:spPr>
        <p:txBody>
          <a:bodyPr wrap="none" lIns="0" tIns="0" rIns="0" bIns="0" rtlCol="0" anchor="t"/>
          <a:lstStyle/>
          <a:p>
            <a:pPr algn="l" indent="0" marL="0">
              <a:lnSpc>
                <a:spcPts val="1221"/>
              </a:lnSpc>
              <a:buNone/>
            </a:pPr>
            <a:r>
              <a:rPr lang="en-US" sz="800" dirty="0">
                <a:solidFill>
                  <a:srgbClr val="134E4A"/>
                </a:solidFill>
                <a:latin typeface="Tinos" pitchFamily="34" charset="0"/>
                <a:ea typeface="Tinos" pitchFamily="34" charset="-122"/>
                <a:cs typeface="Tinos" pitchFamily="34" charset="-120"/>
              </a:rPr>
              <a:t>Lima item opsional &amp; checklist turunan</a:t>
            </a:r>
            <a:endParaRPr lang="en-US" sz="800" dirty="0"/>
          </a:p>
        </p:txBody>
      </p:sp>
      <p:sp>
        <p:nvSpPr>
          <p:cNvPr id="103" name="Text 101"/>
          <p:cNvSpPr/>
          <p:nvPr/>
        </p:nvSpPr>
        <p:spPr>
          <a:xfrm>
            <a:off x="900113" y="4374542"/>
            <a:ext cx="7643813" cy="258961"/>
          </a:xfrm>
          <a:prstGeom prst="rect">
            <a:avLst/>
          </a:prstGeom>
          <a:noFill/>
          <a:ln/>
        </p:spPr>
        <p:txBody>
          <a:bodyPr wrap="square" lIns="0" tIns="0" rIns="0" bIns="0" rtlCol="0" anchor="t"/>
          <a:lstStyle/>
          <a:p>
            <a:pPr algn="l" indent="0" marL="0">
              <a:lnSpc>
                <a:spcPts val="1013"/>
              </a:lnSpc>
              <a:buNone/>
            </a:pPr>
            <a:r>
              <a:rPr lang="en-US" sz="800" dirty="0">
                <a:solidFill>
                  <a:srgbClr val="0F172A"/>
                </a:solidFill>
                <a:latin typeface="Carlito" pitchFamily="34" charset="0"/>
                <a:ea typeface="Carlito" pitchFamily="34" charset="-122"/>
                <a:cs typeface="Carlito" pitchFamily="34" charset="-120"/>
              </a:rPr>
              <a:t>Selain 27 item inti, PRISMA 2020 menambah </a:t>
            </a:r>
            <a:pPr algn="l" indent="0" marL="0">
              <a:lnSpc>
                <a:spcPts val="1013"/>
              </a:lnSpc>
              <a:buNone/>
            </a:pPr>
            <a:r>
              <a:rPr lang="en-US" sz="800" dirty="0">
                <a:solidFill>
                  <a:srgbClr val="134E4A"/>
                </a:solidFill>
                <a:latin typeface="Liberation Sans Narrow" pitchFamily="34" charset="0"/>
                <a:ea typeface="Liberation Sans Narrow" pitchFamily="34" charset="-122"/>
                <a:cs typeface="Liberation Sans Narrow" pitchFamily="34" charset="-120"/>
              </a:rPr>
              <a:t>5 item opsional</a:t>
            </a:r>
            <a:pPr algn="l" indent="0" marL="0">
              <a:lnSpc>
                <a:spcPts val="1013"/>
              </a:lnSpc>
              <a:buNone/>
            </a:pPr>
            <a:r>
              <a:rPr lang="en-US" sz="800" dirty="0">
                <a:solidFill>
                  <a:srgbClr val="0F172A"/>
                </a:solidFill>
                <a:latin typeface="Carlito" pitchFamily="34" charset="0"/>
                <a:ea typeface="Carlito" pitchFamily="34" charset="-122"/>
                <a:cs typeface="Carlito" pitchFamily="34" charset="-120"/>
              </a:rPr>
              <a:t> untuk diagram alur terperinci (records per database) dan checklist terpisah untuk: (a) systematic review protocol (PRISMA-P), (b) abstract-only, (c) automated search updates, (d) living systematic reviews, (e) network meta-analysis. Semua tersedia gratis di </a:t>
            </a:r>
            <a:pPr algn="l" indent="0" marL="0">
              <a:lnSpc>
                <a:spcPts val="1013"/>
              </a:lnSpc>
              <a:buNone/>
            </a:pPr>
            <a:r>
              <a:rPr lang="en-US" sz="800" spc="-13" kern="0" dirty="0">
                <a:solidFill>
                  <a:srgbClr val="EA680C"/>
                </a:solidFill>
                <a:latin typeface="Courier New" pitchFamily="34" charset="0"/>
                <a:ea typeface="Courier New" pitchFamily="34" charset="-122"/>
                <a:cs typeface="Courier New" pitchFamily="34" charset="-120"/>
              </a:rPr>
              <a:t>prisma-statement.org</a:t>
            </a:r>
            <a:pPr algn="l" indent="0" marL="0">
              <a:lnSpc>
                <a:spcPts val="1013"/>
              </a:lnSpc>
              <a:buNone/>
            </a:pPr>
            <a:r>
              <a:rPr lang="en-US" sz="800" dirty="0">
                <a:solidFill>
                  <a:srgbClr val="0F172A"/>
                </a:solidFill>
                <a:latin typeface="Carlito" pitchFamily="34" charset="0"/>
                <a:ea typeface="Carlito" pitchFamily="34" charset="-122"/>
                <a:cs typeface="Carlito" pitchFamily="34" charset="-120"/>
              </a:rPr>
              <a:t>.</a:t>
            </a:r>
            <a:endParaRPr lang="en-US" sz="800" dirty="0"/>
          </a:p>
        </p:txBody>
      </p:sp>
      <p:sp>
        <p:nvSpPr>
          <p:cNvPr id="104" name="Text 102"/>
          <p:cNvSpPr/>
          <p:nvPr/>
        </p:nvSpPr>
        <p:spPr>
          <a:xfrm>
            <a:off x="457200" y="4804953"/>
            <a:ext cx="8229600" cy="153489"/>
          </a:xfrm>
          <a:prstGeom prst="rect">
            <a:avLst/>
          </a:prstGeom>
          <a:noFill/>
          <a:ln/>
        </p:spPr>
        <p:txBody>
          <a:bodyPr wrap="square" lIns="0" tIns="0" rIns="0" bIns="0" rtlCol="0" anchor="t"/>
          <a:lstStyle/>
          <a:p>
            <a:pPr algn="l" indent="0" marL="0">
              <a:lnSpc>
                <a:spcPts val="827"/>
              </a:lnSpc>
              <a:buNone/>
            </a:pPr>
            <a:r>
              <a:rPr lang="en-US" sz="800" dirty="0">
                <a:solidFill>
                  <a:srgbClr val="64748B"/>
                </a:solidFill>
                <a:latin typeface="Carlito" pitchFamily="34" charset="0"/>
                <a:ea typeface="Carlito" pitchFamily="34" charset="-122"/>
                <a:cs typeface="Carlito" pitchFamily="34" charset="-120"/>
              </a:rPr>
              <a:t>Page MJ et al. PRISMA 2020 statement. </a:t>
            </a:r>
            <a:pPr algn="l" indent="0" marL="0">
              <a:lnSpc>
                <a:spcPts val="827"/>
              </a:lnSpc>
              <a:buNone/>
            </a:pPr>
            <a:r>
              <a:rPr lang="en-US" sz="800" i="1" dirty="0">
                <a:solidFill>
                  <a:srgbClr val="64748B"/>
                </a:solidFill>
                <a:latin typeface="Carlito" pitchFamily="34" charset="0"/>
                <a:ea typeface="Carlito" pitchFamily="34" charset="-122"/>
                <a:cs typeface="Carlito" pitchFamily="34" charset="-120"/>
              </a:rPr>
              <a:t>BMJ</a:t>
            </a:r>
            <a:pPr algn="l" indent="0" marL="0">
              <a:lnSpc>
                <a:spcPts val="827"/>
              </a:lnSpc>
              <a:buNone/>
            </a:pPr>
            <a:r>
              <a:rPr lang="en-US" sz="800" dirty="0">
                <a:solidFill>
                  <a:srgbClr val="64748B"/>
                </a:solidFill>
                <a:latin typeface="Carlito" pitchFamily="34" charset="0"/>
                <a:ea typeface="Carlito" pitchFamily="34" charset="-122"/>
                <a:cs typeface="Carlito" pitchFamily="34" charset="-120"/>
              </a:rPr>
              <a:t> 2021;372:n71. https://www.prisma-statement.org</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8"/>
        </a:solidFill>
      </p:bgPr>
    </p:bg>
    <p:spTree>
      <p:nvGrpSpPr>
        <p:cNvPr id="1" name=""/>
        <p:cNvGrpSpPr/>
        <p:nvPr/>
      </p:nvGrpSpPr>
      <p:grpSpPr>
        <a:xfrm>
          <a:off x="0" y="0"/>
          <a:ext cx="0" cy="0"/>
          <a:chOff x="0" y="0"/>
          <a:chExt cx="0" cy="0"/>
        </a:xfrm>
      </p:grpSpPr>
      <p:sp>
        <p:nvSpPr>
          <p:cNvPr id="2" name="Text 0"/>
          <p:cNvSpPr/>
          <p:nvPr/>
        </p:nvSpPr>
        <p:spPr>
          <a:xfrm>
            <a:off x="7071512" y="-214312"/>
            <a:ext cx="2072488" cy="1234440"/>
          </a:xfrm>
          <a:prstGeom prst="rect">
            <a:avLst/>
          </a:prstGeom>
          <a:noFill/>
          <a:ln/>
        </p:spPr>
        <p:txBody>
          <a:bodyPr wrap="square" lIns="0" tIns="0" rIns="0" bIns="0" rtlCol="0" anchor="t"/>
          <a:lstStyle/>
          <a:p>
            <a:pPr algn="l" indent="0" marL="0">
              <a:lnSpc>
                <a:spcPts val="9000"/>
              </a:lnSpc>
              <a:buNone/>
            </a:pPr>
            <a:r>
              <a:rPr lang="en-US" sz="9000" dirty="0">
                <a:solidFill>
                  <a:srgbClr val="134E4A">
                    <a:alpha val="5000"/>
                  </a:srgbClr>
                </a:solidFill>
                <a:latin typeface="Liberation Sans Narrow" pitchFamily="34" charset="0"/>
                <a:ea typeface="Liberation Sans Narrow" pitchFamily="34" charset="-122"/>
                <a:cs typeface="Liberation Sans Narrow" pitchFamily="34" charset="-120"/>
              </a:rPr>
              <a:t>04</a:t>
            </a:r>
            <a:endParaRPr lang="en-US" sz="9000" dirty="0"/>
          </a:p>
        </p:txBody>
      </p:sp>
      <p:sp>
        <p:nvSpPr>
          <p:cNvPr id="3" name="Shape 1"/>
          <p:cNvSpPr/>
          <p:nvPr/>
        </p:nvSpPr>
        <p:spPr>
          <a:xfrm>
            <a:off x="457200" y="968648"/>
            <a:ext cx="428625" cy="0"/>
          </a:xfrm>
          <a:prstGeom prst="line">
            <a:avLst/>
          </a:prstGeom>
          <a:noFill/>
          <a:ln w="21431">
            <a:solidFill>
              <a:srgbClr val="134E4A"/>
            </a:solidFill>
            <a:prstDash val="solid"/>
          </a:ln>
        </p:spPr>
      </p:sp>
      <p:sp>
        <p:nvSpPr>
          <p:cNvPr id="4" name="Text 2"/>
          <p:cNvSpPr/>
          <p:nvPr/>
        </p:nvSpPr>
        <p:spPr>
          <a:xfrm>
            <a:off x="457200" y="171450"/>
            <a:ext cx="1684586" cy="189979"/>
          </a:xfrm>
          <a:prstGeom prst="roundRect">
            <a:avLst>
              <a:gd name="adj" fmla="val 5008698"/>
            </a:avLst>
          </a:prstGeom>
          <a:solidFill>
            <a:srgbClr val="E0ECEB"/>
          </a:solidFill>
          <a:ln/>
        </p:spPr>
        <p:txBody>
          <a:bodyPr wrap="square" rtlCol="0" anchor="ctr"/>
          <a:lstStyle/>
          <a:p>
            <a:pPr indent="0" marL="0">
              <a:buNone/>
            </a:pPr>
            <a:endParaRPr lang="en-US" dirty="0"/>
          </a:p>
        </p:txBody>
      </p:sp>
      <p:sp>
        <p:nvSpPr>
          <p:cNvPr id="5" name="Text 3"/>
          <p:cNvSpPr/>
          <p:nvPr/>
        </p:nvSpPr>
        <p:spPr>
          <a:xfrm>
            <a:off x="457200" y="171450"/>
            <a:ext cx="1727448" cy="243173"/>
          </a:xfrm>
          <a:prstGeom prst="rect">
            <a:avLst/>
          </a:prstGeom>
          <a:noFill/>
          <a:ln/>
        </p:spPr>
        <p:txBody>
          <a:bodyPr wrap="none" lIns="71438" tIns="28575" rIns="71438" bIns="28575" rtlCol="0" anchor="t"/>
          <a:lstStyle/>
          <a:p>
            <a:pPr algn="l" indent="0" marL="0">
              <a:lnSpc>
                <a:spcPts val="1046"/>
              </a:lnSpc>
              <a:buNone/>
            </a:pPr>
            <a:r>
              <a:rPr lang="en-US" sz="800" spc="27" kern="0" dirty="0">
                <a:solidFill>
                  <a:srgbClr val="134E4A"/>
                </a:solidFill>
                <a:latin typeface="Liberation Sans Narrow" pitchFamily="34" charset="0"/>
                <a:ea typeface="Liberation Sans Narrow" pitchFamily="34" charset="-122"/>
                <a:cs typeface="Liberation Sans Narrow" pitchFamily="34" charset="-120"/>
              </a:rPr>
              <a:t>BAB 04 · CONTOH PENERAPAN</a:t>
            </a:r>
            <a:endParaRPr lang="en-US" sz="800" dirty="0"/>
          </a:p>
        </p:txBody>
      </p:sp>
      <p:sp>
        <p:nvSpPr>
          <p:cNvPr id="6" name="Text 4"/>
          <p:cNvSpPr/>
          <p:nvPr/>
        </p:nvSpPr>
        <p:spPr>
          <a:xfrm>
            <a:off x="2227511" y="205494"/>
            <a:ext cx="1332228" cy="170047"/>
          </a:xfrm>
          <a:prstGeom prst="rect">
            <a:avLst/>
          </a:prstGeom>
          <a:noFill/>
          <a:ln/>
        </p:spPr>
        <p:txBody>
          <a:bodyPr wrap="none" lIns="0" tIns="0" rIns="0" bIns="0" rtlCol="0" anchor="t"/>
          <a:lstStyle/>
          <a:p>
            <a:pPr algn="l" indent="0" marL="0">
              <a:lnSpc>
                <a:spcPts val="959"/>
              </a:lnSpc>
              <a:buNone/>
            </a:pPr>
            <a:r>
              <a:rPr lang="en-US" sz="619" spc="50" kern="0" dirty="0">
                <a:solidFill>
                  <a:srgbClr val="64748B"/>
                </a:solidFill>
                <a:latin typeface="Carlito" pitchFamily="34" charset="0"/>
                <a:ea typeface="Carlito" pitchFamily="34" charset="-122"/>
                <a:cs typeface="Carlito" pitchFamily="34" charset="-120"/>
              </a:rPr>
              <a:t>STUDI KASUS TEMPLATE</a:t>
            </a:r>
            <a:endParaRPr lang="en-US" sz="619" dirty="0"/>
          </a:p>
        </p:txBody>
      </p:sp>
      <p:sp>
        <p:nvSpPr>
          <p:cNvPr id="7" name="Text 5"/>
          <p:cNvSpPr/>
          <p:nvPr/>
        </p:nvSpPr>
        <p:spPr>
          <a:xfrm>
            <a:off x="8279271" y="188975"/>
            <a:ext cx="554239" cy="169980"/>
          </a:xfrm>
          <a:prstGeom prst="rect">
            <a:avLst/>
          </a:prstGeom>
          <a:noFill/>
          <a:ln/>
        </p:spPr>
        <p:txBody>
          <a:bodyPr wrap="none" lIns="0" tIns="0" rIns="0" bIns="0" rtlCol="0" anchor="t"/>
          <a:lstStyle/>
          <a:p>
            <a:pPr algn="l" indent="0" marL="0">
              <a:lnSpc>
                <a:spcPts val="1221"/>
              </a:lnSpc>
              <a:buNone/>
            </a:pPr>
            <a:r>
              <a:rPr lang="en-US" sz="800" spc="-16" kern="0" dirty="0">
                <a:solidFill>
                  <a:srgbClr val="64748B"/>
                </a:solidFill>
                <a:latin typeface="Liberation Sans Narrow" pitchFamily="34" charset="0"/>
                <a:ea typeface="Liberation Sans Narrow" pitchFamily="34" charset="-122"/>
                <a:cs typeface="Liberation Sans Narrow" pitchFamily="34" charset="-120"/>
              </a:rPr>
              <a:t>14 / 18</a:t>
            </a:r>
            <a:endParaRPr lang="en-US" sz="800" dirty="0"/>
          </a:p>
        </p:txBody>
      </p:sp>
      <p:sp>
        <p:nvSpPr>
          <p:cNvPr id="8" name="Text 6"/>
          <p:cNvSpPr/>
          <p:nvPr/>
        </p:nvSpPr>
        <p:spPr>
          <a:xfrm>
            <a:off x="2118122" y="547167"/>
            <a:ext cx="731007" cy="121444"/>
          </a:xfrm>
          <a:prstGeom prst="roundRect">
            <a:avLst>
              <a:gd name="adj" fmla="val 31372"/>
            </a:avLst>
          </a:prstGeom>
          <a:solidFill>
            <a:srgbClr val="FFF1E6"/>
          </a:solidFill>
          <a:ln/>
        </p:spPr>
        <p:txBody>
          <a:bodyPr wrap="square" rtlCol="0" anchor="ctr"/>
          <a:lstStyle/>
          <a:p>
            <a:pPr indent="0" marL="0">
              <a:buNone/>
            </a:pPr>
            <a:endParaRPr lang="en-US" dirty="0"/>
          </a:p>
        </p:txBody>
      </p:sp>
      <p:sp>
        <p:nvSpPr>
          <p:cNvPr id="9" name="Text 7"/>
          <p:cNvSpPr/>
          <p:nvPr/>
        </p:nvSpPr>
        <p:spPr>
          <a:xfrm>
            <a:off x="457200" y="447154"/>
            <a:ext cx="8636000" cy="261890"/>
          </a:xfrm>
          <a:prstGeom prst="rect">
            <a:avLst/>
          </a:prstGeom>
          <a:noFill/>
          <a:ln/>
        </p:spPr>
        <p:txBody>
          <a:bodyPr wrap="square" lIns="0" tIns="0" rIns="0" bIns="0" rtlCol="0" anchor="t">
            <a:normAutofit/>
          </a:bodyPr>
          <a:lstStyle/>
          <a:p>
            <a:pPr algn="l" indent="0" marL="0">
              <a:lnSpc>
                <a:spcPts val="1941"/>
              </a:lnSpc>
              <a:buNone/>
            </a:pPr>
            <a:r>
              <a:rPr lang="en-US" sz="1688" spc="-17" kern="0" dirty="0">
                <a:solidFill>
                  <a:srgbClr val="134E4A"/>
                </a:solidFill>
                <a:latin typeface="Tinos" pitchFamily="34" charset="0"/>
                <a:ea typeface="Tinos" pitchFamily="34" charset="-122"/>
                <a:cs typeface="Tinos" pitchFamily="34" charset="-120"/>
              </a:rPr>
              <a:t>Studi Kasus: SLR </a:t>
            </a:r>
            <a:pPr algn="l" indent="0" marL="0">
              <a:lnSpc>
                <a:spcPts val="1941"/>
              </a:lnSpc>
              <a:buNone/>
            </a:pPr>
            <a:r>
              <a:rPr lang="en-US" sz="800" spc="-17" kern="0" dirty="0">
                <a:solidFill>
                  <a:srgbClr val="EA680C"/>
                </a:solidFill>
                <a:highlight>
                  <a:srgbClr val="FFF1E6"/>
                </a:highlight>
                <a:latin typeface="Courier New" pitchFamily="34" charset="0"/>
                <a:ea typeface="Courier New" pitchFamily="34" charset="-122"/>
                <a:cs typeface="Courier New" pitchFamily="34" charset="-120"/>
              </a:rPr>
              <a:t>[Your Topic]</a:t>
            </a:r>
            <a:endParaRPr lang="en-US" sz="1688" dirty="0"/>
          </a:p>
        </p:txBody>
      </p:sp>
      <p:sp>
        <p:nvSpPr>
          <p:cNvPr id="10" name="Text 8"/>
          <p:cNvSpPr/>
          <p:nvPr/>
        </p:nvSpPr>
        <p:spPr>
          <a:xfrm>
            <a:off x="457200" y="736476"/>
            <a:ext cx="7858125" cy="164592"/>
          </a:xfrm>
          <a:prstGeom prst="rect">
            <a:avLst/>
          </a:prstGeom>
          <a:noFill/>
          <a:ln/>
        </p:spPr>
        <p:txBody>
          <a:bodyPr wrap="square" lIns="0" tIns="0" rIns="0" bIns="0" rtlCol="0" anchor="t"/>
          <a:lstStyle/>
          <a:p>
            <a:pPr algn="l" indent="0" marL="0">
              <a:lnSpc>
                <a:spcPts val="1181"/>
              </a:lnSpc>
              <a:buNone/>
            </a:pPr>
            <a:r>
              <a:rPr lang="en-US" sz="788" dirty="0">
                <a:solidFill>
                  <a:srgbClr val="475569"/>
                </a:solidFill>
                <a:latin typeface="Carlito" pitchFamily="34" charset="0"/>
                <a:ea typeface="Carlito" pitchFamily="34" charset="-122"/>
                <a:cs typeface="Carlito" pitchFamily="34" charset="-120"/>
              </a:rPr>
              <a:t>Template penerapan kerangka PRISMA 2020 — ganti placeholder dalam kurung siku dengan data aktual riset Anda, baik di file PPT maupun di narasi paper.</a:t>
            </a:r>
            <a:endParaRPr lang="en-US" sz="788" dirty="0"/>
          </a:p>
        </p:txBody>
      </p:sp>
      <p:sp>
        <p:nvSpPr>
          <p:cNvPr id="11" name="Text 9"/>
          <p:cNvSpPr/>
          <p:nvPr/>
        </p:nvSpPr>
        <p:spPr>
          <a:xfrm>
            <a:off x="460772" y="1111523"/>
            <a:ext cx="4649912" cy="2607469"/>
          </a:xfrm>
          <a:prstGeom prst="roundRect">
            <a:avLst>
              <a:gd name="adj" fmla="val 4384"/>
            </a:avLst>
          </a:prstGeom>
          <a:solidFill>
            <a:srgbClr val="FFFFFF"/>
          </a:solidFill>
          <a:ln w="7144">
            <a:solidFill>
              <a:srgbClr val="D8DEE2"/>
            </a:solidFill>
            <a:prstDash val="solid"/>
          </a:ln>
        </p:spPr>
        <p:txBody>
          <a:bodyPr wrap="square" rtlCol="0" anchor="ctr"/>
          <a:lstStyle/>
          <a:p>
            <a:pPr indent="0" marL="0">
              <a:buNone/>
            </a:pPr>
            <a:endParaRPr lang="en-US" dirty="0"/>
          </a:p>
        </p:txBody>
      </p:sp>
      <p:sp>
        <p:nvSpPr>
          <p:cNvPr id="12" name="Text 10"/>
          <p:cNvSpPr/>
          <p:nvPr/>
        </p:nvSpPr>
        <p:spPr>
          <a:xfrm>
            <a:off x="627221" y="1275146"/>
            <a:ext cx="899287" cy="212777"/>
          </a:xfrm>
          <a:prstGeom prst="roundRect">
            <a:avLst>
              <a:gd name="adj" fmla="val 4472041"/>
            </a:avLst>
          </a:prstGeom>
          <a:solidFill>
            <a:srgbClr val="E0ECEB"/>
          </a:solidFill>
          <a:ln/>
        </p:spPr>
        <p:txBody>
          <a:bodyPr wrap="square" rtlCol="0" anchor="ctr"/>
          <a:lstStyle/>
          <a:p>
            <a:pPr indent="0" marL="0">
              <a:buNone/>
            </a:pPr>
            <a:endParaRPr lang="en-US" dirty="0"/>
          </a:p>
        </p:txBody>
      </p:sp>
      <p:sp>
        <p:nvSpPr>
          <p:cNvPr id="13" name="Text 11"/>
          <p:cNvSpPr/>
          <p:nvPr/>
        </p:nvSpPr>
        <p:spPr>
          <a:xfrm>
            <a:off x="633482" y="1286545"/>
            <a:ext cx="886765" cy="189979"/>
          </a:xfrm>
          <a:prstGeom prst="rect">
            <a:avLst/>
          </a:prstGeom>
          <a:noFill/>
          <a:ln/>
        </p:spPr>
        <p:txBody>
          <a:bodyPr wrap="none" lIns="0" tIns="0" rIns="0" bIns="0" rtlCol="0" anchor="ctr"/>
          <a:lstStyle/>
          <a:p>
            <a:pPr algn="ctr" indent="0" marL="0">
              <a:lnSpc>
                <a:spcPts val="1046"/>
              </a:lnSpc>
              <a:buNone/>
            </a:pPr>
            <a:r>
              <a:rPr lang="en-US" sz="800" spc="27" kern="0" dirty="0">
                <a:solidFill>
                  <a:srgbClr val="134E4A"/>
                </a:solidFill>
                <a:latin typeface="Carlito" pitchFamily="34" charset="0"/>
                <a:ea typeface="Carlito" pitchFamily="34" charset="-122"/>
                <a:cs typeface="Carlito" pitchFamily="34" charset="-120"/>
              </a:rPr>
              <a:t>PROFIL STUDI</a:t>
            </a:r>
            <a:endParaRPr lang="en-US" sz="800" dirty="0"/>
          </a:p>
        </p:txBody>
      </p:sp>
      <p:sp>
        <p:nvSpPr>
          <p:cNvPr id="14" name="Text 12"/>
          <p:cNvSpPr/>
          <p:nvPr/>
        </p:nvSpPr>
        <p:spPr>
          <a:xfrm>
            <a:off x="4764212" y="1302953"/>
            <a:ext cx="157163" cy="157163"/>
          </a:xfrm>
          <a:prstGeom prst="rect">
            <a:avLst/>
          </a:prstGeom>
          <a:noFill/>
          <a:ln/>
        </p:spPr>
        <p:txBody>
          <a:bodyPr wrap="none" lIns="0" tIns="0" rIns="0" bIns="0" rtlCol="0" anchor="ctr"/>
          <a:lstStyle/>
          <a:p>
            <a:pPr algn="ctr" indent="0" marL="0">
              <a:buNone/>
            </a:pPr>
            <a:r>
              <a:rPr lang="en-US" sz="1547" dirty="0">
                <a:solidFill>
                  <a:srgbClr val="134E4A"/>
                </a:solidFill>
                <a:latin typeface="Segoe UI Symbol" pitchFamily="34" charset="0"/>
                <a:ea typeface="Segoe UI Symbol" pitchFamily="34" charset="-122"/>
                <a:cs typeface="Segoe UI Symbol" pitchFamily="34" charset="-120"/>
              </a:rPr>
              <a:t>▿</a:t>
            </a:r>
            <a:endParaRPr lang="en-US" sz="1547" dirty="0"/>
          </a:p>
        </p:txBody>
      </p:sp>
      <p:sp>
        <p:nvSpPr>
          <p:cNvPr id="15" name="Text 13"/>
          <p:cNvSpPr/>
          <p:nvPr/>
        </p:nvSpPr>
        <p:spPr>
          <a:xfrm>
            <a:off x="1011399" y="1590824"/>
            <a:ext cx="980368" cy="121444"/>
          </a:xfrm>
          <a:prstGeom prst="roundRect">
            <a:avLst>
              <a:gd name="adj" fmla="val 31372"/>
            </a:avLst>
          </a:prstGeom>
          <a:solidFill>
            <a:srgbClr val="FFF1E6"/>
          </a:solidFill>
          <a:ln/>
        </p:spPr>
        <p:txBody>
          <a:bodyPr wrap="square" rtlCol="0" anchor="ctr"/>
          <a:lstStyle/>
          <a:p>
            <a:pPr indent="0" marL="0">
              <a:buNone/>
            </a:pPr>
            <a:endParaRPr lang="en-US" dirty="0"/>
          </a:p>
        </p:txBody>
      </p:sp>
      <p:sp>
        <p:nvSpPr>
          <p:cNvPr id="16" name="Text 14"/>
          <p:cNvSpPr/>
          <p:nvPr/>
        </p:nvSpPr>
        <p:spPr>
          <a:xfrm>
            <a:off x="650081" y="1547961"/>
            <a:ext cx="4271293" cy="185166"/>
          </a:xfrm>
          <a:prstGeom prst="rect">
            <a:avLst/>
          </a:prstGeom>
          <a:noFill/>
          <a:ln/>
        </p:spPr>
        <p:txBody>
          <a:bodyPr wrap="none" lIns="0" tIns="0" rIns="0" bIns="0" rtlCol="0" anchor="t"/>
          <a:lstStyle/>
          <a:p>
            <a:pPr algn="l" indent="0" marL="0">
              <a:lnSpc>
                <a:spcPts val="1350"/>
              </a:lnSpc>
              <a:buNone/>
            </a:pPr>
            <a:r>
              <a:rPr lang="en-US" sz="1125" dirty="0">
                <a:solidFill>
                  <a:srgbClr val="134E4A"/>
                </a:solidFill>
                <a:latin typeface="Tinos" pitchFamily="34" charset="0"/>
                <a:ea typeface="Tinos" pitchFamily="34" charset="-122"/>
                <a:cs typeface="Tinos" pitchFamily="34" charset="-120"/>
              </a:rPr>
              <a:t>SLR: </a:t>
            </a:r>
            <a:pPr algn="l" indent="0" marL="0">
              <a:lnSpc>
                <a:spcPts val="1350"/>
              </a:lnSpc>
              <a:buNone/>
            </a:pPr>
            <a:r>
              <a:rPr lang="en-US" sz="800" dirty="0">
                <a:solidFill>
                  <a:srgbClr val="EA680C"/>
                </a:solidFill>
                <a:highlight>
                  <a:srgbClr val="FFF1E6"/>
                </a:highlight>
                <a:latin typeface="Courier New" pitchFamily="34" charset="0"/>
                <a:ea typeface="Courier New" pitchFamily="34" charset="-122"/>
                <a:cs typeface="Courier New" pitchFamily="34" charset="-120"/>
              </a:rPr>
              <a:t>[Judul SLR Anda]</a:t>
            </a:r>
            <a:endParaRPr lang="en-US" sz="1125" dirty="0"/>
          </a:p>
        </p:txBody>
      </p:sp>
      <p:sp>
        <p:nvSpPr>
          <p:cNvPr id="17" name="Text 15"/>
          <p:cNvSpPr/>
          <p:nvPr/>
        </p:nvSpPr>
        <p:spPr>
          <a:xfrm>
            <a:off x="1723988" y="1805136"/>
            <a:ext cx="1707245" cy="121444"/>
          </a:xfrm>
          <a:prstGeom prst="roundRect">
            <a:avLst>
              <a:gd name="adj" fmla="val 31372"/>
            </a:avLst>
          </a:prstGeom>
          <a:solidFill>
            <a:srgbClr val="FFF1E6"/>
          </a:solidFill>
          <a:ln/>
        </p:spPr>
        <p:txBody>
          <a:bodyPr wrap="square" rtlCol="0" anchor="ctr"/>
          <a:lstStyle/>
          <a:p>
            <a:pPr indent="0" marL="0">
              <a:buNone/>
            </a:pPr>
            <a:endParaRPr lang="en-US" dirty="0"/>
          </a:p>
        </p:txBody>
      </p:sp>
      <p:sp>
        <p:nvSpPr>
          <p:cNvPr id="18" name="Text 16"/>
          <p:cNvSpPr/>
          <p:nvPr/>
        </p:nvSpPr>
        <p:spPr>
          <a:xfrm>
            <a:off x="650081" y="1805136"/>
            <a:ext cx="3922923" cy="277155"/>
          </a:xfrm>
          <a:prstGeom prst="roundRect">
            <a:avLst>
              <a:gd name="adj" fmla="val 13747"/>
            </a:avLst>
          </a:prstGeom>
          <a:solidFill>
            <a:srgbClr val="FFF1E6"/>
          </a:solidFill>
          <a:ln/>
        </p:spPr>
        <p:txBody>
          <a:bodyPr wrap="square" rtlCol="0" anchor="ctr"/>
          <a:lstStyle/>
          <a:p>
            <a:pPr indent="0" marL="0">
              <a:buNone/>
            </a:pPr>
            <a:endParaRPr lang="en-US" dirty="0"/>
          </a:p>
        </p:txBody>
      </p:sp>
      <p:sp>
        <p:nvSpPr>
          <p:cNvPr id="19" name="Text 17"/>
          <p:cNvSpPr/>
          <p:nvPr/>
        </p:nvSpPr>
        <p:spPr>
          <a:xfrm>
            <a:off x="1889522" y="1960848"/>
            <a:ext cx="477180" cy="121444"/>
          </a:xfrm>
          <a:prstGeom prst="roundRect">
            <a:avLst>
              <a:gd name="adj" fmla="val 31372"/>
            </a:avLst>
          </a:prstGeom>
          <a:solidFill>
            <a:srgbClr val="FFF1E6"/>
          </a:solidFill>
          <a:ln/>
        </p:spPr>
        <p:txBody>
          <a:bodyPr wrap="square" rtlCol="0" anchor="ctr"/>
          <a:lstStyle/>
          <a:p>
            <a:pPr indent="0" marL="0">
              <a:buNone/>
            </a:pPr>
            <a:endParaRPr lang="en-US" dirty="0"/>
          </a:p>
        </p:txBody>
      </p:sp>
      <p:sp>
        <p:nvSpPr>
          <p:cNvPr id="20" name="Text 18"/>
          <p:cNvSpPr/>
          <p:nvPr/>
        </p:nvSpPr>
        <p:spPr>
          <a:xfrm>
            <a:off x="1872779" y="2116559"/>
            <a:ext cx="309414" cy="121444"/>
          </a:xfrm>
          <a:prstGeom prst="roundRect">
            <a:avLst>
              <a:gd name="adj" fmla="val 31372"/>
            </a:avLst>
          </a:prstGeom>
          <a:solidFill>
            <a:srgbClr val="FFF1E6"/>
          </a:solidFill>
          <a:ln/>
        </p:spPr>
        <p:txBody>
          <a:bodyPr wrap="square" rtlCol="0" anchor="ctr"/>
          <a:lstStyle/>
          <a:p>
            <a:pPr indent="0" marL="0">
              <a:buNone/>
            </a:pPr>
            <a:endParaRPr lang="en-US" dirty="0"/>
          </a:p>
        </p:txBody>
      </p:sp>
      <p:sp>
        <p:nvSpPr>
          <p:cNvPr id="21" name="Text 19"/>
          <p:cNvSpPr/>
          <p:nvPr/>
        </p:nvSpPr>
        <p:spPr>
          <a:xfrm>
            <a:off x="3896804" y="2116559"/>
            <a:ext cx="309414" cy="121444"/>
          </a:xfrm>
          <a:prstGeom prst="roundRect">
            <a:avLst>
              <a:gd name="adj" fmla="val 31372"/>
            </a:avLst>
          </a:prstGeom>
          <a:solidFill>
            <a:srgbClr val="FFF1E6"/>
          </a:solidFill>
          <a:ln/>
        </p:spPr>
        <p:txBody>
          <a:bodyPr wrap="square" rtlCol="0" anchor="ctr"/>
          <a:lstStyle/>
          <a:p>
            <a:pPr indent="0" marL="0">
              <a:buNone/>
            </a:pPr>
            <a:endParaRPr lang="en-US" dirty="0"/>
          </a:p>
        </p:txBody>
      </p:sp>
      <p:sp>
        <p:nvSpPr>
          <p:cNvPr id="22" name="Text 20"/>
          <p:cNvSpPr/>
          <p:nvPr/>
        </p:nvSpPr>
        <p:spPr>
          <a:xfrm>
            <a:off x="650081" y="1790849"/>
            <a:ext cx="4271293" cy="707009"/>
          </a:xfrm>
          <a:prstGeom prst="rect">
            <a:avLst/>
          </a:prstGeom>
          <a:noFill/>
          <a:ln/>
        </p:spPr>
        <p:txBody>
          <a:bodyPr wrap="square" lIns="0" tIns="0" rIns="0" bIns="0" rtlCol="0" anchor="t"/>
          <a:lstStyle/>
          <a:p>
            <a:pPr algn="l" indent="0" marL="0">
              <a:lnSpc>
                <a:spcPts val="1215"/>
              </a:lnSpc>
              <a:buNone/>
            </a:pPr>
            <a:r>
              <a:rPr lang="en-US" sz="800" dirty="0">
                <a:solidFill>
                  <a:srgbClr val="0F172A"/>
                </a:solidFill>
                <a:latin typeface="Carlito" pitchFamily="34" charset="0"/>
                <a:ea typeface="Carlito" pitchFamily="34" charset="-122"/>
                <a:cs typeface="Carlito" pitchFamily="34" charset="-120"/>
              </a:rPr>
              <a:t>Sebuah SLR terhadap </a:t>
            </a:r>
            <a:pPr algn="l" indent="0" marL="0">
              <a:lnSpc>
                <a:spcPts val="1215"/>
              </a:lnSpc>
              <a:buNone/>
            </a:pPr>
            <a:r>
              <a:rPr lang="en-US" sz="800" dirty="0">
                <a:solidFill>
                  <a:srgbClr val="EA680C"/>
                </a:solidFill>
                <a:highlight>
                  <a:srgbClr val="FFF1E6"/>
                </a:highlight>
                <a:latin typeface="Liberation Sans Narrow" pitchFamily="34" charset="0"/>
                <a:ea typeface="Liberation Sans Narrow" pitchFamily="34" charset="-122"/>
                <a:cs typeface="Liberation Sans Narrow" pitchFamily="34" charset="-120"/>
              </a:rPr>
              <a:t>[1 database / multi-database]</a:t>
            </a:r>
            <a:pPr algn="l" indent="0" marL="0">
              <a:lnSpc>
                <a:spcPts val="1215"/>
              </a:lnSpc>
              <a:buNone/>
            </a:pPr>
            <a:r>
              <a:rPr lang="en-US" sz="800" dirty="0">
                <a:solidFill>
                  <a:srgbClr val="0F172A"/>
                </a:solidFill>
                <a:latin typeface="Carlito" pitchFamily="34" charset="0"/>
                <a:ea typeface="Carlito" pitchFamily="34" charset="-122"/>
                <a:cs typeface="Carlito" pitchFamily="34" charset="-120"/>
              </a:rPr>
              <a:t> periode </a:t>
            </a:r>
            <a:pPr algn="l" indent="0" marL="0">
              <a:lnSpc>
                <a:spcPts val="1215"/>
              </a:lnSpc>
              <a:buNone/>
            </a:pPr>
            <a:r>
              <a:rPr lang="en-US" sz="800" dirty="0">
                <a:solidFill>
                  <a:srgbClr val="EA680C"/>
                </a:solidFill>
                <a:highlight>
                  <a:srgbClr val="FFF1E6"/>
                </a:highlight>
                <a:latin typeface="Courier New" pitchFamily="34" charset="0"/>
                <a:ea typeface="Courier New" pitchFamily="34" charset="-122"/>
                <a:cs typeface="Courier New" pitchFamily="34" charset="-120"/>
              </a:rPr>
              <a:t>[Tahun Awal–Akhir]</a:t>
            </a:r>
            <a:pPr algn="l" indent="0" marL="0">
              <a:lnSpc>
                <a:spcPts val="1215"/>
              </a:lnSpc>
              <a:buNone/>
            </a:pPr>
            <a:r>
              <a:rPr lang="en-US" sz="800" dirty="0">
                <a:solidFill>
                  <a:srgbClr val="0F172A"/>
                </a:solidFill>
                <a:latin typeface="Carlito" pitchFamily="34" charset="0"/>
                <a:ea typeface="Carlito" pitchFamily="34" charset="-122"/>
                <a:cs typeface="Carlito" pitchFamily="34" charset="-120"/>
              </a:rPr>
              <a:t> mengidentifikasi </a:t>
            </a:r>
            <a:pPr algn="l" indent="0" marL="0">
              <a:lnSpc>
                <a:spcPts val="1215"/>
              </a:lnSpc>
              <a:buNone/>
            </a:pPr>
            <a:r>
              <a:rPr lang="en-US" sz="800" dirty="0">
                <a:solidFill>
                  <a:srgbClr val="EA680C"/>
                </a:solidFill>
                <a:highlight>
                  <a:srgbClr val="FFF1E6"/>
                </a:highlight>
                <a:latin typeface="Courier New" pitchFamily="34" charset="0"/>
                <a:ea typeface="Courier New" pitchFamily="34" charset="-122"/>
                <a:cs typeface="Courier New" pitchFamily="34" charset="-120"/>
              </a:rPr>
              <a:t>[X.XXX]</a:t>
            </a:r>
            <a:pPr algn="l" indent="0" marL="0">
              <a:lnSpc>
                <a:spcPts val="1215"/>
              </a:lnSpc>
              <a:buNone/>
            </a:pPr>
            <a:r>
              <a:rPr lang="en-US" sz="800" dirty="0">
                <a:solidFill>
                  <a:srgbClr val="0F172A"/>
                </a:solidFill>
                <a:latin typeface="Carlito" pitchFamily="34" charset="0"/>
                <a:ea typeface="Carlito" pitchFamily="34" charset="-122"/>
                <a:cs typeface="Carlito" pitchFamily="34" charset="-120"/>
              </a:rPr>
              <a:t> record awal. Setelah deduplication dan dua-tahap screening dual-reviewer, </a:t>
            </a:r>
            <a:pPr algn="l" indent="0" marL="0">
              <a:lnSpc>
                <a:spcPts val="1215"/>
              </a:lnSpc>
              <a:buNone/>
            </a:pPr>
            <a:r>
              <a:rPr lang="en-US" sz="800" dirty="0">
                <a:solidFill>
                  <a:srgbClr val="EA680C"/>
                </a:solidFill>
                <a:highlight>
                  <a:srgbClr val="FFF1E6"/>
                </a:highlight>
                <a:latin typeface="Courier New" pitchFamily="34" charset="0"/>
                <a:ea typeface="Courier New" pitchFamily="34" charset="-122"/>
                <a:cs typeface="Courier New" pitchFamily="34" charset="-120"/>
              </a:rPr>
              <a:t>[XX]</a:t>
            </a:r>
            <a:pPr algn="l" indent="0" marL="0">
              <a:lnSpc>
                <a:spcPts val="1215"/>
              </a:lnSpc>
              <a:buNone/>
            </a:pPr>
            <a:r>
              <a:rPr lang="en-US" sz="800" dirty="0">
                <a:solidFill>
                  <a:srgbClr val="0F172A"/>
                </a:solidFill>
                <a:latin typeface="Carlito" pitchFamily="34" charset="0"/>
                <a:ea typeface="Carlito" pitchFamily="34" charset="-122"/>
                <a:cs typeface="Carlito" pitchFamily="34" charset="-120"/>
              </a:rPr>
              <a:t> studi dipilih untuk sintesis dengan </a:t>
            </a:r>
            <a:pPr algn="l" indent="0" marL="0">
              <a:lnSpc>
                <a:spcPts val="1215"/>
              </a:lnSpc>
              <a:buNone/>
            </a:pPr>
            <a:r>
              <a:rPr lang="en-US" sz="800" dirty="0">
                <a:solidFill>
                  <a:srgbClr val="EA680C"/>
                </a:solidFill>
                <a:highlight>
                  <a:srgbClr val="FFF1E6"/>
                </a:highlight>
                <a:latin typeface="Courier New" pitchFamily="34" charset="0"/>
                <a:ea typeface="Courier New" pitchFamily="34" charset="-122"/>
                <a:cs typeface="Courier New" pitchFamily="34" charset="-120"/>
              </a:rPr>
              <a:t>[XX]</a:t>
            </a:r>
            <a:pPr algn="l" indent="0" marL="0">
              <a:lnSpc>
                <a:spcPts val="1215"/>
              </a:lnSpc>
              <a:buNone/>
            </a:pPr>
            <a:r>
              <a:rPr lang="en-US" sz="800" dirty="0">
                <a:solidFill>
                  <a:srgbClr val="0F172A"/>
                </a:solidFill>
                <a:latin typeface="Carlito" pitchFamily="34" charset="0"/>
                <a:ea typeface="Carlito" pitchFamily="34" charset="-122"/>
                <a:cs typeface="Carlito" pitchFamily="34" charset="-120"/>
              </a:rPr>
              <a:t> studi memenuhi syarat untuk meta-analisis kuantitatif.</a:t>
            </a:r>
            <a:endParaRPr lang="en-US" sz="800" dirty="0"/>
          </a:p>
        </p:txBody>
      </p:sp>
      <p:sp>
        <p:nvSpPr>
          <p:cNvPr id="23" name="Text 21"/>
          <p:cNvSpPr/>
          <p:nvPr/>
        </p:nvSpPr>
        <p:spPr>
          <a:xfrm>
            <a:off x="650081" y="2497968"/>
            <a:ext cx="4271293" cy="7144"/>
          </a:xfrm>
          <a:prstGeom prst="rect">
            <a:avLst/>
          </a:prstGeom>
          <a:solidFill>
            <a:srgbClr val="E2E8F0"/>
          </a:solidFill>
          <a:ln/>
        </p:spPr>
        <p:txBody>
          <a:bodyPr wrap="square" rtlCol="0" anchor="ctr"/>
          <a:lstStyle/>
          <a:p>
            <a:pPr indent="0" marL="0">
              <a:buNone/>
            </a:pPr>
            <a:endParaRPr lang="en-US" dirty="0"/>
          </a:p>
        </p:txBody>
      </p:sp>
      <p:sp>
        <p:nvSpPr>
          <p:cNvPr id="24" name="Text 22"/>
          <p:cNvSpPr/>
          <p:nvPr/>
        </p:nvSpPr>
        <p:spPr>
          <a:xfrm>
            <a:off x="650081" y="2583693"/>
            <a:ext cx="128588" cy="128588"/>
          </a:xfrm>
          <a:prstGeom prst="rect">
            <a:avLst/>
          </a:prstGeom>
          <a:noFill/>
          <a:ln/>
        </p:spPr>
        <p:txBody>
          <a:bodyPr wrap="none" lIns="0" tIns="0" rIns="0" bIns="0" rtlCol="0" anchor="ctr"/>
          <a:lstStyle/>
          <a:p>
            <a:pPr algn="ctr" indent="0" marL="0">
              <a:buNone/>
            </a:pPr>
            <a:r>
              <a:rPr lang="en-US" sz="1266" dirty="0">
                <a:solidFill>
                  <a:srgbClr val="134E4A"/>
                </a:solidFill>
                <a:latin typeface="Segoe UI Symbol" pitchFamily="34" charset="0"/>
                <a:ea typeface="Segoe UI Symbol" pitchFamily="34" charset="-122"/>
                <a:cs typeface="Segoe UI Symbol" pitchFamily="34" charset="-120"/>
              </a:rPr>
              <a:t>▶</a:t>
            </a:r>
            <a:endParaRPr lang="en-US" sz="1266" dirty="0"/>
          </a:p>
        </p:txBody>
      </p:sp>
      <p:sp>
        <p:nvSpPr>
          <p:cNvPr id="25" name="Text 23"/>
          <p:cNvSpPr/>
          <p:nvPr/>
        </p:nvSpPr>
        <p:spPr>
          <a:xfrm>
            <a:off x="1764395" y="2583693"/>
            <a:ext cx="253492" cy="121444"/>
          </a:xfrm>
          <a:prstGeom prst="roundRect">
            <a:avLst>
              <a:gd name="adj" fmla="val 31372"/>
            </a:avLst>
          </a:prstGeom>
          <a:solidFill>
            <a:srgbClr val="FFF1E6"/>
          </a:solidFill>
          <a:ln/>
        </p:spPr>
        <p:txBody>
          <a:bodyPr wrap="square" rtlCol="0" anchor="ctr"/>
          <a:lstStyle/>
          <a:p>
            <a:pPr indent="0" marL="0">
              <a:buNone/>
            </a:pPr>
            <a:endParaRPr lang="en-US" dirty="0"/>
          </a:p>
        </p:txBody>
      </p:sp>
      <p:sp>
        <p:nvSpPr>
          <p:cNvPr id="26" name="Text 24"/>
          <p:cNvSpPr/>
          <p:nvPr/>
        </p:nvSpPr>
        <p:spPr>
          <a:xfrm>
            <a:off x="2149487" y="2583693"/>
            <a:ext cx="253492" cy="121444"/>
          </a:xfrm>
          <a:prstGeom prst="roundRect">
            <a:avLst>
              <a:gd name="adj" fmla="val 31372"/>
            </a:avLst>
          </a:prstGeom>
          <a:solidFill>
            <a:srgbClr val="FFF1E6"/>
          </a:solidFill>
          <a:ln/>
        </p:spPr>
        <p:txBody>
          <a:bodyPr wrap="square" rtlCol="0" anchor="ctr"/>
          <a:lstStyle/>
          <a:p>
            <a:pPr indent="0" marL="0">
              <a:buNone/>
            </a:pPr>
            <a:endParaRPr lang="en-US" dirty="0"/>
          </a:p>
        </p:txBody>
      </p:sp>
      <p:sp>
        <p:nvSpPr>
          <p:cNvPr id="27" name="Text 25"/>
          <p:cNvSpPr/>
          <p:nvPr/>
        </p:nvSpPr>
        <p:spPr>
          <a:xfrm>
            <a:off x="2559137" y="2583693"/>
            <a:ext cx="253492" cy="121444"/>
          </a:xfrm>
          <a:prstGeom prst="roundRect">
            <a:avLst>
              <a:gd name="adj" fmla="val 31372"/>
            </a:avLst>
          </a:prstGeom>
          <a:solidFill>
            <a:srgbClr val="FFF1E6"/>
          </a:solidFill>
          <a:ln/>
        </p:spPr>
        <p:txBody>
          <a:bodyPr wrap="square" rtlCol="0" anchor="ctr"/>
          <a:lstStyle/>
          <a:p>
            <a:pPr indent="0" marL="0">
              <a:buNone/>
            </a:pPr>
            <a:endParaRPr lang="en-US" dirty="0"/>
          </a:p>
        </p:txBody>
      </p:sp>
      <p:sp>
        <p:nvSpPr>
          <p:cNvPr id="28" name="Text 26"/>
          <p:cNvSpPr/>
          <p:nvPr/>
        </p:nvSpPr>
        <p:spPr>
          <a:xfrm>
            <a:off x="2944230" y="2583693"/>
            <a:ext cx="253492" cy="121444"/>
          </a:xfrm>
          <a:prstGeom prst="roundRect">
            <a:avLst>
              <a:gd name="adj" fmla="val 31372"/>
            </a:avLst>
          </a:prstGeom>
          <a:solidFill>
            <a:srgbClr val="FFF1E6"/>
          </a:solidFill>
          <a:ln/>
        </p:spPr>
        <p:txBody>
          <a:bodyPr wrap="square" rtlCol="0" anchor="ctr"/>
          <a:lstStyle/>
          <a:p>
            <a:pPr indent="0" marL="0">
              <a:buNone/>
            </a:pPr>
            <a:endParaRPr lang="en-US" dirty="0"/>
          </a:p>
        </p:txBody>
      </p:sp>
      <p:sp>
        <p:nvSpPr>
          <p:cNvPr id="29" name="Text 27"/>
          <p:cNvSpPr/>
          <p:nvPr/>
        </p:nvSpPr>
        <p:spPr>
          <a:xfrm>
            <a:off x="850106" y="2576550"/>
            <a:ext cx="4071268" cy="173370"/>
          </a:xfrm>
          <a:prstGeom prst="rect">
            <a:avLst/>
          </a:prstGeom>
          <a:noFill/>
          <a:ln/>
        </p:spPr>
        <p:txBody>
          <a:bodyPr wrap="square" lIns="0" tIns="0" rIns="0" bIns="0" rtlCol="0" anchor="t"/>
          <a:lstStyle/>
          <a:p>
            <a:pPr algn="l" indent="0" marL="0">
              <a:lnSpc>
                <a:spcPts val="1055"/>
              </a:lnSpc>
              <a:buNone/>
            </a:pPr>
            <a:r>
              <a:rPr lang="en-US" sz="800" dirty="0">
                <a:solidFill>
                  <a:srgbClr val="134E4A"/>
                </a:solidFill>
                <a:latin typeface="Carlito" pitchFamily="34" charset="0"/>
                <a:ea typeface="Carlito" pitchFamily="34" charset="-122"/>
                <a:cs typeface="Carlito" pitchFamily="34" charset="-120"/>
              </a:rPr>
              <a:t>Pertanyaan PICO:</a:t>
            </a:r>
            <a:pPr algn="l" indent="0" marL="0">
              <a:lnSpc>
                <a:spcPts val="1055"/>
              </a:lnSpc>
              <a:buNone/>
            </a:pPr>
            <a:r>
              <a:rPr lang="en-US" sz="800" dirty="0">
                <a:solidFill>
                  <a:srgbClr val="0F172A"/>
                </a:solidFill>
                <a:latin typeface="Carlito" pitchFamily="34" charset="0"/>
                <a:ea typeface="Carlito" pitchFamily="34" charset="-122"/>
                <a:cs typeface="Carlito" pitchFamily="34" charset="-120"/>
              </a:rPr>
              <a:t> </a:t>
            </a:r>
            <a:pPr algn="l" indent="0" marL="0">
              <a:lnSpc>
                <a:spcPts val="1055"/>
              </a:lnSpc>
              <a:buNone/>
            </a:pPr>
            <a:r>
              <a:rPr lang="en-US" sz="800" dirty="0">
                <a:solidFill>
                  <a:srgbClr val="EA680C"/>
                </a:solidFill>
                <a:highlight>
                  <a:srgbClr val="FFF1E6"/>
                </a:highlight>
                <a:latin typeface="Courier New" pitchFamily="34" charset="0"/>
                <a:ea typeface="Courier New" pitchFamily="34" charset="-122"/>
                <a:cs typeface="Courier New" pitchFamily="34" charset="-120"/>
              </a:rPr>
              <a:t>[P]</a:t>
            </a:r>
            <a:pPr algn="l" indent="0" marL="0">
              <a:lnSpc>
                <a:spcPts val="1055"/>
              </a:lnSpc>
              <a:buNone/>
            </a:pPr>
            <a:r>
              <a:rPr lang="en-US" sz="800" dirty="0">
                <a:solidFill>
                  <a:srgbClr val="0F172A"/>
                </a:solidFill>
                <a:latin typeface="Carlito" pitchFamily="34" charset="0"/>
                <a:ea typeface="Carlito" pitchFamily="34" charset="-122"/>
                <a:cs typeface="Carlito" pitchFamily="34" charset="-120"/>
              </a:rPr>
              <a:t> + </a:t>
            </a:r>
            <a:pPr algn="l" indent="0" marL="0">
              <a:lnSpc>
                <a:spcPts val="1055"/>
              </a:lnSpc>
              <a:buNone/>
            </a:pPr>
            <a:r>
              <a:rPr lang="en-US" sz="800" dirty="0">
                <a:solidFill>
                  <a:srgbClr val="EA680C"/>
                </a:solidFill>
                <a:highlight>
                  <a:srgbClr val="FFF1E6"/>
                </a:highlight>
                <a:latin typeface="Courier New" pitchFamily="34" charset="0"/>
                <a:ea typeface="Courier New" pitchFamily="34" charset="-122"/>
                <a:cs typeface="Courier New" pitchFamily="34" charset="-120"/>
              </a:rPr>
              <a:t>[I]</a:t>
            </a:r>
            <a:pPr algn="l" indent="0" marL="0">
              <a:lnSpc>
                <a:spcPts val="1055"/>
              </a:lnSpc>
              <a:buNone/>
            </a:pPr>
            <a:r>
              <a:rPr lang="en-US" sz="800" dirty="0">
                <a:solidFill>
                  <a:srgbClr val="0F172A"/>
                </a:solidFill>
                <a:latin typeface="Carlito" pitchFamily="34" charset="0"/>
                <a:ea typeface="Carlito" pitchFamily="34" charset="-122"/>
                <a:cs typeface="Carlito" pitchFamily="34" charset="-120"/>
              </a:rPr>
              <a:t> vs </a:t>
            </a:r>
            <a:pPr algn="l" indent="0" marL="0">
              <a:lnSpc>
                <a:spcPts val="1055"/>
              </a:lnSpc>
              <a:buNone/>
            </a:pPr>
            <a:r>
              <a:rPr lang="en-US" sz="800" dirty="0">
                <a:solidFill>
                  <a:srgbClr val="EA680C"/>
                </a:solidFill>
                <a:highlight>
                  <a:srgbClr val="FFF1E6"/>
                </a:highlight>
                <a:latin typeface="Courier New" pitchFamily="34" charset="0"/>
                <a:ea typeface="Courier New" pitchFamily="34" charset="-122"/>
                <a:cs typeface="Courier New" pitchFamily="34" charset="-120"/>
              </a:rPr>
              <a:t>[C]</a:t>
            </a:r>
            <a:pPr algn="l" indent="0" marL="0">
              <a:lnSpc>
                <a:spcPts val="1055"/>
              </a:lnSpc>
              <a:buNone/>
            </a:pPr>
            <a:r>
              <a:rPr lang="en-US" sz="800" dirty="0">
                <a:solidFill>
                  <a:srgbClr val="0F172A"/>
                </a:solidFill>
                <a:latin typeface="Carlito" pitchFamily="34" charset="0"/>
                <a:ea typeface="Carlito" pitchFamily="34" charset="-122"/>
                <a:cs typeface="Carlito" pitchFamily="34" charset="-120"/>
              </a:rPr>
              <a:t> → </a:t>
            </a:r>
            <a:pPr algn="l" indent="0" marL="0">
              <a:lnSpc>
                <a:spcPts val="1055"/>
              </a:lnSpc>
              <a:buNone/>
            </a:pPr>
            <a:r>
              <a:rPr lang="en-US" sz="800" dirty="0">
                <a:solidFill>
                  <a:srgbClr val="EA680C"/>
                </a:solidFill>
                <a:highlight>
                  <a:srgbClr val="FFF1E6"/>
                </a:highlight>
                <a:latin typeface="Courier New" pitchFamily="34" charset="0"/>
                <a:ea typeface="Courier New" pitchFamily="34" charset="-122"/>
                <a:cs typeface="Courier New" pitchFamily="34" charset="-120"/>
              </a:rPr>
              <a:t>[O]</a:t>
            </a:r>
            <a:pPr algn="l" indent="0" marL="0">
              <a:lnSpc>
                <a:spcPts val="1055"/>
              </a:lnSpc>
              <a:buNone/>
            </a:pPr>
            <a:r>
              <a:rPr lang="en-US" sz="800" dirty="0">
                <a:solidFill>
                  <a:srgbClr val="0F172A"/>
                </a:solidFill>
                <a:latin typeface="Carlito" pitchFamily="34" charset="0"/>
                <a:ea typeface="Carlito" pitchFamily="34" charset="-122"/>
                <a:cs typeface="Carlito" pitchFamily="34" charset="-120"/>
              </a:rPr>
              <a:t>.</a:t>
            </a:r>
            <a:endParaRPr lang="en-US" sz="800" dirty="0"/>
          </a:p>
        </p:txBody>
      </p:sp>
      <p:sp>
        <p:nvSpPr>
          <p:cNvPr id="30" name="Text 28"/>
          <p:cNvSpPr/>
          <p:nvPr/>
        </p:nvSpPr>
        <p:spPr>
          <a:xfrm>
            <a:off x="650081" y="2789076"/>
            <a:ext cx="128588" cy="128588"/>
          </a:xfrm>
          <a:prstGeom prst="rect">
            <a:avLst/>
          </a:prstGeom>
          <a:noFill/>
          <a:ln/>
        </p:spPr>
        <p:txBody>
          <a:bodyPr wrap="none" lIns="0" tIns="0" rIns="0" bIns="0" rtlCol="0" anchor="ctr"/>
          <a:lstStyle/>
          <a:p>
            <a:pPr algn="ctr" indent="0" marL="0">
              <a:buNone/>
            </a:pPr>
            <a:r>
              <a:rPr lang="en-US" sz="1266" dirty="0">
                <a:solidFill>
                  <a:srgbClr val="134E4A"/>
                </a:solidFill>
                <a:latin typeface="Segoe UI Symbol" pitchFamily="34" charset="0"/>
                <a:ea typeface="Segoe UI Symbol" pitchFamily="34" charset="-122"/>
                <a:cs typeface="Segoe UI Symbol" pitchFamily="34" charset="-120"/>
              </a:rPr>
              <a:t>▶</a:t>
            </a:r>
            <a:endParaRPr lang="en-US" sz="1266" dirty="0"/>
          </a:p>
        </p:txBody>
      </p:sp>
      <p:sp>
        <p:nvSpPr>
          <p:cNvPr id="31" name="Text 29"/>
          <p:cNvSpPr/>
          <p:nvPr/>
        </p:nvSpPr>
        <p:spPr>
          <a:xfrm>
            <a:off x="2534469" y="2789076"/>
            <a:ext cx="1819089" cy="121444"/>
          </a:xfrm>
          <a:prstGeom prst="roundRect">
            <a:avLst>
              <a:gd name="adj" fmla="val 31372"/>
            </a:avLst>
          </a:prstGeom>
          <a:solidFill>
            <a:srgbClr val="FFF1E6"/>
          </a:solidFill>
          <a:ln/>
        </p:spPr>
        <p:txBody>
          <a:bodyPr wrap="square" rtlCol="0" anchor="ctr"/>
          <a:lstStyle/>
          <a:p>
            <a:pPr indent="0" marL="0">
              <a:buNone/>
            </a:pPr>
            <a:endParaRPr lang="en-US" dirty="0"/>
          </a:p>
        </p:txBody>
      </p:sp>
      <p:sp>
        <p:nvSpPr>
          <p:cNvPr id="32" name="Text 30"/>
          <p:cNvSpPr/>
          <p:nvPr/>
        </p:nvSpPr>
        <p:spPr>
          <a:xfrm>
            <a:off x="850106" y="2781933"/>
            <a:ext cx="4071268" cy="337962"/>
          </a:xfrm>
          <a:prstGeom prst="rect">
            <a:avLst/>
          </a:prstGeom>
          <a:noFill/>
          <a:ln/>
        </p:spPr>
        <p:txBody>
          <a:bodyPr wrap="square" lIns="0" tIns="0" rIns="0" bIns="0" rtlCol="0" anchor="t"/>
          <a:lstStyle/>
          <a:p>
            <a:pPr algn="l" indent="0" marL="0">
              <a:lnSpc>
                <a:spcPts val="1055"/>
              </a:lnSpc>
              <a:buNone/>
            </a:pPr>
            <a:r>
              <a:rPr lang="en-US" sz="800" dirty="0">
                <a:solidFill>
                  <a:srgbClr val="134E4A"/>
                </a:solidFill>
                <a:latin typeface="Carlito" pitchFamily="34" charset="0"/>
                <a:ea typeface="Carlito" pitchFamily="34" charset="-122"/>
                <a:cs typeface="Carlito" pitchFamily="34" charset="-120"/>
              </a:rPr>
              <a:t>Quality assessment</a:t>
            </a:r>
            <a:pPr algn="l" indent="0" marL="0">
              <a:lnSpc>
                <a:spcPts val="1055"/>
              </a:lnSpc>
              <a:buNone/>
            </a:pPr>
            <a:r>
              <a:rPr lang="en-US" sz="800" dirty="0">
                <a:solidFill>
                  <a:srgbClr val="0F172A"/>
                </a:solidFill>
                <a:latin typeface="Carlito" pitchFamily="34" charset="0"/>
                <a:ea typeface="Carlito" pitchFamily="34" charset="-122"/>
                <a:cs typeface="Carlito" pitchFamily="34" charset="-120"/>
              </a:rPr>
              <a:t> menggunakan </a:t>
            </a:r>
            <a:pPr algn="l" indent="0" marL="0">
              <a:lnSpc>
                <a:spcPts val="1055"/>
              </a:lnSpc>
              <a:buNone/>
            </a:pPr>
            <a:r>
              <a:rPr lang="en-US" sz="800" dirty="0">
                <a:solidFill>
                  <a:srgbClr val="EA680C"/>
                </a:solidFill>
                <a:highlight>
                  <a:srgbClr val="FFF1E6"/>
                </a:highlight>
                <a:latin typeface="Liberation Sans Narrow" pitchFamily="34" charset="0"/>
                <a:ea typeface="Liberation Sans Narrow" pitchFamily="34" charset="-122"/>
                <a:cs typeface="Liberation Sans Narrow" pitchFamily="34" charset="-120"/>
              </a:rPr>
              <a:t>[JBI / Cochrane RoB / AMSTAR-2]</a:t>
            </a:r>
            <a:pPr algn="l" indent="0" marL="0">
              <a:lnSpc>
                <a:spcPts val="1055"/>
              </a:lnSpc>
              <a:buNone/>
            </a:pPr>
            <a:r>
              <a:rPr lang="en-US" sz="800" dirty="0">
                <a:solidFill>
                  <a:srgbClr val="0F172A"/>
                </a:solidFill>
                <a:latin typeface="Carlito" pitchFamily="34" charset="0"/>
                <a:ea typeface="Carlito" pitchFamily="34" charset="-122"/>
                <a:cs typeface="Carlito" pitchFamily="34" charset="-120"/>
              </a:rPr>
              <a:t> + GRADE certainty.</a:t>
            </a:r>
            <a:endParaRPr lang="en-US" sz="800" dirty="0"/>
          </a:p>
        </p:txBody>
      </p:sp>
      <p:sp>
        <p:nvSpPr>
          <p:cNvPr id="33" name="Text 31"/>
          <p:cNvSpPr/>
          <p:nvPr/>
        </p:nvSpPr>
        <p:spPr>
          <a:xfrm>
            <a:off x="650081" y="3128404"/>
            <a:ext cx="128588" cy="128588"/>
          </a:xfrm>
          <a:prstGeom prst="rect">
            <a:avLst/>
          </a:prstGeom>
          <a:noFill/>
          <a:ln/>
        </p:spPr>
        <p:txBody>
          <a:bodyPr wrap="none" lIns="0" tIns="0" rIns="0" bIns="0" rtlCol="0" anchor="ctr"/>
          <a:lstStyle/>
          <a:p>
            <a:pPr algn="ctr" indent="0" marL="0">
              <a:buNone/>
            </a:pPr>
            <a:r>
              <a:rPr lang="en-US" sz="1266" dirty="0">
                <a:solidFill>
                  <a:srgbClr val="F97316"/>
                </a:solidFill>
                <a:latin typeface="Segoe UI Symbol" pitchFamily="34" charset="0"/>
                <a:ea typeface="Segoe UI Symbol" pitchFamily="34" charset="-122"/>
                <a:cs typeface="Segoe UI Symbol" pitchFamily="34" charset="-120"/>
              </a:rPr>
              <a:t>▶</a:t>
            </a:r>
            <a:endParaRPr lang="en-US" sz="1266" dirty="0"/>
          </a:p>
        </p:txBody>
      </p:sp>
      <p:sp>
        <p:nvSpPr>
          <p:cNvPr id="34" name="Text 32"/>
          <p:cNvSpPr/>
          <p:nvPr/>
        </p:nvSpPr>
        <p:spPr>
          <a:xfrm>
            <a:off x="850106" y="3128404"/>
            <a:ext cx="3492512" cy="262533"/>
          </a:xfrm>
          <a:prstGeom prst="roundRect">
            <a:avLst>
              <a:gd name="adj" fmla="val 14512"/>
            </a:avLst>
          </a:prstGeom>
          <a:solidFill>
            <a:srgbClr val="FFF1E6"/>
          </a:solidFill>
          <a:ln/>
        </p:spPr>
        <p:txBody>
          <a:bodyPr wrap="square" rtlCol="0" anchor="ctr"/>
          <a:lstStyle/>
          <a:p>
            <a:pPr indent="0" marL="0">
              <a:buNone/>
            </a:pPr>
            <a:endParaRPr lang="en-US" dirty="0"/>
          </a:p>
        </p:txBody>
      </p:sp>
      <p:sp>
        <p:nvSpPr>
          <p:cNvPr id="35" name="Text 33"/>
          <p:cNvSpPr/>
          <p:nvPr/>
        </p:nvSpPr>
        <p:spPr>
          <a:xfrm>
            <a:off x="850106" y="3121261"/>
            <a:ext cx="4071268" cy="346740"/>
          </a:xfrm>
          <a:prstGeom prst="rect">
            <a:avLst/>
          </a:prstGeom>
          <a:noFill/>
          <a:ln/>
        </p:spPr>
        <p:txBody>
          <a:bodyPr wrap="square" lIns="0" tIns="0" rIns="0" bIns="0" rtlCol="0" anchor="t"/>
          <a:lstStyle/>
          <a:p>
            <a:pPr algn="l" indent="0" marL="0">
              <a:lnSpc>
                <a:spcPts val="1055"/>
              </a:lnSpc>
              <a:buNone/>
            </a:pPr>
            <a:r>
              <a:rPr lang="en-US" sz="800" dirty="0">
                <a:solidFill>
                  <a:srgbClr val="EA680C"/>
                </a:solidFill>
                <a:latin typeface="Carlito" pitchFamily="34" charset="0"/>
                <a:ea typeface="Carlito" pitchFamily="34" charset="-122"/>
                <a:cs typeface="Carlito" pitchFamily="34" charset="-120"/>
              </a:rPr>
              <a:t>Sintesis temuan:</a:t>
            </a:r>
            <a:pPr algn="l" indent="0" marL="0">
              <a:lnSpc>
                <a:spcPts val="1055"/>
              </a:lnSpc>
              <a:buNone/>
            </a:pPr>
            <a:r>
              <a:rPr lang="en-US" sz="800" dirty="0">
                <a:solidFill>
                  <a:srgbClr val="0F172A"/>
                </a:solidFill>
                <a:latin typeface="Carlito" pitchFamily="34" charset="0"/>
                <a:ea typeface="Carlito" pitchFamily="34" charset="-122"/>
                <a:cs typeface="Carlito" pitchFamily="34" charset="-120"/>
              </a:rPr>
              <a:t> </a:t>
            </a:r>
            <a:pPr algn="l" indent="0" marL="0">
              <a:lnSpc>
                <a:spcPts val="1055"/>
              </a:lnSpc>
              <a:buNone/>
            </a:pPr>
            <a:r>
              <a:rPr lang="en-US" sz="800" dirty="0">
                <a:solidFill>
                  <a:srgbClr val="EA680C"/>
                </a:solidFill>
                <a:highlight>
                  <a:srgbClr val="FFF1E6"/>
                </a:highlight>
                <a:latin typeface="Courier New" pitchFamily="34" charset="0"/>
                <a:ea typeface="Courier New" pitchFamily="34" charset="-122"/>
                <a:cs typeface="Courier New" pitchFamily="34" charset="-120"/>
              </a:rPr>
              <a:t>[N sub-tema yang ditemukan, arah efek, tingkat certainty]</a:t>
            </a:r>
            <a:pPr algn="l" indent="0" marL="0">
              <a:lnSpc>
                <a:spcPts val="1055"/>
              </a:lnSpc>
              <a:buNone/>
            </a:pPr>
            <a:r>
              <a:rPr lang="en-US" sz="800" dirty="0">
                <a:solidFill>
                  <a:srgbClr val="0F172A"/>
                </a:solidFill>
                <a:latin typeface="Carlito" pitchFamily="34" charset="0"/>
                <a:ea typeface="Carlito" pitchFamily="34" charset="-122"/>
                <a:cs typeface="Carlito" pitchFamily="34" charset="-120"/>
              </a:rPr>
              <a:t>.</a:t>
            </a:r>
            <a:endParaRPr lang="en-US" sz="800" dirty="0"/>
          </a:p>
        </p:txBody>
      </p:sp>
      <p:sp>
        <p:nvSpPr>
          <p:cNvPr id="36" name="Text 34"/>
          <p:cNvSpPr/>
          <p:nvPr/>
        </p:nvSpPr>
        <p:spPr>
          <a:xfrm>
            <a:off x="5314280" y="1107951"/>
            <a:ext cx="1628998" cy="1250156"/>
          </a:xfrm>
          <a:prstGeom prst="roundRect">
            <a:avLst>
              <a:gd name="adj" fmla="val 9143"/>
            </a:avLst>
          </a:prstGeom>
          <a:solidFill>
            <a:srgbClr val="E0ECEB"/>
          </a:solidFill>
          <a:ln/>
        </p:spPr>
        <p:txBody>
          <a:bodyPr wrap="square" rtlCol="0" anchor="ctr"/>
          <a:lstStyle/>
          <a:p>
            <a:pPr indent="0" marL="0">
              <a:buNone/>
            </a:pPr>
            <a:endParaRPr lang="en-US" dirty="0"/>
          </a:p>
        </p:txBody>
      </p:sp>
      <p:sp>
        <p:nvSpPr>
          <p:cNvPr id="37" name="Text 35"/>
          <p:cNvSpPr/>
          <p:nvPr/>
        </p:nvSpPr>
        <p:spPr>
          <a:xfrm>
            <a:off x="6743254" y="1179388"/>
            <a:ext cx="128588" cy="128588"/>
          </a:xfrm>
          <a:prstGeom prst="rect">
            <a:avLst/>
          </a:prstGeom>
          <a:noFill/>
          <a:ln/>
        </p:spPr>
        <p:txBody>
          <a:bodyPr wrap="none" lIns="0" tIns="0" rIns="0" bIns="0" rtlCol="0" anchor="ctr"/>
          <a:lstStyle/>
          <a:p>
            <a:pPr algn="ctr" indent="0" marL="0">
              <a:buNone/>
            </a:pPr>
            <a:r>
              <a:rPr lang="en-US" sz="1266" dirty="0">
                <a:solidFill>
                  <a:srgbClr val="4A8480"/>
                </a:solidFill>
                <a:latin typeface="Segoe UI Symbol" pitchFamily="34" charset="0"/>
                <a:ea typeface="Segoe UI Symbol" pitchFamily="34" charset="-122"/>
                <a:cs typeface="Segoe UI Symbol" pitchFamily="34" charset="-120"/>
              </a:rPr>
              <a:t>⌕</a:t>
            </a:r>
            <a:endParaRPr lang="en-US" sz="1266" dirty="0"/>
          </a:p>
        </p:txBody>
      </p:sp>
      <p:sp>
        <p:nvSpPr>
          <p:cNvPr id="38" name="Text 36"/>
          <p:cNvSpPr/>
          <p:nvPr/>
        </p:nvSpPr>
        <p:spPr>
          <a:xfrm>
            <a:off x="5469570" y="1457548"/>
            <a:ext cx="1318308" cy="277749"/>
          </a:xfrm>
          <a:prstGeom prst="rect">
            <a:avLst/>
          </a:prstGeom>
          <a:noFill/>
          <a:ln/>
        </p:spPr>
        <p:txBody>
          <a:bodyPr wrap="none" lIns="0" tIns="0" rIns="0" bIns="0" rtlCol="0" anchor="t"/>
          <a:lstStyle/>
          <a:p>
            <a:pPr algn="ctr" indent="0" marL="0">
              <a:lnSpc>
                <a:spcPts val="2025"/>
              </a:lnSpc>
              <a:buNone/>
            </a:pPr>
            <a:r>
              <a:rPr lang="en-US" sz="2025" b="1" spc="-61" kern="0" dirty="0">
                <a:solidFill>
                  <a:srgbClr val="134E4A"/>
                </a:solidFill>
                <a:latin typeface="Courier New" pitchFamily="34" charset="0"/>
                <a:ea typeface="Courier New" pitchFamily="34" charset="-122"/>
                <a:cs typeface="Courier New" pitchFamily="34" charset="-120"/>
              </a:rPr>
              <a:t>[X.XXX]</a:t>
            </a:r>
            <a:endParaRPr lang="en-US" sz="2025" dirty="0"/>
          </a:p>
        </p:txBody>
      </p:sp>
      <p:sp>
        <p:nvSpPr>
          <p:cNvPr id="39" name="Text 37"/>
          <p:cNvSpPr/>
          <p:nvPr/>
        </p:nvSpPr>
        <p:spPr>
          <a:xfrm>
            <a:off x="5708170" y="1771873"/>
            <a:ext cx="841218" cy="107853"/>
          </a:xfrm>
          <a:prstGeom prst="rect">
            <a:avLst/>
          </a:prstGeom>
          <a:noFill/>
          <a:ln/>
        </p:spPr>
        <p:txBody>
          <a:bodyPr wrap="none" lIns="0" tIns="0" rIns="0" bIns="0" rtlCol="0" anchor="t">
            <a:normAutofit/>
          </a:bodyPr>
          <a:lstStyle/>
          <a:p>
            <a:pPr algn="ctr" indent="0" marL="0">
              <a:lnSpc>
                <a:spcPts val="841"/>
              </a:lnSpc>
              <a:buNone/>
            </a:pPr>
            <a:r>
              <a:rPr lang="en-US" sz="800" spc="52" kern="0" dirty="0">
                <a:solidFill>
                  <a:srgbClr val="475569"/>
                </a:solidFill>
                <a:latin typeface="Carlito" pitchFamily="34" charset="0"/>
                <a:ea typeface="Carlito" pitchFamily="34" charset="-122"/>
                <a:cs typeface="Carlito" pitchFamily="34" charset="-120"/>
              </a:rPr>
              <a:t>RECORD AWAL</a:t>
            </a:r>
            <a:endParaRPr lang="en-US" sz="800" dirty="0"/>
          </a:p>
        </p:txBody>
      </p:sp>
      <p:sp>
        <p:nvSpPr>
          <p:cNvPr id="40" name="Text 38"/>
          <p:cNvSpPr/>
          <p:nvPr/>
        </p:nvSpPr>
        <p:spPr>
          <a:xfrm>
            <a:off x="5667974" y="1907158"/>
            <a:ext cx="921611" cy="148100"/>
          </a:xfrm>
          <a:prstGeom prst="rect">
            <a:avLst/>
          </a:prstGeom>
          <a:noFill/>
          <a:ln/>
        </p:spPr>
        <p:txBody>
          <a:bodyPr wrap="none" lIns="0" tIns="0" rIns="0" bIns="0" rtlCol="0" anchor="t"/>
          <a:lstStyle/>
          <a:p>
            <a:pPr algn="ctr" indent="0" marL="0">
              <a:lnSpc>
                <a:spcPts val="797"/>
              </a:lnSpc>
              <a:buNone/>
            </a:pPr>
            <a:r>
              <a:rPr lang="en-US" sz="600" dirty="0">
                <a:solidFill>
                  <a:srgbClr val="64748B"/>
                </a:solidFill>
                <a:latin typeface="Carlito" pitchFamily="34" charset="0"/>
                <a:ea typeface="Carlito" pitchFamily="34" charset="-122"/>
                <a:cs typeface="Carlito" pitchFamily="34" charset="-120"/>
              </a:rPr>
              <a:t>[N database · Periode]</a:t>
            </a:r>
            <a:endParaRPr lang="en-US" sz="600" dirty="0"/>
          </a:p>
        </p:txBody>
      </p:sp>
      <p:sp>
        <p:nvSpPr>
          <p:cNvPr id="41" name="Text 39"/>
          <p:cNvSpPr/>
          <p:nvPr/>
        </p:nvSpPr>
        <p:spPr>
          <a:xfrm>
            <a:off x="7057579" y="1107951"/>
            <a:ext cx="1629110" cy="1250156"/>
          </a:xfrm>
          <a:prstGeom prst="roundRect">
            <a:avLst>
              <a:gd name="adj" fmla="val 9143"/>
            </a:avLst>
          </a:prstGeom>
          <a:solidFill>
            <a:srgbClr val="FFF1E6"/>
          </a:solidFill>
          <a:ln/>
        </p:spPr>
        <p:txBody>
          <a:bodyPr wrap="square" rtlCol="0" anchor="ctr"/>
          <a:lstStyle/>
          <a:p>
            <a:pPr indent="0" marL="0">
              <a:buNone/>
            </a:pPr>
            <a:endParaRPr lang="en-US" dirty="0"/>
          </a:p>
        </p:txBody>
      </p:sp>
      <p:sp>
        <p:nvSpPr>
          <p:cNvPr id="42" name="Text 40"/>
          <p:cNvSpPr/>
          <p:nvPr/>
        </p:nvSpPr>
        <p:spPr>
          <a:xfrm>
            <a:off x="8486663" y="1179388"/>
            <a:ext cx="128588" cy="128588"/>
          </a:xfrm>
          <a:prstGeom prst="rect">
            <a:avLst/>
          </a:prstGeom>
          <a:noFill/>
          <a:ln/>
        </p:spPr>
        <p:txBody>
          <a:bodyPr wrap="none" lIns="0" tIns="0" rIns="0" bIns="0" rtlCol="0" anchor="ctr"/>
          <a:lstStyle/>
          <a:p>
            <a:pPr algn="ctr" indent="0" marL="0">
              <a:buNone/>
            </a:pPr>
            <a:r>
              <a:rPr lang="en-US" sz="1266" dirty="0">
                <a:solidFill>
                  <a:srgbClr val="F97316"/>
                </a:solidFill>
                <a:latin typeface="Segoe UI Symbol" pitchFamily="34" charset="0"/>
                <a:ea typeface="Segoe UI Symbol" pitchFamily="34" charset="-122"/>
                <a:cs typeface="Segoe UI Symbol" pitchFamily="34" charset="-120"/>
              </a:rPr>
              <a:t>✓</a:t>
            </a:r>
            <a:endParaRPr lang="en-US" sz="1266" dirty="0"/>
          </a:p>
        </p:txBody>
      </p:sp>
      <p:sp>
        <p:nvSpPr>
          <p:cNvPr id="43" name="Text 41"/>
          <p:cNvSpPr/>
          <p:nvPr/>
        </p:nvSpPr>
        <p:spPr>
          <a:xfrm>
            <a:off x="7407157" y="1457548"/>
            <a:ext cx="929953" cy="277749"/>
          </a:xfrm>
          <a:prstGeom prst="rect">
            <a:avLst/>
          </a:prstGeom>
          <a:noFill/>
          <a:ln/>
        </p:spPr>
        <p:txBody>
          <a:bodyPr wrap="none" lIns="0" tIns="0" rIns="0" bIns="0" rtlCol="0" anchor="t"/>
          <a:lstStyle/>
          <a:p>
            <a:pPr algn="ctr" indent="0" marL="0">
              <a:lnSpc>
                <a:spcPts val="2025"/>
              </a:lnSpc>
              <a:buNone/>
            </a:pPr>
            <a:r>
              <a:rPr lang="en-US" sz="2025" b="1" spc="-61" kern="0" dirty="0">
                <a:solidFill>
                  <a:srgbClr val="134E4A"/>
                </a:solidFill>
                <a:latin typeface="Courier New" pitchFamily="34" charset="0"/>
                <a:ea typeface="Courier New" pitchFamily="34" charset="-122"/>
                <a:cs typeface="Courier New" pitchFamily="34" charset="-120"/>
              </a:rPr>
              <a:t>[XX]</a:t>
            </a:r>
            <a:endParaRPr lang="en-US" sz="2025" dirty="0"/>
          </a:p>
        </p:txBody>
      </p:sp>
      <p:sp>
        <p:nvSpPr>
          <p:cNvPr id="44" name="Text 42"/>
          <p:cNvSpPr/>
          <p:nvPr/>
        </p:nvSpPr>
        <p:spPr>
          <a:xfrm>
            <a:off x="7341450" y="1771873"/>
            <a:ext cx="1061255" cy="107853"/>
          </a:xfrm>
          <a:prstGeom prst="rect">
            <a:avLst/>
          </a:prstGeom>
          <a:noFill/>
          <a:ln/>
        </p:spPr>
        <p:txBody>
          <a:bodyPr wrap="none" lIns="0" tIns="0" rIns="0" bIns="0" rtlCol="0" anchor="t">
            <a:normAutofit/>
          </a:bodyPr>
          <a:lstStyle/>
          <a:p>
            <a:pPr algn="ctr" indent="0" marL="0">
              <a:lnSpc>
                <a:spcPts val="841"/>
              </a:lnSpc>
              <a:buNone/>
            </a:pPr>
            <a:r>
              <a:rPr lang="en-US" sz="647" spc="52" kern="0" dirty="0">
                <a:solidFill>
                  <a:srgbClr val="475569"/>
                </a:solidFill>
                <a:latin typeface="Carlito" pitchFamily="34" charset="0"/>
                <a:ea typeface="Carlito" pitchFamily="34" charset="-122"/>
                <a:cs typeface="Carlito" pitchFamily="34" charset="-120"/>
              </a:rPr>
              <a:t>STUDI TERINKLUSI</a:t>
            </a:r>
            <a:endParaRPr lang="en-US" sz="647" dirty="0"/>
          </a:p>
        </p:txBody>
      </p:sp>
      <p:sp>
        <p:nvSpPr>
          <p:cNvPr id="45" name="Text 43"/>
          <p:cNvSpPr/>
          <p:nvPr/>
        </p:nvSpPr>
        <p:spPr>
          <a:xfrm>
            <a:off x="7444287" y="1907158"/>
            <a:ext cx="855693" cy="148100"/>
          </a:xfrm>
          <a:prstGeom prst="rect">
            <a:avLst/>
          </a:prstGeom>
          <a:noFill/>
          <a:ln/>
        </p:spPr>
        <p:txBody>
          <a:bodyPr wrap="none" lIns="0" tIns="0" rIns="0" bIns="0" rtlCol="0" anchor="t"/>
          <a:lstStyle/>
          <a:p>
            <a:pPr algn="ctr" indent="0" marL="0">
              <a:lnSpc>
                <a:spcPts val="797"/>
              </a:lnSpc>
              <a:buNone/>
            </a:pPr>
            <a:r>
              <a:rPr lang="en-US" sz="600" dirty="0">
                <a:solidFill>
                  <a:srgbClr val="64748B"/>
                </a:solidFill>
                <a:latin typeface="Carlito" pitchFamily="34" charset="0"/>
                <a:ea typeface="Carlito" pitchFamily="34" charset="-122"/>
                <a:cs typeface="Carlito" pitchFamily="34" charset="-120"/>
              </a:rPr>
              <a:t>Lolos dual-reviewer</a:t>
            </a:r>
            <a:endParaRPr lang="en-US" sz="600" dirty="0"/>
          </a:p>
        </p:txBody>
      </p:sp>
      <p:sp>
        <p:nvSpPr>
          <p:cNvPr id="46" name="Text 44"/>
          <p:cNvSpPr/>
          <p:nvPr/>
        </p:nvSpPr>
        <p:spPr>
          <a:xfrm>
            <a:off x="5314280" y="2472407"/>
            <a:ext cx="1628998" cy="1250156"/>
          </a:xfrm>
          <a:prstGeom prst="roundRect">
            <a:avLst>
              <a:gd name="adj" fmla="val 9143"/>
            </a:avLst>
          </a:prstGeom>
          <a:solidFill>
            <a:srgbClr val="FFF1E6"/>
          </a:solidFill>
          <a:ln/>
        </p:spPr>
        <p:txBody>
          <a:bodyPr wrap="square" rtlCol="0" anchor="ctr"/>
          <a:lstStyle/>
          <a:p>
            <a:pPr indent="0" marL="0">
              <a:buNone/>
            </a:pPr>
            <a:endParaRPr lang="en-US" dirty="0"/>
          </a:p>
        </p:txBody>
      </p:sp>
      <p:sp>
        <p:nvSpPr>
          <p:cNvPr id="47" name="Text 45"/>
          <p:cNvSpPr/>
          <p:nvPr/>
        </p:nvSpPr>
        <p:spPr>
          <a:xfrm>
            <a:off x="6743254" y="2543845"/>
            <a:ext cx="128588" cy="128588"/>
          </a:xfrm>
          <a:prstGeom prst="rect">
            <a:avLst/>
          </a:prstGeom>
          <a:noFill/>
          <a:ln/>
        </p:spPr>
        <p:txBody>
          <a:bodyPr wrap="none" lIns="0" tIns="0" rIns="0" bIns="0" rtlCol="0" anchor="ctr"/>
          <a:lstStyle/>
          <a:p>
            <a:pPr algn="ctr" indent="0" marL="0">
              <a:buNone/>
            </a:pPr>
            <a:r>
              <a:rPr lang="en-US" sz="1266" dirty="0">
                <a:solidFill>
                  <a:srgbClr val="F97316"/>
                </a:solidFill>
                <a:latin typeface="Segoe UI Symbol" pitchFamily="34" charset="0"/>
                <a:ea typeface="Segoe UI Symbol" pitchFamily="34" charset="-122"/>
                <a:cs typeface="Segoe UI Symbol" pitchFamily="34" charset="-120"/>
              </a:rPr>
              <a:t>▦</a:t>
            </a:r>
            <a:endParaRPr lang="en-US" sz="1266" dirty="0"/>
          </a:p>
        </p:txBody>
      </p:sp>
      <p:sp>
        <p:nvSpPr>
          <p:cNvPr id="48" name="Text 46"/>
          <p:cNvSpPr/>
          <p:nvPr/>
        </p:nvSpPr>
        <p:spPr>
          <a:xfrm>
            <a:off x="5663747" y="2822004"/>
            <a:ext cx="929953" cy="277749"/>
          </a:xfrm>
          <a:prstGeom prst="rect">
            <a:avLst/>
          </a:prstGeom>
          <a:noFill/>
          <a:ln/>
        </p:spPr>
        <p:txBody>
          <a:bodyPr wrap="none" lIns="0" tIns="0" rIns="0" bIns="0" rtlCol="0" anchor="t"/>
          <a:lstStyle/>
          <a:p>
            <a:pPr algn="ctr" indent="0" marL="0">
              <a:lnSpc>
                <a:spcPts val="2025"/>
              </a:lnSpc>
              <a:buNone/>
            </a:pPr>
            <a:r>
              <a:rPr lang="en-US" sz="2025" b="1" spc="-61" kern="0" dirty="0">
                <a:solidFill>
                  <a:srgbClr val="134E4A"/>
                </a:solidFill>
                <a:latin typeface="Courier New" pitchFamily="34" charset="0"/>
                <a:ea typeface="Courier New" pitchFamily="34" charset="-122"/>
                <a:cs typeface="Courier New" pitchFamily="34" charset="-120"/>
              </a:rPr>
              <a:t>[XX]</a:t>
            </a:r>
            <a:endParaRPr lang="en-US" sz="2025" dirty="0"/>
          </a:p>
        </p:txBody>
      </p:sp>
      <p:sp>
        <p:nvSpPr>
          <p:cNvPr id="49" name="Text 47"/>
          <p:cNvSpPr/>
          <p:nvPr/>
        </p:nvSpPr>
        <p:spPr>
          <a:xfrm>
            <a:off x="5691757" y="3136329"/>
            <a:ext cx="873934" cy="107853"/>
          </a:xfrm>
          <a:prstGeom prst="rect">
            <a:avLst/>
          </a:prstGeom>
          <a:noFill/>
          <a:ln/>
        </p:spPr>
        <p:txBody>
          <a:bodyPr wrap="none" lIns="0" tIns="0" rIns="0" bIns="0" rtlCol="0" anchor="t">
            <a:normAutofit/>
          </a:bodyPr>
          <a:lstStyle/>
          <a:p>
            <a:pPr algn="ctr" indent="0" marL="0">
              <a:lnSpc>
                <a:spcPts val="841"/>
              </a:lnSpc>
              <a:buNone/>
            </a:pPr>
            <a:r>
              <a:rPr lang="en-US" sz="647" spc="52" kern="0" dirty="0">
                <a:solidFill>
                  <a:srgbClr val="475569"/>
                </a:solidFill>
                <a:latin typeface="Carlito" pitchFamily="34" charset="0"/>
                <a:ea typeface="Carlito" pitchFamily="34" charset="-122"/>
                <a:cs typeface="Carlito" pitchFamily="34" charset="-120"/>
              </a:rPr>
              <a:t>META-ANALISIS</a:t>
            </a:r>
            <a:endParaRPr lang="en-US" sz="647" dirty="0"/>
          </a:p>
        </p:txBody>
      </p:sp>
      <p:sp>
        <p:nvSpPr>
          <p:cNvPr id="50" name="Text 48"/>
          <p:cNvSpPr/>
          <p:nvPr/>
        </p:nvSpPr>
        <p:spPr>
          <a:xfrm>
            <a:off x="5698915" y="3271614"/>
            <a:ext cx="859618" cy="148100"/>
          </a:xfrm>
          <a:prstGeom prst="rect">
            <a:avLst/>
          </a:prstGeom>
          <a:noFill/>
          <a:ln/>
        </p:spPr>
        <p:txBody>
          <a:bodyPr wrap="none" lIns="0" tIns="0" rIns="0" bIns="0" rtlCol="0" anchor="t"/>
          <a:lstStyle/>
          <a:p>
            <a:pPr algn="ctr" indent="0" marL="0">
              <a:lnSpc>
                <a:spcPts val="797"/>
              </a:lnSpc>
              <a:buNone/>
            </a:pPr>
            <a:r>
              <a:rPr lang="en-US" sz="600" dirty="0">
                <a:solidFill>
                  <a:srgbClr val="64748B"/>
                </a:solidFill>
                <a:latin typeface="Carlito" pitchFamily="34" charset="0"/>
                <a:ea typeface="Carlito" pitchFamily="34" charset="-122"/>
                <a:cs typeface="Carlito" pitchFamily="34" charset="-120"/>
              </a:rPr>
              <a:t>Kuantitatif poolable</a:t>
            </a:r>
            <a:endParaRPr lang="en-US" sz="600" dirty="0"/>
          </a:p>
        </p:txBody>
      </p:sp>
      <p:sp>
        <p:nvSpPr>
          <p:cNvPr id="51" name="Text 49"/>
          <p:cNvSpPr/>
          <p:nvPr/>
        </p:nvSpPr>
        <p:spPr>
          <a:xfrm>
            <a:off x="7057579" y="2472407"/>
            <a:ext cx="1629110" cy="1250156"/>
          </a:xfrm>
          <a:prstGeom prst="roundRect">
            <a:avLst>
              <a:gd name="adj" fmla="val 9143"/>
            </a:avLst>
          </a:prstGeom>
          <a:solidFill>
            <a:srgbClr val="E0ECEB"/>
          </a:solidFill>
          <a:ln/>
        </p:spPr>
        <p:txBody>
          <a:bodyPr wrap="square" rtlCol="0" anchor="ctr"/>
          <a:lstStyle/>
          <a:p>
            <a:pPr indent="0" marL="0">
              <a:buNone/>
            </a:pPr>
            <a:endParaRPr lang="en-US" dirty="0"/>
          </a:p>
        </p:txBody>
      </p:sp>
      <p:sp>
        <p:nvSpPr>
          <p:cNvPr id="52" name="Text 50"/>
          <p:cNvSpPr/>
          <p:nvPr/>
        </p:nvSpPr>
        <p:spPr>
          <a:xfrm>
            <a:off x="8486663" y="2543845"/>
            <a:ext cx="128588" cy="128588"/>
          </a:xfrm>
          <a:prstGeom prst="rect">
            <a:avLst/>
          </a:prstGeom>
          <a:noFill/>
          <a:ln/>
        </p:spPr>
        <p:txBody>
          <a:bodyPr wrap="none" lIns="0" tIns="0" rIns="0" bIns="0" rtlCol="0" anchor="ctr"/>
          <a:lstStyle/>
          <a:p>
            <a:pPr algn="ctr" indent="0" marL="0">
              <a:buNone/>
            </a:pPr>
            <a:r>
              <a:rPr lang="en-US" sz="1266" dirty="0">
                <a:solidFill>
                  <a:srgbClr val="134E4A"/>
                </a:solidFill>
                <a:latin typeface="Segoe UI Symbol" pitchFamily="34" charset="0"/>
                <a:ea typeface="Segoe UI Symbol" pitchFamily="34" charset="-122"/>
                <a:cs typeface="Segoe UI Symbol" pitchFamily="34" charset="-120"/>
              </a:rPr>
              <a:t>▦</a:t>
            </a:r>
            <a:endParaRPr lang="en-US" sz="1266" dirty="0"/>
          </a:p>
        </p:txBody>
      </p:sp>
      <p:sp>
        <p:nvSpPr>
          <p:cNvPr id="53" name="Text 51"/>
          <p:cNvSpPr/>
          <p:nvPr/>
        </p:nvSpPr>
        <p:spPr>
          <a:xfrm>
            <a:off x="7523379" y="2822004"/>
            <a:ext cx="697509" cy="277749"/>
          </a:xfrm>
          <a:prstGeom prst="rect">
            <a:avLst/>
          </a:prstGeom>
          <a:noFill/>
          <a:ln/>
        </p:spPr>
        <p:txBody>
          <a:bodyPr wrap="none" lIns="0" tIns="0" rIns="0" bIns="0" rtlCol="0" anchor="t"/>
          <a:lstStyle/>
          <a:p>
            <a:pPr algn="ctr" indent="0" marL="0">
              <a:lnSpc>
                <a:spcPts val="2025"/>
              </a:lnSpc>
              <a:buNone/>
            </a:pPr>
            <a:r>
              <a:rPr lang="en-US" sz="2025" b="1" spc="-61" kern="0" dirty="0">
                <a:solidFill>
                  <a:srgbClr val="134E4A"/>
                </a:solidFill>
                <a:latin typeface="Courier New" pitchFamily="34" charset="0"/>
                <a:ea typeface="Courier New" pitchFamily="34" charset="-122"/>
                <a:cs typeface="Courier New" pitchFamily="34" charset="-120"/>
              </a:rPr>
              <a:t>[N]</a:t>
            </a:r>
            <a:endParaRPr lang="en-US" sz="2025" dirty="0"/>
          </a:p>
        </p:txBody>
      </p:sp>
      <p:sp>
        <p:nvSpPr>
          <p:cNvPr id="54" name="Text 52"/>
          <p:cNvSpPr/>
          <p:nvPr/>
        </p:nvSpPr>
        <p:spPr>
          <a:xfrm>
            <a:off x="7548772" y="3136329"/>
            <a:ext cx="646611" cy="107853"/>
          </a:xfrm>
          <a:prstGeom prst="rect">
            <a:avLst/>
          </a:prstGeom>
          <a:noFill/>
          <a:ln/>
        </p:spPr>
        <p:txBody>
          <a:bodyPr wrap="none" lIns="0" tIns="0" rIns="0" bIns="0" rtlCol="0" anchor="t">
            <a:normAutofit/>
          </a:bodyPr>
          <a:lstStyle/>
          <a:p>
            <a:pPr algn="ctr" indent="0" marL="0">
              <a:lnSpc>
                <a:spcPts val="841"/>
              </a:lnSpc>
              <a:buNone/>
            </a:pPr>
            <a:r>
              <a:rPr lang="en-US" sz="800" spc="52" kern="0" dirty="0">
                <a:solidFill>
                  <a:srgbClr val="475569"/>
                </a:solidFill>
                <a:latin typeface="Carlito" pitchFamily="34" charset="0"/>
                <a:ea typeface="Carlito" pitchFamily="34" charset="-122"/>
                <a:cs typeface="Carlito" pitchFamily="34" charset="-120"/>
              </a:rPr>
              <a:t>DATABASE</a:t>
            </a:r>
            <a:endParaRPr lang="en-US" sz="800" dirty="0"/>
          </a:p>
        </p:txBody>
      </p:sp>
      <p:sp>
        <p:nvSpPr>
          <p:cNvPr id="55" name="Text 53"/>
          <p:cNvSpPr/>
          <p:nvPr/>
        </p:nvSpPr>
        <p:spPr>
          <a:xfrm>
            <a:off x="7490466" y="3271614"/>
            <a:ext cx="763334" cy="148100"/>
          </a:xfrm>
          <a:prstGeom prst="rect">
            <a:avLst/>
          </a:prstGeom>
          <a:noFill/>
          <a:ln/>
        </p:spPr>
        <p:txBody>
          <a:bodyPr wrap="none" lIns="0" tIns="0" rIns="0" bIns="0" rtlCol="0" anchor="t"/>
          <a:lstStyle/>
          <a:p>
            <a:pPr algn="ctr" indent="0" marL="0">
              <a:lnSpc>
                <a:spcPts val="797"/>
              </a:lnSpc>
              <a:buNone/>
            </a:pPr>
            <a:r>
              <a:rPr lang="en-US" sz="600" dirty="0">
                <a:solidFill>
                  <a:srgbClr val="64748B"/>
                </a:solidFill>
                <a:latin typeface="Carlito" pitchFamily="34" charset="0"/>
                <a:ea typeface="Carlito" pitchFamily="34" charset="-122"/>
                <a:cs typeface="Carlito" pitchFamily="34" charset="-120"/>
              </a:rPr>
              <a:t>[Nama database]</a:t>
            </a:r>
            <a:endParaRPr lang="en-US" sz="600" dirty="0"/>
          </a:p>
        </p:txBody>
      </p:sp>
      <p:sp>
        <p:nvSpPr>
          <p:cNvPr id="56" name="Text 54"/>
          <p:cNvSpPr/>
          <p:nvPr/>
        </p:nvSpPr>
        <p:spPr>
          <a:xfrm>
            <a:off x="457200" y="3822576"/>
            <a:ext cx="8229600" cy="153526"/>
          </a:xfrm>
          <a:prstGeom prst="rect">
            <a:avLst/>
          </a:prstGeom>
          <a:noFill/>
          <a:ln/>
        </p:spPr>
        <p:txBody>
          <a:bodyPr wrap="square" lIns="0" tIns="0" rIns="0" bIns="0" rtlCol="0" anchor="t"/>
          <a:lstStyle/>
          <a:p>
            <a:pPr algn="l" indent="0" marL="0">
              <a:lnSpc>
                <a:spcPts val="866"/>
              </a:lnSpc>
              <a:buNone/>
            </a:pPr>
            <a:r>
              <a:rPr lang="en-US" sz="800" i="1" dirty="0">
                <a:solidFill>
                  <a:srgbClr val="64748B"/>
                </a:solidFill>
                <a:latin typeface="Carlito" pitchFamily="34" charset="0"/>
                <a:ea typeface="Carlito" pitchFamily="34" charset="-122"/>
                <a:cs typeface="Carlito" pitchFamily="34" charset="-120"/>
              </a:rPr>
              <a:t>Template studi kasus — ganti placeholder </a:t>
            </a:r>
            <a:pPr algn="l" indent="0" marL="0">
              <a:lnSpc>
                <a:spcPts val="866"/>
              </a:lnSpc>
              <a:buNone/>
            </a:pPr>
            <a:r>
              <a:rPr lang="en-US" sz="800" i="1" dirty="0">
                <a:solidFill>
                  <a:srgbClr val="EA680C"/>
                </a:solidFill>
                <a:latin typeface="Courier New" pitchFamily="34" charset="0"/>
                <a:ea typeface="Courier New" pitchFamily="34" charset="-122"/>
                <a:cs typeface="Courier New" pitchFamily="34" charset="-120"/>
              </a:rPr>
              <a:t>[dalam kurung siku]</a:t>
            </a:r>
            <a:pPr algn="l" indent="0" marL="0">
              <a:lnSpc>
                <a:spcPts val="866"/>
              </a:lnSpc>
              <a:buNone/>
            </a:pPr>
            <a:r>
              <a:rPr lang="en-US" sz="800" i="1" dirty="0">
                <a:solidFill>
                  <a:srgbClr val="64748B"/>
                </a:solidFill>
                <a:latin typeface="Carlito" pitchFamily="34" charset="0"/>
                <a:ea typeface="Carlito" pitchFamily="34" charset="-122"/>
                <a:cs typeface="Carlito" pitchFamily="34" charset="-120"/>
              </a:rPr>
              <a:t> dengan data riset aktual Anda. Struktur mengikuti PRISMA 2020 (Page et al., 2021).</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8"/>
        </a:solidFill>
      </p:bgPr>
    </p:bg>
    <p:spTree>
      <p:nvGrpSpPr>
        <p:cNvPr id="1" name=""/>
        <p:cNvGrpSpPr/>
        <p:nvPr/>
      </p:nvGrpSpPr>
      <p:grpSpPr>
        <a:xfrm>
          <a:off x="0" y="0"/>
          <a:ext cx="0" cy="0"/>
          <a:chOff x="0" y="0"/>
          <a:chExt cx="0" cy="0"/>
        </a:xfrm>
      </p:grpSpPr>
      <p:sp>
        <p:nvSpPr>
          <p:cNvPr id="2" name="Text 0"/>
          <p:cNvSpPr/>
          <p:nvPr/>
        </p:nvSpPr>
        <p:spPr>
          <a:xfrm>
            <a:off x="7071512" y="-214312"/>
            <a:ext cx="2072488" cy="1234440"/>
          </a:xfrm>
          <a:prstGeom prst="rect">
            <a:avLst/>
          </a:prstGeom>
          <a:noFill/>
          <a:ln/>
        </p:spPr>
        <p:txBody>
          <a:bodyPr wrap="square" lIns="0" tIns="0" rIns="0" bIns="0" rtlCol="0" anchor="t"/>
          <a:lstStyle/>
          <a:p>
            <a:pPr algn="l" indent="0" marL="0">
              <a:lnSpc>
                <a:spcPts val="9000"/>
              </a:lnSpc>
              <a:buNone/>
            </a:pPr>
            <a:r>
              <a:rPr lang="en-US" sz="9000" dirty="0">
                <a:solidFill>
                  <a:srgbClr val="134E4A">
                    <a:alpha val="5000"/>
                  </a:srgbClr>
                </a:solidFill>
                <a:latin typeface="Liberation Sans Narrow" pitchFamily="34" charset="0"/>
                <a:ea typeface="Liberation Sans Narrow" pitchFamily="34" charset="-122"/>
                <a:cs typeface="Liberation Sans Narrow" pitchFamily="34" charset="-120"/>
              </a:rPr>
              <a:t>04</a:t>
            </a:r>
            <a:endParaRPr lang="en-US" sz="9000" dirty="0"/>
          </a:p>
        </p:txBody>
      </p:sp>
      <p:sp>
        <p:nvSpPr>
          <p:cNvPr id="3" name="Shape 1"/>
          <p:cNvSpPr/>
          <p:nvPr/>
        </p:nvSpPr>
        <p:spPr>
          <a:xfrm>
            <a:off x="457200" y="1135075"/>
            <a:ext cx="428625" cy="0"/>
          </a:xfrm>
          <a:prstGeom prst="line">
            <a:avLst/>
          </a:prstGeom>
          <a:noFill/>
          <a:ln w="21431">
            <a:solidFill>
              <a:srgbClr val="134E4A"/>
            </a:solidFill>
            <a:prstDash val="solid"/>
          </a:ln>
        </p:spPr>
      </p:sp>
      <p:sp>
        <p:nvSpPr>
          <p:cNvPr id="4" name="Shape 2"/>
          <p:cNvSpPr/>
          <p:nvPr/>
        </p:nvSpPr>
        <p:spPr>
          <a:xfrm>
            <a:off x="457200" y="1220800"/>
            <a:ext cx="4043363" cy="0"/>
          </a:xfrm>
          <a:prstGeom prst="line">
            <a:avLst/>
          </a:prstGeom>
          <a:noFill/>
          <a:ln w="7144">
            <a:solidFill>
              <a:srgbClr val="D8DEE2"/>
            </a:solidFill>
            <a:prstDash val="solid"/>
          </a:ln>
        </p:spPr>
      </p:sp>
      <p:sp>
        <p:nvSpPr>
          <p:cNvPr id="5" name="Shape 3"/>
          <p:cNvSpPr/>
          <p:nvPr/>
        </p:nvSpPr>
        <p:spPr>
          <a:xfrm>
            <a:off x="4496991" y="1217228"/>
            <a:ext cx="0" cy="2855491"/>
          </a:xfrm>
          <a:prstGeom prst="line">
            <a:avLst/>
          </a:prstGeom>
          <a:noFill/>
          <a:ln w="7144">
            <a:solidFill>
              <a:srgbClr val="D8DEE2"/>
            </a:solidFill>
            <a:prstDash val="solid"/>
          </a:ln>
        </p:spPr>
      </p:sp>
      <p:sp>
        <p:nvSpPr>
          <p:cNvPr id="6" name="Shape 4"/>
          <p:cNvSpPr/>
          <p:nvPr/>
        </p:nvSpPr>
        <p:spPr>
          <a:xfrm>
            <a:off x="457200" y="4069147"/>
            <a:ext cx="4043363" cy="0"/>
          </a:xfrm>
          <a:prstGeom prst="line">
            <a:avLst/>
          </a:prstGeom>
          <a:noFill/>
          <a:ln w="7144">
            <a:solidFill>
              <a:srgbClr val="D8DEE2"/>
            </a:solidFill>
            <a:prstDash val="solid"/>
          </a:ln>
        </p:spPr>
      </p:sp>
      <p:sp>
        <p:nvSpPr>
          <p:cNvPr id="7" name="Shape 5"/>
          <p:cNvSpPr/>
          <p:nvPr/>
        </p:nvSpPr>
        <p:spPr>
          <a:xfrm>
            <a:off x="471488" y="1217228"/>
            <a:ext cx="0" cy="2855491"/>
          </a:xfrm>
          <a:prstGeom prst="line">
            <a:avLst/>
          </a:prstGeom>
          <a:noFill/>
          <a:ln w="28575">
            <a:solidFill>
              <a:srgbClr val="134E4A"/>
            </a:solidFill>
            <a:prstDash val="solid"/>
          </a:ln>
        </p:spPr>
      </p:sp>
      <p:sp>
        <p:nvSpPr>
          <p:cNvPr id="8" name="Shape 6"/>
          <p:cNvSpPr/>
          <p:nvPr/>
        </p:nvSpPr>
        <p:spPr>
          <a:xfrm>
            <a:off x="642938" y="2262894"/>
            <a:ext cx="3693319" cy="0"/>
          </a:xfrm>
          <a:prstGeom prst="line">
            <a:avLst/>
          </a:prstGeom>
          <a:noFill/>
          <a:ln w="7144">
            <a:solidFill>
              <a:srgbClr val="E2E8F0"/>
            </a:solidFill>
            <a:prstDash val="solid"/>
          </a:ln>
        </p:spPr>
      </p:sp>
      <p:sp>
        <p:nvSpPr>
          <p:cNvPr id="9" name="Shape 7"/>
          <p:cNvSpPr/>
          <p:nvPr/>
        </p:nvSpPr>
        <p:spPr>
          <a:xfrm>
            <a:off x="642938" y="2858839"/>
            <a:ext cx="3693319" cy="0"/>
          </a:xfrm>
          <a:prstGeom prst="line">
            <a:avLst/>
          </a:prstGeom>
          <a:noFill/>
          <a:ln w="7144">
            <a:solidFill>
              <a:srgbClr val="E2E8F0"/>
            </a:solidFill>
            <a:prstDash val="solid"/>
          </a:ln>
        </p:spPr>
      </p:sp>
      <p:sp>
        <p:nvSpPr>
          <p:cNvPr id="10" name="Shape 8"/>
          <p:cNvSpPr/>
          <p:nvPr/>
        </p:nvSpPr>
        <p:spPr>
          <a:xfrm>
            <a:off x="642938" y="3310905"/>
            <a:ext cx="3693319" cy="0"/>
          </a:xfrm>
          <a:prstGeom prst="line">
            <a:avLst/>
          </a:prstGeom>
          <a:noFill/>
          <a:ln w="7144">
            <a:solidFill>
              <a:srgbClr val="E2E8F0"/>
            </a:solidFill>
            <a:prstDash val="solid"/>
          </a:ln>
        </p:spPr>
      </p:sp>
      <p:sp>
        <p:nvSpPr>
          <p:cNvPr id="11" name="Shape 9"/>
          <p:cNvSpPr/>
          <p:nvPr/>
        </p:nvSpPr>
        <p:spPr>
          <a:xfrm>
            <a:off x="4643438" y="1220800"/>
            <a:ext cx="4043363" cy="0"/>
          </a:xfrm>
          <a:prstGeom prst="line">
            <a:avLst/>
          </a:prstGeom>
          <a:noFill/>
          <a:ln w="7144">
            <a:solidFill>
              <a:srgbClr val="D8DEE2"/>
            </a:solidFill>
            <a:prstDash val="solid"/>
          </a:ln>
        </p:spPr>
      </p:sp>
      <p:sp>
        <p:nvSpPr>
          <p:cNvPr id="12" name="Shape 10"/>
          <p:cNvSpPr/>
          <p:nvPr/>
        </p:nvSpPr>
        <p:spPr>
          <a:xfrm>
            <a:off x="8683228" y="1217228"/>
            <a:ext cx="0" cy="2855491"/>
          </a:xfrm>
          <a:prstGeom prst="line">
            <a:avLst/>
          </a:prstGeom>
          <a:noFill/>
          <a:ln w="7144">
            <a:solidFill>
              <a:srgbClr val="D8DEE2"/>
            </a:solidFill>
            <a:prstDash val="solid"/>
          </a:ln>
        </p:spPr>
      </p:sp>
      <p:sp>
        <p:nvSpPr>
          <p:cNvPr id="13" name="Shape 11"/>
          <p:cNvSpPr/>
          <p:nvPr/>
        </p:nvSpPr>
        <p:spPr>
          <a:xfrm>
            <a:off x="4643438" y="4069147"/>
            <a:ext cx="4043363" cy="0"/>
          </a:xfrm>
          <a:prstGeom prst="line">
            <a:avLst/>
          </a:prstGeom>
          <a:noFill/>
          <a:ln w="7144">
            <a:solidFill>
              <a:srgbClr val="D8DEE2"/>
            </a:solidFill>
            <a:prstDash val="solid"/>
          </a:ln>
        </p:spPr>
      </p:sp>
      <p:sp>
        <p:nvSpPr>
          <p:cNvPr id="14" name="Shape 12"/>
          <p:cNvSpPr/>
          <p:nvPr/>
        </p:nvSpPr>
        <p:spPr>
          <a:xfrm>
            <a:off x="4657725" y="1217228"/>
            <a:ext cx="0" cy="2855491"/>
          </a:xfrm>
          <a:prstGeom prst="line">
            <a:avLst/>
          </a:prstGeom>
          <a:noFill/>
          <a:ln w="28575">
            <a:solidFill>
              <a:srgbClr val="F97316"/>
            </a:solidFill>
            <a:prstDash val="solid"/>
          </a:ln>
        </p:spPr>
      </p:sp>
      <p:sp>
        <p:nvSpPr>
          <p:cNvPr id="15" name="Shape 13"/>
          <p:cNvSpPr/>
          <p:nvPr/>
        </p:nvSpPr>
        <p:spPr>
          <a:xfrm>
            <a:off x="4829175" y="2160873"/>
            <a:ext cx="3693319" cy="0"/>
          </a:xfrm>
          <a:prstGeom prst="line">
            <a:avLst/>
          </a:prstGeom>
          <a:noFill/>
          <a:ln w="7144">
            <a:solidFill>
              <a:srgbClr val="E2E8F0"/>
            </a:solidFill>
            <a:prstDash val="solid"/>
          </a:ln>
        </p:spPr>
      </p:sp>
      <p:sp>
        <p:nvSpPr>
          <p:cNvPr id="16" name="Shape 14"/>
          <p:cNvSpPr/>
          <p:nvPr/>
        </p:nvSpPr>
        <p:spPr>
          <a:xfrm>
            <a:off x="4829175" y="2612938"/>
            <a:ext cx="3693319" cy="0"/>
          </a:xfrm>
          <a:prstGeom prst="line">
            <a:avLst/>
          </a:prstGeom>
          <a:noFill/>
          <a:ln w="7144">
            <a:solidFill>
              <a:srgbClr val="E2E8F0"/>
            </a:solidFill>
            <a:prstDash val="solid"/>
          </a:ln>
        </p:spPr>
      </p:sp>
      <p:sp>
        <p:nvSpPr>
          <p:cNvPr id="17" name="Shape 15"/>
          <p:cNvSpPr/>
          <p:nvPr/>
        </p:nvSpPr>
        <p:spPr>
          <a:xfrm>
            <a:off x="4829175" y="3065004"/>
            <a:ext cx="3693319" cy="0"/>
          </a:xfrm>
          <a:prstGeom prst="line">
            <a:avLst/>
          </a:prstGeom>
          <a:noFill/>
          <a:ln w="7144">
            <a:solidFill>
              <a:srgbClr val="E2E8F0"/>
            </a:solidFill>
            <a:prstDash val="solid"/>
          </a:ln>
        </p:spPr>
      </p:sp>
      <p:sp>
        <p:nvSpPr>
          <p:cNvPr id="18" name="Shape 16"/>
          <p:cNvSpPr/>
          <p:nvPr/>
        </p:nvSpPr>
        <p:spPr>
          <a:xfrm>
            <a:off x="4829175" y="3517069"/>
            <a:ext cx="3693319" cy="0"/>
          </a:xfrm>
          <a:prstGeom prst="line">
            <a:avLst/>
          </a:prstGeom>
          <a:noFill/>
          <a:ln w="7144">
            <a:solidFill>
              <a:srgbClr val="E2E8F0"/>
            </a:solidFill>
            <a:prstDash val="solid"/>
          </a:ln>
        </p:spPr>
      </p:sp>
      <p:sp>
        <p:nvSpPr>
          <p:cNvPr id="19" name="Text 17"/>
          <p:cNvSpPr/>
          <p:nvPr/>
        </p:nvSpPr>
        <p:spPr>
          <a:xfrm>
            <a:off x="457200" y="171450"/>
            <a:ext cx="2030611" cy="189979"/>
          </a:xfrm>
          <a:prstGeom prst="roundRect">
            <a:avLst>
              <a:gd name="adj" fmla="val 5008698"/>
            </a:avLst>
          </a:prstGeom>
          <a:solidFill>
            <a:srgbClr val="E0ECEB"/>
          </a:solidFill>
          <a:ln/>
        </p:spPr>
        <p:txBody>
          <a:bodyPr wrap="square" rtlCol="0" anchor="ctr"/>
          <a:lstStyle/>
          <a:p>
            <a:pPr indent="0" marL="0">
              <a:buNone/>
            </a:pPr>
            <a:endParaRPr lang="en-US" dirty="0"/>
          </a:p>
        </p:txBody>
      </p:sp>
      <p:sp>
        <p:nvSpPr>
          <p:cNvPr id="20" name="Text 18"/>
          <p:cNvSpPr/>
          <p:nvPr/>
        </p:nvSpPr>
        <p:spPr>
          <a:xfrm>
            <a:off x="457200" y="171450"/>
            <a:ext cx="2030611" cy="243173"/>
          </a:xfrm>
          <a:prstGeom prst="rect">
            <a:avLst/>
          </a:prstGeom>
          <a:noFill/>
          <a:ln/>
        </p:spPr>
        <p:txBody>
          <a:bodyPr wrap="none" lIns="71438" tIns="28575" rIns="71438" bIns="28575" rtlCol="0" anchor="t"/>
          <a:lstStyle/>
          <a:p>
            <a:pPr algn="l" indent="0" marL="0">
              <a:lnSpc>
                <a:spcPts val="1046"/>
              </a:lnSpc>
              <a:buNone/>
            </a:pPr>
            <a:r>
              <a:rPr lang="en-US" sz="800" spc="27" kern="0" dirty="0">
                <a:solidFill>
                  <a:srgbClr val="134E4A"/>
                </a:solidFill>
                <a:latin typeface="Liberation Sans Narrow" pitchFamily="34" charset="0"/>
                <a:ea typeface="Liberation Sans Narrow" pitchFamily="34" charset="-122"/>
                <a:cs typeface="Liberation Sans Narrow" pitchFamily="34" charset="-120"/>
              </a:rPr>
              <a:t>BAB 04 · PROSEDUR PRA-SCREENING</a:t>
            </a:r>
            <a:endParaRPr lang="en-US" sz="800" dirty="0"/>
          </a:p>
        </p:txBody>
      </p:sp>
      <p:sp>
        <p:nvSpPr>
          <p:cNvPr id="21" name="Text 19"/>
          <p:cNvSpPr/>
          <p:nvPr/>
        </p:nvSpPr>
        <p:spPr>
          <a:xfrm>
            <a:off x="8279271" y="188975"/>
            <a:ext cx="554239" cy="169980"/>
          </a:xfrm>
          <a:prstGeom prst="rect">
            <a:avLst/>
          </a:prstGeom>
          <a:noFill/>
          <a:ln/>
        </p:spPr>
        <p:txBody>
          <a:bodyPr wrap="none" lIns="0" tIns="0" rIns="0" bIns="0" rtlCol="0" anchor="t"/>
          <a:lstStyle/>
          <a:p>
            <a:pPr algn="l" indent="0" marL="0">
              <a:lnSpc>
                <a:spcPts val="1221"/>
              </a:lnSpc>
              <a:buNone/>
            </a:pPr>
            <a:r>
              <a:rPr lang="en-US" sz="800" spc="-16" kern="0" dirty="0">
                <a:solidFill>
                  <a:srgbClr val="64748B"/>
                </a:solidFill>
                <a:latin typeface="Liberation Sans Narrow" pitchFamily="34" charset="0"/>
                <a:ea typeface="Liberation Sans Narrow" pitchFamily="34" charset="-122"/>
                <a:cs typeface="Liberation Sans Narrow" pitchFamily="34" charset="-120"/>
              </a:rPr>
              <a:t>15 / 18</a:t>
            </a:r>
            <a:endParaRPr lang="en-US" sz="800" dirty="0"/>
          </a:p>
        </p:txBody>
      </p:sp>
      <p:sp>
        <p:nvSpPr>
          <p:cNvPr id="22" name="Text 20"/>
          <p:cNvSpPr/>
          <p:nvPr/>
        </p:nvSpPr>
        <p:spPr>
          <a:xfrm>
            <a:off x="457200" y="447154"/>
            <a:ext cx="8636000" cy="278298"/>
          </a:xfrm>
          <a:prstGeom prst="rect">
            <a:avLst/>
          </a:prstGeom>
          <a:noFill/>
          <a:ln/>
        </p:spPr>
        <p:txBody>
          <a:bodyPr wrap="square" lIns="0" tIns="0" rIns="0" bIns="0" rtlCol="0" anchor="t">
            <a:normAutofit/>
          </a:bodyPr>
          <a:lstStyle/>
          <a:p>
            <a:pPr algn="l" indent="0" marL="0">
              <a:lnSpc>
                <a:spcPts val="2070"/>
              </a:lnSpc>
              <a:buNone/>
            </a:pPr>
            <a:r>
              <a:rPr lang="en-US" sz="1800" spc="-18" kern="0" dirty="0">
                <a:solidFill>
                  <a:srgbClr val="134E4A"/>
                </a:solidFill>
                <a:latin typeface="Tinos" pitchFamily="34" charset="0"/>
                <a:ea typeface="Tinos" pitchFamily="34" charset="-122"/>
                <a:cs typeface="Tinos" pitchFamily="34" charset="-120"/>
              </a:rPr>
              <a:t>Pendaftaran Protokol di PROSPERO</a:t>
            </a:r>
            <a:endParaRPr lang="en-US" sz="1800" dirty="0"/>
          </a:p>
        </p:txBody>
      </p:sp>
      <p:sp>
        <p:nvSpPr>
          <p:cNvPr id="23" name="Text 21"/>
          <p:cNvSpPr/>
          <p:nvPr/>
        </p:nvSpPr>
        <p:spPr>
          <a:xfrm>
            <a:off x="457200" y="752884"/>
            <a:ext cx="7858125" cy="329184"/>
          </a:xfrm>
          <a:prstGeom prst="rect">
            <a:avLst/>
          </a:prstGeom>
          <a:noFill/>
          <a:ln/>
        </p:spPr>
        <p:txBody>
          <a:bodyPr wrap="square" lIns="0" tIns="0" rIns="0" bIns="0" rtlCol="0" anchor="t"/>
          <a:lstStyle/>
          <a:p>
            <a:pPr algn="l" indent="0" marL="0">
              <a:lnSpc>
                <a:spcPts val="1181"/>
              </a:lnSpc>
              <a:buNone/>
            </a:pPr>
            <a:r>
              <a:rPr lang="en-US" sz="800" dirty="0">
                <a:solidFill>
                  <a:srgbClr val="475569"/>
                </a:solidFill>
                <a:latin typeface="Carlito" pitchFamily="34" charset="0"/>
                <a:ea typeface="Carlito" pitchFamily="34" charset="-122"/>
                <a:cs typeface="Carlito" pitchFamily="34" charset="-120"/>
              </a:rPr>
              <a:t>International Prospective Register of Systematic Reviews — daftarkan protokol sebelum screening dimulai untuk mencegah bias reporting dan duplikasi upaya penelitian.</a:t>
            </a:r>
            <a:endParaRPr lang="en-US" sz="800" dirty="0"/>
          </a:p>
        </p:txBody>
      </p:sp>
      <p:sp>
        <p:nvSpPr>
          <p:cNvPr id="24" name="Text 22"/>
          <p:cNvSpPr/>
          <p:nvPr/>
        </p:nvSpPr>
        <p:spPr>
          <a:xfrm>
            <a:off x="457200" y="1217228"/>
            <a:ext cx="4043363" cy="2855491"/>
          </a:xfrm>
          <a:prstGeom prst="roundRect">
            <a:avLst>
              <a:gd name="adj" fmla="val 4003"/>
            </a:avLst>
          </a:prstGeom>
          <a:solidFill>
            <a:srgbClr val="FFFFFF"/>
          </a:solidFill>
          <a:ln/>
        </p:spPr>
        <p:txBody>
          <a:bodyPr wrap="square" rtlCol="0" anchor="ctr"/>
          <a:lstStyle/>
          <a:p>
            <a:pPr indent="0" marL="0">
              <a:buNone/>
            </a:pPr>
            <a:endParaRPr lang="en-US" dirty="0"/>
          </a:p>
        </p:txBody>
      </p:sp>
      <p:sp>
        <p:nvSpPr>
          <p:cNvPr id="25" name="Text 23"/>
          <p:cNvSpPr/>
          <p:nvPr/>
        </p:nvSpPr>
        <p:spPr>
          <a:xfrm>
            <a:off x="620078" y="1341561"/>
            <a:ext cx="1173540" cy="212777"/>
          </a:xfrm>
          <a:prstGeom prst="roundRect">
            <a:avLst>
              <a:gd name="adj" fmla="val 4472041"/>
            </a:avLst>
          </a:prstGeom>
          <a:solidFill>
            <a:srgbClr val="E0ECEB"/>
          </a:solidFill>
          <a:ln/>
        </p:spPr>
        <p:txBody>
          <a:bodyPr wrap="square" rtlCol="0" anchor="ctr"/>
          <a:lstStyle/>
          <a:p>
            <a:pPr indent="0" marL="0">
              <a:buNone/>
            </a:pPr>
            <a:endParaRPr lang="en-US" dirty="0"/>
          </a:p>
        </p:txBody>
      </p:sp>
      <p:sp>
        <p:nvSpPr>
          <p:cNvPr id="26" name="Text 24"/>
          <p:cNvSpPr/>
          <p:nvPr/>
        </p:nvSpPr>
        <p:spPr>
          <a:xfrm>
            <a:off x="642938" y="1352959"/>
            <a:ext cx="1127820" cy="189979"/>
          </a:xfrm>
          <a:prstGeom prst="rect">
            <a:avLst/>
          </a:prstGeom>
          <a:noFill/>
          <a:ln/>
        </p:spPr>
        <p:txBody>
          <a:bodyPr wrap="none" lIns="0" tIns="0" rIns="0" bIns="0" rtlCol="0" anchor="ctr"/>
          <a:lstStyle/>
          <a:p>
            <a:pPr algn="ctr" indent="0" marL="0">
              <a:lnSpc>
                <a:spcPts val="1046"/>
              </a:lnSpc>
              <a:buNone/>
            </a:pPr>
            <a:r>
              <a:rPr lang="en-US" sz="800" spc="27" kern="0" dirty="0">
                <a:solidFill>
                  <a:srgbClr val="134E4A"/>
                </a:solidFill>
                <a:latin typeface="Carlito" pitchFamily="34" charset="0"/>
                <a:ea typeface="Carlito" pitchFamily="34" charset="-122"/>
                <a:cs typeface="Carlito" pitchFamily="34" charset="-120"/>
              </a:rPr>
              <a:t>MENGAPA DAFTAR?</a:t>
            </a:r>
            <a:endParaRPr lang="en-US" sz="800" dirty="0"/>
          </a:p>
        </p:txBody>
      </p:sp>
      <p:sp>
        <p:nvSpPr>
          <p:cNvPr id="27" name="Text 25"/>
          <p:cNvSpPr/>
          <p:nvPr/>
        </p:nvSpPr>
        <p:spPr>
          <a:xfrm>
            <a:off x="4179094" y="1369368"/>
            <a:ext cx="157163" cy="157163"/>
          </a:xfrm>
          <a:prstGeom prst="rect">
            <a:avLst/>
          </a:prstGeom>
          <a:noFill/>
          <a:ln/>
        </p:spPr>
        <p:txBody>
          <a:bodyPr wrap="none" lIns="0" tIns="0" rIns="0" bIns="0" rtlCol="0" anchor="ctr"/>
          <a:lstStyle/>
          <a:p>
            <a:pPr algn="ctr" indent="0" marL="0">
              <a:buNone/>
            </a:pPr>
            <a:r>
              <a:rPr lang="en-US" sz="1547" dirty="0">
                <a:solidFill>
                  <a:srgbClr val="134E4A"/>
                </a:solidFill>
                <a:latin typeface="Segoe UI Symbol" pitchFamily="34" charset="0"/>
                <a:ea typeface="Segoe UI Symbol" pitchFamily="34" charset="-122"/>
                <a:cs typeface="Segoe UI Symbol" pitchFamily="34" charset="-120"/>
              </a:rPr>
              <a:t>⛨</a:t>
            </a:r>
            <a:endParaRPr lang="en-US" sz="1547" dirty="0"/>
          </a:p>
        </p:txBody>
      </p:sp>
      <p:sp>
        <p:nvSpPr>
          <p:cNvPr id="28" name="Text 26"/>
          <p:cNvSpPr/>
          <p:nvPr/>
        </p:nvSpPr>
        <p:spPr>
          <a:xfrm>
            <a:off x="642938" y="1600088"/>
            <a:ext cx="3693319" cy="185166"/>
          </a:xfrm>
          <a:prstGeom prst="rect">
            <a:avLst/>
          </a:prstGeom>
          <a:noFill/>
          <a:ln/>
        </p:spPr>
        <p:txBody>
          <a:bodyPr wrap="none" lIns="0" tIns="0" rIns="0" bIns="0" rtlCol="0" anchor="t"/>
          <a:lstStyle/>
          <a:p>
            <a:pPr algn="l" indent="0" marL="0">
              <a:lnSpc>
                <a:spcPts val="1350"/>
              </a:lnSpc>
              <a:buNone/>
            </a:pPr>
            <a:r>
              <a:rPr lang="en-US" sz="1125" dirty="0">
                <a:solidFill>
                  <a:srgbClr val="134E4A"/>
                </a:solidFill>
                <a:latin typeface="Tinos" pitchFamily="34" charset="0"/>
                <a:ea typeface="Tinos" pitchFamily="34" charset="-122"/>
                <a:cs typeface="Tinos" pitchFamily="34" charset="-120"/>
              </a:rPr>
              <a:t>Empat Alasan Wajib</a:t>
            </a:r>
            <a:endParaRPr lang="en-US" sz="1125" dirty="0"/>
          </a:p>
        </p:txBody>
      </p:sp>
      <p:sp>
        <p:nvSpPr>
          <p:cNvPr id="29" name="Text 27"/>
          <p:cNvSpPr/>
          <p:nvPr/>
        </p:nvSpPr>
        <p:spPr>
          <a:xfrm>
            <a:off x="642938" y="1885838"/>
            <a:ext cx="185738" cy="185738"/>
          </a:xfrm>
          <a:prstGeom prst="ellipse">
            <a:avLst/>
          </a:prstGeom>
          <a:solidFill>
            <a:srgbClr val="E0ECEB"/>
          </a:solidFill>
          <a:ln/>
        </p:spPr>
        <p:txBody>
          <a:bodyPr wrap="square" rtlCol="0" anchor="ctr"/>
          <a:lstStyle/>
          <a:p>
            <a:pPr indent="0" marL="0">
              <a:buNone/>
            </a:pPr>
            <a:endParaRPr lang="en-US" dirty="0"/>
          </a:p>
        </p:txBody>
      </p:sp>
      <p:sp>
        <p:nvSpPr>
          <p:cNvPr id="30" name="Text 28"/>
          <p:cNvSpPr/>
          <p:nvPr/>
        </p:nvSpPr>
        <p:spPr>
          <a:xfrm>
            <a:off x="642938" y="1885838"/>
            <a:ext cx="228600" cy="185738"/>
          </a:xfrm>
          <a:prstGeom prst="rect">
            <a:avLst/>
          </a:prstGeom>
          <a:noFill/>
          <a:ln/>
        </p:spPr>
        <p:txBody>
          <a:bodyPr wrap="none" lIns="0" tIns="0" rIns="0" bIns="0" rtlCol="0" anchor="ctr"/>
          <a:lstStyle/>
          <a:p>
            <a:pPr algn="ctr" indent="0" marL="0">
              <a:lnSpc>
                <a:spcPts val="1133"/>
              </a:lnSpc>
              <a:buNone/>
            </a:pPr>
            <a:r>
              <a:rPr lang="en-US" sz="800" b="1" dirty="0">
                <a:solidFill>
                  <a:srgbClr val="134E4A"/>
                </a:solidFill>
                <a:latin typeface="Liberation Sans Narrow" pitchFamily="34" charset="0"/>
                <a:ea typeface="Liberation Sans Narrow" pitchFamily="34" charset="-122"/>
                <a:cs typeface="Liberation Sans Narrow" pitchFamily="34" charset="-120"/>
              </a:rPr>
              <a:t>01</a:t>
            </a:r>
            <a:endParaRPr lang="en-US" sz="800" dirty="0"/>
          </a:p>
        </p:txBody>
      </p:sp>
      <p:sp>
        <p:nvSpPr>
          <p:cNvPr id="31" name="Text 29"/>
          <p:cNvSpPr/>
          <p:nvPr/>
        </p:nvSpPr>
        <p:spPr>
          <a:xfrm>
            <a:off x="914400" y="1885838"/>
            <a:ext cx="3421856" cy="339999"/>
          </a:xfrm>
          <a:prstGeom prst="rect">
            <a:avLst/>
          </a:prstGeom>
          <a:noFill/>
          <a:ln/>
        </p:spPr>
        <p:txBody>
          <a:bodyPr wrap="square" lIns="0" tIns="0" rIns="0" bIns="0" rtlCol="0" anchor="t"/>
          <a:lstStyle/>
          <a:p>
            <a:pPr algn="l" indent="0" marL="0">
              <a:lnSpc>
                <a:spcPts val="1133"/>
              </a:lnSpc>
              <a:buNone/>
            </a:pPr>
            <a:r>
              <a:rPr lang="en-US" sz="800" dirty="0">
                <a:solidFill>
                  <a:srgbClr val="134E4A"/>
                </a:solidFill>
                <a:latin typeface="Carlito" pitchFamily="34" charset="0"/>
                <a:ea typeface="Carlito" pitchFamily="34" charset="-122"/>
                <a:cs typeface="Carlito" pitchFamily="34" charset="-120"/>
              </a:rPr>
              <a:t>Prevent Duplication</a:t>
            </a:r>
            <a:pPr algn="l" indent="0" marL="0">
              <a:lnSpc>
                <a:spcPts val="1133"/>
              </a:lnSpc>
              <a:buNone/>
            </a:pPr>
            <a:r>
              <a:rPr lang="en-US" sz="800" dirty="0">
                <a:solidFill>
                  <a:srgbClr val="0F172A"/>
                </a:solidFill>
                <a:latin typeface="Carlito" pitchFamily="34" charset="0"/>
                <a:ea typeface="Carlito" pitchFamily="34" charset="-122"/>
                <a:cs typeface="Carlito" pitchFamily="34" charset="-120"/>
              </a:rPr>
              <a:t> — Hindari duplikasi upaya review dengan tim peneliti lain yang mengerjakan topik serupa, hemat sumber daya riset.</a:t>
            </a:r>
            <a:endParaRPr lang="en-US" sz="800" dirty="0"/>
          </a:p>
        </p:txBody>
      </p:sp>
      <p:sp>
        <p:nvSpPr>
          <p:cNvPr id="32" name="Text 30"/>
          <p:cNvSpPr/>
          <p:nvPr/>
        </p:nvSpPr>
        <p:spPr>
          <a:xfrm>
            <a:off x="642938" y="2337904"/>
            <a:ext cx="185738" cy="185738"/>
          </a:xfrm>
          <a:prstGeom prst="ellipse">
            <a:avLst/>
          </a:prstGeom>
          <a:solidFill>
            <a:srgbClr val="E0ECEB"/>
          </a:solidFill>
          <a:ln/>
        </p:spPr>
        <p:txBody>
          <a:bodyPr wrap="square" rtlCol="0" anchor="ctr"/>
          <a:lstStyle/>
          <a:p>
            <a:pPr indent="0" marL="0">
              <a:buNone/>
            </a:pPr>
            <a:endParaRPr lang="en-US" dirty="0"/>
          </a:p>
        </p:txBody>
      </p:sp>
      <p:sp>
        <p:nvSpPr>
          <p:cNvPr id="33" name="Text 31"/>
          <p:cNvSpPr/>
          <p:nvPr/>
        </p:nvSpPr>
        <p:spPr>
          <a:xfrm>
            <a:off x="642938" y="2337904"/>
            <a:ext cx="228600" cy="185738"/>
          </a:xfrm>
          <a:prstGeom prst="rect">
            <a:avLst/>
          </a:prstGeom>
          <a:noFill/>
          <a:ln/>
        </p:spPr>
        <p:txBody>
          <a:bodyPr wrap="none" lIns="0" tIns="0" rIns="0" bIns="0" rtlCol="0" anchor="ctr"/>
          <a:lstStyle/>
          <a:p>
            <a:pPr algn="ctr" indent="0" marL="0">
              <a:lnSpc>
                <a:spcPts val="1133"/>
              </a:lnSpc>
              <a:buNone/>
            </a:pPr>
            <a:r>
              <a:rPr lang="en-US" sz="800" b="1" dirty="0">
                <a:solidFill>
                  <a:srgbClr val="134E4A"/>
                </a:solidFill>
                <a:latin typeface="Liberation Sans Narrow" pitchFamily="34" charset="0"/>
                <a:ea typeface="Liberation Sans Narrow" pitchFamily="34" charset="-122"/>
                <a:cs typeface="Liberation Sans Narrow" pitchFamily="34" charset="-120"/>
              </a:rPr>
              <a:t>02</a:t>
            </a:r>
            <a:endParaRPr lang="en-US" sz="800" dirty="0"/>
          </a:p>
        </p:txBody>
      </p:sp>
      <p:sp>
        <p:nvSpPr>
          <p:cNvPr id="34" name="Text 32"/>
          <p:cNvSpPr/>
          <p:nvPr/>
        </p:nvSpPr>
        <p:spPr>
          <a:xfrm>
            <a:off x="914400" y="2337904"/>
            <a:ext cx="3421856" cy="431639"/>
          </a:xfrm>
          <a:prstGeom prst="rect">
            <a:avLst/>
          </a:prstGeom>
          <a:noFill/>
          <a:ln/>
        </p:spPr>
        <p:txBody>
          <a:bodyPr wrap="square" lIns="0" tIns="0" rIns="0" bIns="0" rtlCol="0" anchor="t"/>
          <a:lstStyle/>
          <a:p>
            <a:pPr algn="l" indent="0" marL="0">
              <a:lnSpc>
                <a:spcPts val="1133"/>
              </a:lnSpc>
              <a:buNone/>
            </a:pPr>
            <a:r>
              <a:rPr lang="en-US" sz="800" dirty="0">
                <a:solidFill>
                  <a:srgbClr val="134E4A"/>
                </a:solidFill>
                <a:latin typeface="Carlito" pitchFamily="34" charset="0"/>
                <a:ea typeface="Carlito" pitchFamily="34" charset="-122"/>
                <a:cs typeface="Carlito" pitchFamily="34" charset="-120"/>
              </a:rPr>
              <a:t>Reduce Reporting Bias</a:t>
            </a:r>
            <a:pPr algn="l" indent="0" marL="0">
              <a:lnSpc>
                <a:spcPts val="1133"/>
              </a:lnSpc>
              <a:buNone/>
            </a:pPr>
            <a:r>
              <a:rPr lang="en-US" sz="800" dirty="0">
                <a:solidFill>
                  <a:srgbClr val="0F172A"/>
                </a:solidFill>
                <a:latin typeface="Carlito" pitchFamily="34" charset="0"/>
                <a:ea typeface="Carlito" pitchFamily="34" charset="-122"/>
                <a:cs typeface="Carlito" pitchFamily="34" charset="-120"/>
              </a:rPr>
              <a:t> — Protokol terdokumentasi sebelum hasil diketahui, sehingga keputusan metodologis tidak dipengaruhi temuan akhir.</a:t>
            </a:r>
            <a:endParaRPr lang="en-US" sz="800" dirty="0"/>
          </a:p>
        </p:txBody>
      </p:sp>
      <p:sp>
        <p:nvSpPr>
          <p:cNvPr id="35" name="Text 33"/>
          <p:cNvSpPr/>
          <p:nvPr/>
        </p:nvSpPr>
        <p:spPr>
          <a:xfrm>
            <a:off x="642938" y="2933849"/>
            <a:ext cx="185738" cy="185738"/>
          </a:xfrm>
          <a:prstGeom prst="ellipse">
            <a:avLst/>
          </a:prstGeom>
          <a:solidFill>
            <a:srgbClr val="E0ECEB"/>
          </a:solidFill>
          <a:ln/>
        </p:spPr>
        <p:txBody>
          <a:bodyPr wrap="square" rtlCol="0" anchor="ctr"/>
          <a:lstStyle/>
          <a:p>
            <a:pPr indent="0" marL="0">
              <a:buNone/>
            </a:pPr>
            <a:endParaRPr lang="en-US" dirty="0"/>
          </a:p>
        </p:txBody>
      </p:sp>
      <p:sp>
        <p:nvSpPr>
          <p:cNvPr id="36" name="Text 34"/>
          <p:cNvSpPr/>
          <p:nvPr/>
        </p:nvSpPr>
        <p:spPr>
          <a:xfrm>
            <a:off x="642938" y="2933849"/>
            <a:ext cx="228600" cy="185738"/>
          </a:xfrm>
          <a:prstGeom prst="rect">
            <a:avLst/>
          </a:prstGeom>
          <a:noFill/>
          <a:ln/>
        </p:spPr>
        <p:txBody>
          <a:bodyPr wrap="none" lIns="0" tIns="0" rIns="0" bIns="0" rtlCol="0" anchor="ctr"/>
          <a:lstStyle/>
          <a:p>
            <a:pPr algn="ctr" indent="0" marL="0">
              <a:lnSpc>
                <a:spcPts val="1133"/>
              </a:lnSpc>
              <a:buNone/>
            </a:pPr>
            <a:r>
              <a:rPr lang="en-US" sz="800" b="1" dirty="0">
                <a:solidFill>
                  <a:srgbClr val="134E4A"/>
                </a:solidFill>
                <a:latin typeface="Liberation Sans Narrow" pitchFamily="34" charset="0"/>
                <a:ea typeface="Liberation Sans Narrow" pitchFamily="34" charset="-122"/>
                <a:cs typeface="Liberation Sans Narrow" pitchFamily="34" charset="-120"/>
              </a:rPr>
              <a:t>03</a:t>
            </a:r>
            <a:endParaRPr lang="en-US" sz="800" dirty="0"/>
          </a:p>
        </p:txBody>
      </p:sp>
      <p:sp>
        <p:nvSpPr>
          <p:cNvPr id="37" name="Text 35"/>
          <p:cNvSpPr/>
          <p:nvPr/>
        </p:nvSpPr>
        <p:spPr>
          <a:xfrm>
            <a:off x="914400" y="2933849"/>
            <a:ext cx="3421856" cy="287759"/>
          </a:xfrm>
          <a:prstGeom prst="rect">
            <a:avLst/>
          </a:prstGeom>
          <a:noFill/>
          <a:ln/>
        </p:spPr>
        <p:txBody>
          <a:bodyPr wrap="square" lIns="0" tIns="0" rIns="0" bIns="0" rtlCol="0" anchor="t"/>
          <a:lstStyle/>
          <a:p>
            <a:pPr algn="l" indent="0" marL="0">
              <a:lnSpc>
                <a:spcPts val="1133"/>
              </a:lnSpc>
              <a:buNone/>
            </a:pPr>
            <a:r>
              <a:rPr lang="en-US" sz="800" dirty="0">
                <a:solidFill>
                  <a:srgbClr val="134E4A"/>
                </a:solidFill>
                <a:latin typeface="Carlito" pitchFamily="34" charset="0"/>
                <a:ea typeface="Carlito" pitchFamily="34" charset="-122"/>
                <a:cs typeface="Carlito" pitchFamily="34" charset="-120"/>
              </a:rPr>
              <a:t>Boost Credibility</a:t>
            </a:r>
            <a:pPr algn="l" indent="0" marL="0">
              <a:lnSpc>
                <a:spcPts val="1133"/>
              </a:lnSpc>
              <a:buNone/>
            </a:pPr>
            <a:r>
              <a:rPr lang="en-US" sz="800" dirty="0">
                <a:solidFill>
                  <a:srgbClr val="0F172A"/>
                </a:solidFill>
                <a:latin typeface="Carlito" pitchFamily="34" charset="0"/>
                <a:ea typeface="Carlito" pitchFamily="34" charset="-122"/>
                <a:cs typeface="Carlito" pitchFamily="34" charset="-120"/>
              </a:rPr>
              <a:t> — Meningkatkan kepercayaan reviewer jurnal dan memenuhi syarat indeksasi banyak jurnal Q1/Q2 bereputasi.</a:t>
            </a:r>
            <a:endParaRPr lang="en-US" sz="800" dirty="0"/>
          </a:p>
        </p:txBody>
      </p:sp>
      <p:sp>
        <p:nvSpPr>
          <p:cNvPr id="38" name="Text 36"/>
          <p:cNvSpPr/>
          <p:nvPr/>
        </p:nvSpPr>
        <p:spPr>
          <a:xfrm>
            <a:off x="642938" y="3385914"/>
            <a:ext cx="185738" cy="185738"/>
          </a:xfrm>
          <a:prstGeom prst="ellipse">
            <a:avLst/>
          </a:prstGeom>
          <a:solidFill>
            <a:srgbClr val="E0ECEB"/>
          </a:solidFill>
          <a:ln/>
        </p:spPr>
        <p:txBody>
          <a:bodyPr wrap="square" rtlCol="0" anchor="ctr"/>
          <a:lstStyle/>
          <a:p>
            <a:pPr indent="0" marL="0">
              <a:buNone/>
            </a:pPr>
            <a:endParaRPr lang="en-US" dirty="0"/>
          </a:p>
        </p:txBody>
      </p:sp>
      <p:sp>
        <p:nvSpPr>
          <p:cNvPr id="39" name="Text 37"/>
          <p:cNvSpPr/>
          <p:nvPr/>
        </p:nvSpPr>
        <p:spPr>
          <a:xfrm>
            <a:off x="642938" y="3385914"/>
            <a:ext cx="228600" cy="185738"/>
          </a:xfrm>
          <a:prstGeom prst="rect">
            <a:avLst/>
          </a:prstGeom>
          <a:noFill/>
          <a:ln/>
        </p:spPr>
        <p:txBody>
          <a:bodyPr wrap="none" lIns="0" tIns="0" rIns="0" bIns="0" rtlCol="0" anchor="ctr"/>
          <a:lstStyle/>
          <a:p>
            <a:pPr algn="ctr" indent="0" marL="0">
              <a:lnSpc>
                <a:spcPts val="1133"/>
              </a:lnSpc>
              <a:buNone/>
            </a:pPr>
            <a:r>
              <a:rPr lang="en-US" sz="800" b="1" dirty="0">
                <a:solidFill>
                  <a:srgbClr val="134E4A"/>
                </a:solidFill>
                <a:latin typeface="Liberation Sans Narrow" pitchFamily="34" charset="0"/>
                <a:ea typeface="Liberation Sans Narrow" pitchFamily="34" charset="-122"/>
                <a:cs typeface="Liberation Sans Narrow" pitchFamily="34" charset="-120"/>
              </a:rPr>
              <a:t>04</a:t>
            </a:r>
            <a:endParaRPr lang="en-US" sz="800" dirty="0"/>
          </a:p>
        </p:txBody>
      </p:sp>
      <p:sp>
        <p:nvSpPr>
          <p:cNvPr id="40" name="Text 38"/>
          <p:cNvSpPr/>
          <p:nvPr/>
        </p:nvSpPr>
        <p:spPr>
          <a:xfrm>
            <a:off x="914400" y="3385914"/>
            <a:ext cx="3421856" cy="287759"/>
          </a:xfrm>
          <a:prstGeom prst="rect">
            <a:avLst/>
          </a:prstGeom>
          <a:noFill/>
          <a:ln/>
        </p:spPr>
        <p:txBody>
          <a:bodyPr wrap="square" lIns="0" tIns="0" rIns="0" bIns="0" rtlCol="0" anchor="t"/>
          <a:lstStyle/>
          <a:p>
            <a:pPr algn="l" indent="0" marL="0">
              <a:lnSpc>
                <a:spcPts val="1133"/>
              </a:lnSpc>
              <a:buNone/>
            </a:pPr>
            <a:r>
              <a:rPr lang="en-US" sz="800" dirty="0">
                <a:solidFill>
                  <a:srgbClr val="134E4A"/>
                </a:solidFill>
                <a:latin typeface="Liberation Sans Narrow" pitchFamily="34" charset="0"/>
                <a:ea typeface="Liberation Sans Narrow" pitchFamily="34" charset="-122"/>
                <a:cs typeface="Liberation Sans Narrow" pitchFamily="34" charset="-120"/>
              </a:rPr>
              <a:t>PRISMA 2020 Compliance</a:t>
            </a:r>
            <a:pPr algn="l" indent="0" marL="0">
              <a:lnSpc>
                <a:spcPts val="1133"/>
              </a:lnSpc>
              <a:buNone/>
            </a:pPr>
            <a:r>
              <a:rPr lang="en-US" sz="800" dirty="0">
                <a:solidFill>
                  <a:srgbClr val="0F172A"/>
                </a:solidFill>
                <a:latin typeface="Carlito" pitchFamily="34" charset="0"/>
                <a:ea typeface="Carlito" pitchFamily="34" charset="-122"/>
                <a:cs typeface="Carlito" pitchFamily="34" charset="-120"/>
              </a:rPr>
              <a:t> — Memenuhi </a:t>
            </a:r>
            <a:pPr algn="l" indent="0" marL="0">
              <a:lnSpc>
                <a:spcPts val="1133"/>
              </a:lnSpc>
              <a:buNone/>
            </a:pPr>
            <a:r>
              <a:rPr lang="en-US" sz="800" i="1" dirty="0">
                <a:solidFill>
                  <a:srgbClr val="0F172A"/>
                </a:solidFill>
                <a:latin typeface="Liberation Sans Narrow" pitchFamily="34" charset="0"/>
                <a:ea typeface="Liberation Sans Narrow" pitchFamily="34" charset="-122"/>
                <a:cs typeface="Liberation Sans Narrow" pitchFamily="34" charset="-120"/>
              </a:rPr>
              <a:t>item 3 PRISMA 2020</a:t>
            </a:r>
            <a:pPr algn="l" indent="0" marL="0">
              <a:lnSpc>
                <a:spcPts val="1133"/>
              </a:lnSpc>
              <a:buNone/>
            </a:pPr>
            <a:r>
              <a:rPr lang="en-US" sz="800" dirty="0">
                <a:solidFill>
                  <a:srgbClr val="0F172A"/>
                </a:solidFill>
                <a:latin typeface="Carlito" pitchFamily="34" charset="0"/>
                <a:ea typeface="Carlito" pitchFamily="34" charset="-122"/>
                <a:cs typeface="Carlito" pitchFamily="34" charset="-120"/>
              </a:rPr>
              <a:t> terkait registrasi dan aksesibilitas protokol.</a:t>
            </a:r>
            <a:endParaRPr lang="en-US" sz="800" dirty="0"/>
          </a:p>
        </p:txBody>
      </p:sp>
      <p:sp>
        <p:nvSpPr>
          <p:cNvPr id="41" name="Text 39"/>
          <p:cNvSpPr/>
          <p:nvPr/>
        </p:nvSpPr>
        <p:spPr>
          <a:xfrm>
            <a:off x="4643438" y="1217228"/>
            <a:ext cx="4043363" cy="2855491"/>
          </a:xfrm>
          <a:prstGeom prst="roundRect">
            <a:avLst>
              <a:gd name="adj" fmla="val 4003"/>
            </a:avLst>
          </a:prstGeom>
          <a:solidFill>
            <a:srgbClr val="FFFFFF"/>
          </a:solidFill>
          <a:ln/>
        </p:spPr>
        <p:txBody>
          <a:bodyPr wrap="square" rtlCol="0" anchor="ctr"/>
          <a:lstStyle/>
          <a:p>
            <a:pPr indent="0" marL="0">
              <a:buNone/>
            </a:pPr>
            <a:endParaRPr lang="en-US" dirty="0"/>
          </a:p>
        </p:txBody>
      </p:sp>
      <p:sp>
        <p:nvSpPr>
          <p:cNvPr id="42" name="Text 40"/>
          <p:cNvSpPr/>
          <p:nvPr/>
        </p:nvSpPr>
        <p:spPr>
          <a:xfrm>
            <a:off x="4806315" y="1341561"/>
            <a:ext cx="1343538" cy="212777"/>
          </a:xfrm>
          <a:prstGeom prst="roundRect">
            <a:avLst>
              <a:gd name="adj" fmla="val 4472041"/>
            </a:avLst>
          </a:prstGeom>
          <a:solidFill>
            <a:srgbClr val="FFF1E6"/>
          </a:solidFill>
          <a:ln/>
        </p:spPr>
        <p:txBody>
          <a:bodyPr wrap="square" rtlCol="0" anchor="ctr"/>
          <a:lstStyle/>
          <a:p>
            <a:pPr indent="0" marL="0">
              <a:buNone/>
            </a:pPr>
            <a:endParaRPr lang="en-US" dirty="0"/>
          </a:p>
        </p:txBody>
      </p:sp>
      <p:sp>
        <p:nvSpPr>
          <p:cNvPr id="43" name="Text 41"/>
          <p:cNvSpPr/>
          <p:nvPr/>
        </p:nvSpPr>
        <p:spPr>
          <a:xfrm>
            <a:off x="4829175" y="1352959"/>
            <a:ext cx="1297818" cy="189979"/>
          </a:xfrm>
          <a:prstGeom prst="rect">
            <a:avLst/>
          </a:prstGeom>
          <a:noFill/>
          <a:ln/>
        </p:spPr>
        <p:txBody>
          <a:bodyPr wrap="none" lIns="0" tIns="0" rIns="0" bIns="0" rtlCol="0" anchor="ctr"/>
          <a:lstStyle/>
          <a:p>
            <a:pPr algn="ctr" indent="0" marL="0">
              <a:lnSpc>
                <a:spcPts val="1046"/>
              </a:lnSpc>
              <a:buNone/>
            </a:pPr>
            <a:r>
              <a:rPr lang="en-US" sz="800" spc="27" kern="0" dirty="0">
                <a:solidFill>
                  <a:srgbClr val="EA680C"/>
                </a:solidFill>
                <a:latin typeface="Carlito" pitchFamily="34" charset="0"/>
                <a:ea typeface="Carlito" pitchFamily="34" charset="-122"/>
                <a:cs typeface="Carlito" pitchFamily="34" charset="-120"/>
              </a:rPr>
              <a:t>APA YANG DISIAPKAN?</a:t>
            </a:r>
            <a:endParaRPr lang="en-US" sz="800" dirty="0"/>
          </a:p>
        </p:txBody>
      </p:sp>
      <p:sp>
        <p:nvSpPr>
          <p:cNvPr id="44" name="Text 42"/>
          <p:cNvSpPr/>
          <p:nvPr/>
        </p:nvSpPr>
        <p:spPr>
          <a:xfrm>
            <a:off x="8365331" y="1369368"/>
            <a:ext cx="157163" cy="157163"/>
          </a:xfrm>
          <a:prstGeom prst="rect">
            <a:avLst/>
          </a:prstGeom>
          <a:noFill/>
          <a:ln/>
        </p:spPr>
        <p:txBody>
          <a:bodyPr wrap="none" lIns="0" tIns="0" rIns="0" bIns="0" rtlCol="0" anchor="ctr"/>
          <a:lstStyle/>
          <a:p>
            <a:pPr algn="ctr" indent="0" marL="0">
              <a:buNone/>
            </a:pPr>
            <a:r>
              <a:rPr lang="en-US" sz="1547" dirty="0">
                <a:solidFill>
                  <a:srgbClr val="F97316"/>
                </a:solidFill>
                <a:latin typeface="Segoe UI Symbol" pitchFamily="34" charset="0"/>
                <a:ea typeface="Segoe UI Symbol" pitchFamily="34" charset="-122"/>
                <a:cs typeface="Segoe UI Symbol" pitchFamily="34" charset="-120"/>
              </a:rPr>
              <a:t>✓</a:t>
            </a:r>
            <a:endParaRPr lang="en-US" sz="1547" dirty="0"/>
          </a:p>
        </p:txBody>
      </p:sp>
      <p:sp>
        <p:nvSpPr>
          <p:cNvPr id="45" name="Text 43"/>
          <p:cNvSpPr/>
          <p:nvPr/>
        </p:nvSpPr>
        <p:spPr>
          <a:xfrm>
            <a:off x="4829175" y="1600088"/>
            <a:ext cx="3693319" cy="185166"/>
          </a:xfrm>
          <a:prstGeom prst="rect">
            <a:avLst/>
          </a:prstGeom>
          <a:noFill/>
          <a:ln/>
        </p:spPr>
        <p:txBody>
          <a:bodyPr wrap="none" lIns="0" tIns="0" rIns="0" bIns="0" rtlCol="0" anchor="t"/>
          <a:lstStyle/>
          <a:p>
            <a:pPr algn="l" indent="0" marL="0">
              <a:lnSpc>
                <a:spcPts val="1350"/>
              </a:lnSpc>
              <a:buNone/>
            </a:pPr>
            <a:r>
              <a:rPr lang="en-US" sz="1125" dirty="0">
                <a:solidFill>
                  <a:srgbClr val="134E4A"/>
                </a:solidFill>
                <a:latin typeface="Tinos" pitchFamily="34" charset="0"/>
                <a:ea typeface="Tinos" pitchFamily="34" charset="-122"/>
                <a:cs typeface="Tinos" pitchFamily="34" charset="-120"/>
              </a:rPr>
              <a:t>Lima Komponen Protokol</a:t>
            </a:r>
            <a:endParaRPr lang="en-US" sz="1125" dirty="0"/>
          </a:p>
        </p:txBody>
      </p:sp>
      <p:sp>
        <p:nvSpPr>
          <p:cNvPr id="46" name="Text 44"/>
          <p:cNvSpPr/>
          <p:nvPr/>
        </p:nvSpPr>
        <p:spPr>
          <a:xfrm>
            <a:off x="4829175" y="1885838"/>
            <a:ext cx="185738" cy="185738"/>
          </a:xfrm>
          <a:prstGeom prst="ellipse">
            <a:avLst/>
          </a:prstGeom>
          <a:solidFill>
            <a:srgbClr val="FFF1E6"/>
          </a:solidFill>
          <a:ln/>
        </p:spPr>
        <p:txBody>
          <a:bodyPr wrap="square" rtlCol="0" anchor="ctr"/>
          <a:lstStyle/>
          <a:p>
            <a:pPr indent="0" marL="0">
              <a:buNone/>
            </a:pPr>
            <a:endParaRPr lang="en-US" dirty="0"/>
          </a:p>
        </p:txBody>
      </p:sp>
      <p:sp>
        <p:nvSpPr>
          <p:cNvPr id="47" name="Text 45"/>
          <p:cNvSpPr/>
          <p:nvPr/>
        </p:nvSpPr>
        <p:spPr>
          <a:xfrm>
            <a:off x="4829175" y="1885838"/>
            <a:ext cx="228600" cy="185738"/>
          </a:xfrm>
          <a:prstGeom prst="rect">
            <a:avLst/>
          </a:prstGeom>
          <a:noFill/>
          <a:ln/>
        </p:spPr>
        <p:txBody>
          <a:bodyPr wrap="none" lIns="0" tIns="0" rIns="0" bIns="0" rtlCol="0" anchor="ctr"/>
          <a:lstStyle/>
          <a:p>
            <a:pPr algn="ctr" indent="0" marL="0">
              <a:lnSpc>
                <a:spcPts val="1133"/>
              </a:lnSpc>
              <a:buNone/>
            </a:pPr>
            <a:r>
              <a:rPr lang="en-US" sz="800" b="1" dirty="0">
                <a:solidFill>
                  <a:srgbClr val="EA680C"/>
                </a:solidFill>
                <a:latin typeface="Liberation Sans Narrow" pitchFamily="34" charset="0"/>
                <a:ea typeface="Liberation Sans Narrow" pitchFamily="34" charset="-122"/>
                <a:cs typeface="Liberation Sans Narrow" pitchFamily="34" charset="-120"/>
              </a:rPr>
              <a:t>01</a:t>
            </a:r>
            <a:endParaRPr lang="en-US" sz="800" dirty="0"/>
          </a:p>
        </p:txBody>
      </p:sp>
      <p:sp>
        <p:nvSpPr>
          <p:cNvPr id="48" name="Text 46"/>
          <p:cNvSpPr/>
          <p:nvPr/>
        </p:nvSpPr>
        <p:spPr>
          <a:xfrm>
            <a:off x="5100638" y="1885838"/>
            <a:ext cx="3421856" cy="169999"/>
          </a:xfrm>
          <a:prstGeom prst="rect">
            <a:avLst/>
          </a:prstGeom>
          <a:noFill/>
          <a:ln/>
        </p:spPr>
        <p:txBody>
          <a:bodyPr wrap="square" lIns="0" tIns="0" rIns="0" bIns="0" rtlCol="0" anchor="t"/>
          <a:lstStyle/>
          <a:p>
            <a:pPr algn="l" indent="0" marL="0">
              <a:lnSpc>
                <a:spcPts val="1133"/>
              </a:lnSpc>
              <a:buNone/>
            </a:pPr>
            <a:r>
              <a:rPr lang="en-US" sz="731" dirty="0">
                <a:solidFill>
                  <a:srgbClr val="134E4A"/>
                </a:solidFill>
                <a:latin typeface="Carlito" pitchFamily="34" charset="0"/>
                <a:ea typeface="Carlito" pitchFamily="34" charset="-122"/>
                <a:cs typeface="Carlito" pitchFamily="34" charset="-120"/>
              </a:rPr>
              <a:t>Pertanyaan PICO</a:t>
            </a:r>
            <a:pPr algn="l" indent="0" marL="0">
              <a:lnSpc>
                <a:spcPts val="1133"/>
              </a:lnSpc>
              <a:buNone/>
            </a:pPr>
            <a:r>
              <a:rPr lang="en-US" sz="731" dirty="0">
                <a:solidFill>
                  <a:srgbClr val="0F172A"/>
                </a:solidFill>
                <a:latin typeface="Carlito" pitchFamily="34" charset="0"/>
                <a:ea typeface="Carlito" pitchFamily="34" charset="-122"/>
                <a:cs typeface="Carlito" pitchFamily="34" charset="-120"/>
              </a:rPr>
              <a:t> lengkap dengan justifikasi setiap elemen (P/I/C/O/C).</a:t>
            </a:r>
            <a:endParaRPr lang="en-US" sz="731" dirty="0"/>
          </a:p>
        </p:txBody>
      </p:sp>
      <p:sp>
        <p:nvSpPr>
          <p:cNvPr id="49" name="Text 47"/>
          <p:cNvSpPr/>
          <p:nvPr/>
        </p:nvSpPr>
        <p:spPr>
          <a:xfrm>
            <a:off x="4829175" y="2235882"/>
            <a:ext cx="185738" cy="185738"/>
          </a:xfrm>
          <a:prstGeom prst="ellipse">
            <a:avLst/>
          </a:prstGeom>
          <a:solidFill>
            <a:srgbClr val="FFF1E6"/>
          </a:solidFill>
          <a:ln/>
        </p:spPr>
        <p:txBody>
          <a:bodyPr wrap="square" rtlCol="0" anchor="ctr"/>
          <a:lstStyle/>
          <a:p>
            <a:pPr indent="0" marL="0">
              <a:buNone/>
            </a:pPr>
            <a:endParaRPr lang="en-US" dirty="0"/>
          </a:p>
        </p:txBody>
      </p:sp>
      <p:sp>
        <p:nvSpPr>
          <p:cNvPr id="50" name="Text 48"/>
          <p:cNvSpPr/>
          <p:nvPr/>
        </p:nvSpPr>
        <p:spPr>
          <a:xfrm>
            <a:off x="4829175" y="2235882"/>
            <a:ext cx="228600" cy="185738"/>
          </a:xfrm>
          <a:prstGeom prst="rect">
            <a:avLst/>
          </a:prstGeom>
          <a:noFill/>
          <a:ln/>
        </p:spPr>
        <p:txBody>
          <a:bodyPr wrap="none" lIns="0" tIns="0" rIns="0" bIns="0" rtlCol="0" anchor="ctr"/>
          <a:lstStyle/>
          <a:p>
            <a:pPr algn="ctr" indent="0" marL="0">
              <a:lnSpc>
                <a:spcPts val="1133"/>
              </a:lnSpc>
              <a:buNone/>
            </a:pPr>
            <a:r>
              <a:rPr lang="en-US" sz="800" b="1" dirty="0">
                <a:solidFill>
                  <a:srgbClr val="EA680C"/>
                </a:solidFill>
                <a:latin typeface="Liberation Sans Narrow" pitchFamily="34" charset="0"/>
                <a:ea typeface="Liberation Sans Narrow" pitchFamily="34" charset="-122"/>
                <a:cs typeface="Liberation Sans Narrow" pitchFamily="34" charset="-120"/>
              </a:rPr>
              <a:t>02</a:t>
            </a:r>
            <a:endParaRPr lang="en-US" sz="800" dirty="0"/>
          </a:p>
        </p:txBody>
      </p:sp>
      <p:sp>
        <p:nvSpPr>
          <p:cNvPr id="51" name="Text 49"/>
          <p:cNvSpPr/>
          <p:nvPr/>
        </p:nvSpPr>
        <p:spPr>
          <a:xfrm>
            <a:off x="5100638" y="2235882"/>
            <a:ext cx="3421856" cy="287759"/>
          </a:xfrm>
          <a:prstGeom prst="rect">
            <a:avLst/>
          </a:prstGeom>
          <a:noFill/>
          <a:ln/>
        </p:spPr>
        <p:txBody>
          <a:bodyPr wrap="square" lIns="0" tIns="0" rIns="0" bIns="0" rtlCol="0" anchor="t"/>
          <a:lstStyle/>
          <a:p>
            <a:pPr algn="l" indent="0" marL="0">
              <a:lnSpc>
                <a:spcPts val="1133"/>
              </a:lnSpc>
              <a:buNone/>
            </a:pPr>
            <a:r>
              <a:rPr lang="en-US" sz="800" dirty="0">
                <a:solidFill>
                  <a:srgbClr val="134E4A"/>
                </a:solidFill>
                <a:latin typeface="Carlito" pitchFamily="34" charset="0"/>
                <a:ea typeface="Carlito" pitchFamily="34" charset="-122"/>
                <a:cs typeface="Carlito" pitchFamily="34" charset="-120"/>
              </a:rPr>
              <a:t>Kriteria Inklusi &amp; Eksklusi</a:t>
            </a:r>
            <a:pPr algn="l" indent="0" marL="0">
              <a:lnSpc>
                <a:spcPts val="1133"/>
              </a:lnSpc>
              <a:buNone/>
            </a:pPr>
            <a:r>
              <a:rPr lang="en-US" sz="800" dirty="0">
                <a:solidFill>
                  <a:srgbClr val="0F172A"/>
                </a:solidFill>
                <a:latin typeface="Carlito" pitchFamily="34" charset="0"/>
                <a:ea typeface="Carlito" pitchFamily="34" charset="-122"/>
                <a:cs typeface="Carlito" pitchFamily="34" charset="-120"/>
              </a:rPr>
              <a:t> eksplisit, terukur, dan dapat diuji dua reviewer independen.</a:t>
            </a:r>
            <a:endParaRPr lang="en-US" sz="800" dirty="0"/>
          </a:p>
        </p:txBody>
      </p:sp>
      <p:sp>
        <p:nvSpPr>
          <p:cNvPr id="52" name="Text 50"/>
          <p:cNvSpPr/>
          <p:nvPr/>
        </p:nvSpPr>
        <p:spPr>
          <a:xfrm>
            <a:off x="4829175" y="2687948"/>
            <a:ext cx="185738" cy="185738"/>
          </a:xfrm>
          <a:prstGeom prst="ellipse">
            <a:avLst/>
          </a:prstGeom>
          <a:solidFill>
            <a:srgbClr val="FFF1E6"/>
          </a:solidFill>
          <a:ln/>
        </p:spPr>
        <p:txBody>
          <a:bodyPr wrap="square" rtlCol="0" anchor="ctr"/>
          <a:lstStyle/>
          <a:p>
            <a:pPr indent="0" marL="0">
              <a:buNone/>
            </a:pPr>
            <a:endParaRPr lang="en-US" dirty="0"/>
          </a:p>
        </p:txBody>
      </p:sp>
      <p:sp>
        <p:nvSpPr>
          <p:cNvPr id="53" name="Text 51"/>
          <p:cNvSpPr/>
          <p:nvPr/>
        </p:nvSpPr>
        <p:spPr>
          <a:xfrm>
            <a:off x="4829175" y="2687948"/>
            <a:ext cx="228600" cy="185738"/>
          </a:xfrm>
          <a:prstGeom prst="rect">
            <a:avLst/>
          </a:prstGeom>
          <a:noFill/>
          <a:ln/>
        </p:spPr>
        <p:txBody>
          <a:bodyPr wrap="none" lIns="0" tIns="0" rIns="0" bIns="0" rtlCol="0" anchor="ctr"/>
          <a:lstStyle/>
          <a:p>
            <a:pPr algn="ctr" indent="0" marL="0">
              <a:lnSpc>
                <a:spcPts val="1133"/>
              </a:lnSpc>
              <a:buNone/>
            </a:pPr>
            <a:r>
              <a:rPr lang="en-US" sz="800" b="1" dirty="0">
                <a:solidFill>
                  <a:srgbClr val="EA680C"/>
                </a:solidFill>
                <a:latin typeface="Liberation Sans Narrow" pitchFamily="34" charset="0"/>
                <a:ea typeface="Liberation Sans Narrow" pitchFamily="34" charset="-122"/>
                <a:cs typeface="Liberation Sans Narrow" pitchFamily="34" charset="-120"/>
              </a:rPr>
              <a:t>03</a:t>
            </a:r>
            <a:endParaRPr lang="en-US" sz="800" dirty="0"/>
          </a:p>
        </p:txBody>
      </p:sp>
      <p:sp>
        <p:nvSpPr>
          <p:cNvPr id="54" name="Text 52"/>
          <p:cNvSpPr/>
          <p:nvPr/>
        </p:nvSpPr>
        <p:spPr>
          <a:xfrm>
            <a:off x="5100638" y="2687948"/>
            <a:ext cx="3421856" cy="287759"/>
          </a:xfrm>
          <a:prstGeom prst="rect">
            <a:avLst/>
          </a:prstGeom>
          <a:noFill/>
          <a:ln/>
        </p:spPr>
        <p:txBody>
          <a:bodyPr wrap="square" lIns="0" tIns="0" rIns="0" bIns="0" rtlCol="0" anchor="t"/>
          <a:lstStyle/>
          <a:p>
            <a:pPr algn="l" indent="0" marL="0">
              <a:lnSpc>
                <a:spcPts val="1133"/>
              </a:lnSpc>
              <a:buNone/>
            </a:pPr>
            <a:r>
              <a:rPr lang="en-US" sz="800" dirty="0">
                <a:solidFill>
                  <a:srgbClr val="134E4A"/>
                </a:solidFill>
                <a:latin typeface="Carlito" pitchFamily="34" charset="0"/>
                <a:ea typeface="Carlito" pitchFamily="34" charset="-122"/>
                <a:cs typeface="Carlito" pitchFamily="34" charset="-120"/>
              </a:rPr>
              <a:t>Strategi Pencarian Boolean</a:t>
            </a:r>
            <a:pPr algn="l" indent="0" marL="0">
              <a:lnSpc>
                <a:spcPts val="1133"/>
              </a:lnSpc>
              <a:buNone/>
            </a:pPr>
            <a:r>
              <a:rPr lang="en-US" sz="800" dirty="0">
                <a:solidFill>
                  <a:srgbClr val="0F172A"/>
                </a:solidFill>
                <a:latin typeface="Carlito" pitchFamily="34" charset="0"/>
                <a:ea typeface="Carlito" pitchFamily="34" charset="-122"/>
                <a:cs typeface="Carlito" pitchFamily="34" charset="-120"/>
              </a:rPr>
              <a:t> terdokumentasi per database + tanggal eksekusi.</a:t>
            </a:r>
            <a:endParaRPr lang="en-US" sz="800" dirty="0"/>
          </a:p>
        </p:txBody>
      </p:sp>
      <p:sp>
        <p:nvSpPr>
          <p:cNvPr id="55" name="Text 53"/>
          <p:cNvSpPr/>
          <p:nvPr/>
        </p:nvSpPr>
        <p:spPr>
          <a:xfrm>
            <a:off x="4829175" y="3140013"/>
            <a:ext cx="185738" cy="185738"/>
          </a:xfrm>
          <a:prstGeom prst="ellipse">
            <a:avLst/>
          </a:prstGeom>
          <a:solidFill>
            <a:srgbClr val="FFF1E6"/>
          </a:solidFill>
          <a:ln/>
        </p:spPr>
        <p:txBody>
          <a:bodyPr wrap="square" rtlCol="0" anchor="ctr"/>
          <a:lstStyle/>
          <a:p>
            <a:pPr indent="0" marL="0">
              <a:buNone/>
            </a:pPr>
            <a:endParaRPr lang="en-US" dirty="0"/>
          </a:p>
        </p:txBody>
      </p:sp>
      <p:sp>
        <p:nvSpPr>
          <p:cNvPr id="56" name="Text 54"/>
          <p:cNvSpPr/>
          <p:nvPr/>
        </p:nvSpPr>
        <p:spPr>
          <a:xfrm>
            <a:off x="4829175" y="3140013"/>
            <a:ext cx="228600" cy="185738"/>
          </a:xfrm>
          <a:prstGeom prst="rect">
            <a:avLst/>
          </a:prstGeom>
          <a:noFill/>
          <a:ln/>
        </p:spPr>
        <p:txBody>
          <a:bodyPr wrap="none" lIns="0" tIns="0" rIns="0" bIns="0" rtlCol="0" anchor="ctr"/>
          <a:lstStyle/>
          <a:p>
            <a:pPr algn="ctr" indent="0" marL="0">
              <a:lnSpc>
                <a:spcPts val="1133"/>
              </a:lnSpc>
              <a:buNone/>
            </a:pPr>
            <a:r>
              <a:rPr lang="en-US" sz="800" b="1" dirty="0">
                <a:solidFill>
                  <a:srgbClr val="EA680C"/>
                </a:solidFill>
                <a:latin typeface="Liberation Sans Narrow" pitchFamily="34" charset="0"/>
                <a:ea typeface="Liberation Sans Narrow" pitchFamily="34" charset="-122"/>
                <a:cs typeface="Liberation Sans Narrow" pitchFamily="34" charset="-120"/>
              </a:rPr>
              <a:t>04</a:t>
            </a:r>
            <a:endParaRPr lang="en-US" sz="800" dirty="0"/>
          </a:p>
        </p:txBody>
      </p:sp>
      <p:sp>
        <p:nvSpPr>
          <p:cNvPr id="57" name="Text 55"/>
          <p:cNvSpPr/>
          <p:nvPr/>
        </p:nvSpPr>
        <p:spPr>
          <a:xfrm>
            <a:off x="5100638" y="3140013"/>
            <a:ext cx="3421856" cy="287759"/>
          </a:xfrm>
          <a:prstGeom prst="rect">
            <a:avLst/>
          </a:prstGeom>
          <a:noFill/>
          <a:ln/>
        </p:spPr>
        <p:txBody>
          <a:bodyPr wrap="square" lIns="0" tIns="0" rIns="0" bIns="0" rtlCol="0" anchor="t"/>
          <a:lstStyle/>
          <a:p>
            <a:pPr algn="l" indent="0" marL="0">
              <a:lnSpc>
                <a:spcPts val="1133"/>
              </a:lnSpc>
              <a:buNone/>
            </a:pPr>
            <a:r>
              <a:rPr lang="en-US" sz="800" dirty="0">
                <a:solidFill>
                  <a:srgbClr val="134E4A"/>
                </a:solidFill>
                <a:latin typeface="Carlito" pitchFamily="34" charset="0"/>
                <a:ea typeface="Carlito" pitchFamily="34" charset="-122"/>
                <a:cs typeface="Carlito" pitchFamily="34" charset="-120"/>
              </a:rPr>
              <a:t>Metode Screening &amp; QA</a:t>
            </a:r>
            <a:pPr algn="l" indent="0" marL="0">
              <a:lnSpc>
                <a:spcPts val="1133"/>
              </a:lnSpc>
              <a:buNone/>
            </a:pPr>
            <a:r>
              <a:rPr lang="en-US" sz="800" dirty="0">
                <a:solidFill>
                  <a:srgbClr val="0F172A"/>
                </a:solidFill>
                <a:latin typeface="Carlito" pitchFamily="34" charset="0"/>
                <a:ea typeface="Carlito" pitchFamily="34" charset="-122"/>
                <a:cs typeface="Carlito" pitchFamily="34" charset="-120"/>
              </a:rPr>
              <a:t> dual-reviewer + tool penilaian risk of bias (Cochrane RoB / JBI / AMSTAR-2).</a:t>
            </a:r>
            <a:endParaRPr lang="en-US" sz="800" dirty="0"/>
          </a:p>
        </p:txBody>
      </p:sp>
      <p:sp>
        <p:nvSpPr>
          <p:cNvPr id="58" name="Text 56"/>
          <p:cNvSpPr/>
          <p:nvPr/>
        </p:nvSpPr>
        <p:spPr>
          <a:xfrm>
            <a:off x="4829175" y="3592078"/>
            <a:ext cx="185738" cy="185738"/>
          </a:xfrm>
          <a:prstGeom prst="ellipse">
            <a:avLst/>
          </a:prstGeom>
          <a:solidFill>
            <a:srgbClr val="FFF1E6"/>
          </a:solidFill>
          <a:ln/>
        </p:spPr>
        <p:txBody>
          <a:bodyPr wrap="square" rtlCol="0" anchor="ctr"/>
          <a:lstStyle/>
          <a:p>
            <a:pPr indent="0" marL="0">
              <a:buNone/>
            </a:pPr>
            <a:endParaRPr lang="en-US" dirty="0"/>
          </a:p>
        </p:txBody>
      </p:sp>
      <p:sp>
        <p:nvSpPr>
          <p:cNvPr id="59" name="Text 57"/>
          <p:cNvSpPr/>
          <p:nvPr/>
        </p:nvSpPr>
        <p:spPr>
          <a:xfrm>
            <a:off x="4829175" y="3592078"/>
            <a:ext cx="228600" cy="185738"/>
          </a:xfrm>
          <a:prstGeom prst="rect">
            <a:avLst/>
          </a:prstGeom>
          <a:noFill/>
          <a:ln/>
        </p:spPr>
        <p:txBody>
          <a:bodyPr wrap="none" lIns="0" tIns="0" rIns="0" bIns="0" rtlCol="0" anchor="ctr"/>
          <a:lstStyle/>
          <a:p>
            <a:pPr algn="ctr" indent="0" marL="0">
              <a:lnSpc>
                <a:spcPts val="1133"/>
              </a:lnSpc>
              <a:buNone/>
            </a:pPr>
            <a:r>
              <a:rPr lang="en-US" sz="800" b="1" dirty="0">
                <a:solidFill>
                  <a:srgbClr val="EA680C"/>
                </a:solidFill>
                <a:latin typeface="Liberation Sans Narrow" pitchFamily="34" charset="0"/>
                <a:ea typeface="Liberation Sans Narrow" pitchFamily="34" charset="-122"/>
                <a:cs typeface="Liberation Sans Narrow" pitchFamily="34" charset="-120"/>
              </a:rPr>
              <a:t>05</a:t>
            </a:r>
            <a:endParaRPr lang="en-US" sz="800" dirty="0"/>
          </a:p>
        </p:txBody>
      </p:sp>
      <p:sp>
        <p:nvSpPr>
          <p:cNvPr id="60" name="Text 58"/>
          <p:cNvSpPr/>
          <p:nvPr/>
        </p:nvSpPr>
        <p:spPr>
          <a:xfrm>
            <a:off x="5100638" y="3592078"/>
            <a:ext cx="3421856" cy="287759"/>
          </a:xfrm>
          <a:prstGeom prst="rect">
            <a:avLst/>
          </a:prstGeom>
          <a:noFill/>
          <a:ln/>
        </p:spPr>
        <p:txBody>
          <a:bodyPr wrap="square" lIns="0" tIns="0" rIns="0" bIns="0" rtlCol="0" anchor="t"/>
          <a:lstStyle/>
          <a:p>
            <a:pPr algn="l" indent="0" marL="0">
              <a:lnSpc>
                <a:spcPts val="1133"/>
              </a:lnSpc>
              <a:buNone/>
            </a:pPr>
            <a:r>
              <a:rPr lang="en-US" sz="800" dirty="0">
                <a:solidFill>
                  <a:srgbClr val="134E4A"/>
                </a:solidFill>
                <a:latin typeface="Carlito" pitchFamily="34" charset="0"/>
                <a:ea typeface="Carlito" pitchFamily="34" charset="-122"/>
                <a:cs typeface="Carlito" pitchFamily="34" charset="-120"/>
              </a:rPr>
              <a:t>Template Ekstraksi Data</a:t>
            </a:r>
            <a:pPr algn="l" indent="0" marL="0">
              <a:lnSpc>
                <a:spcPts val="1133"/>
              </a:lnSpc>
              <a:buNone/>
            </a:pPr>
            <a:r>
              <a:rPr lang="en-US" sz="800" dirty="0">
                <a:solidFill>
                  <a:srgbClr val="0F172A"/>
                </a:solidFill>
                <a:latin typeface="Carlito" pitchFamily="34" charset="0"/>
                <a:ea typeface="Carlito" pitchFamily="34" charset="-122"/>
                <a:cs typeface="Carlito" pitchFamily="34" charset="-120"/>
              </a:rPr>
              <a:t> + metode sintesis (naratif / tematik / meta-analisis).</a:t>
            </a:r>
            <a:endParaRPr lang="en-US" sz="800" dirty="0"/>
          </a:p>
        </p:txBody>
      </p:sp>
      <p:sp>
        <p:nvSpPr>
          <p:cNvPr id="61" name="Text 59"/>
          <p:cNvSpPr/>
          <p:nvPr/>
        </p:nvSpPr>
        <p:spPr>
          <a:xfrm>
            <a:off x="457200" y="4129869"/>
            <a:ext cx="8229600" cy="731007"/>
          </a:xfrm>
          <a:prstGeom prst="roundRect">
            <a:avLst>
              <a:gd name="adj" fmla="val 15636"/>
            </a:avLst>
          </a:prstGeom>
          <a:solidFill>
            <a:srgbClr val="134E4A"/>
          </a:solidFill>
          <a:ln/>
        </p:spPr>
        <p:txBody>
          <a:bodyPr wrap="square" rtlCol="0" anchor="ctr"/>
          <a:lstStyle/>
          <a:p>
            <a:pPr indent="0" marL="0">
              <a:buNone/>
            </a:pPr>
            <a:endParaRPr lang="en-US" dirty="0"/>
          </a:p>
        </p:txBody>
      </p:sp>
      <p:sp>
        <p:nvSpPr>
          <p:cNvPr id="62" name="Text 60"/>
          <p:cNvSpPr/>
          <p:nvPr/>
        </p:nvSpPr>
        <p:spPr>
          <a:xfrm>
            <a:off x="591503" y="4226289"/>
            <a:ext cx="1041603" cy="200400"/>
          </a:xfrm>
          <a:prstGeom prst="roundRect">
            <a:avLst>
              <a:gd name="adj" fmla="val 4748241"/>
            </a:avLst>
          </a:prstGeom>
          <a:solidFill>
            <a:srgbClr val="FFFFFF">
              <a:alpha val="15000"/>
            </a:srgbClr>
          </a:solidFill>
          <a:ln/>
        </p:spPr>
        <p:txBody>
          <a:bodyPr wrap="square" rtlCol="0" anchor="ctr"/>
          <a:lstStyle/>
          <a:p>
            <a:pPr indent="0" marL="0">
              <a:buNone/>
            </a:pPr>
            <a:endParaRPr lang="en-US" dirty="0"/>
          </a:p>
        </p:txBody>
      </p:sp>
      <p:sp>
        <p:nvSpPr>
          <p:cNvPr id="63" name="Text 61"/>
          <p:cNvSpPr/>
          <p:nvPr/>
        </p:nvSpPr>
        <p:spPr>
          <a:xfrm>
            <a:off x="614363" y="4237025"/>
            <a:ext cx="995883" cy="178929"/>
          </a:xfrm>
          <a:prstGeom prst="rect">
            <a:avLst/>
          </a:prstGeom>
          <a:noFill/>
          <a:ln/>
        </p:spPr>
        <p:txBody>
          <a:bodyPr wrap="none" lIns="0" tIns="0" rIns="0" bIns="0" rtlCol="0" anchor="ctr"/>
          <a:lstStyle/>
          <a:p>
            <a:pPr algn="ctr" indent="0" marL="0">
              <a:lnSpc>
                <a:spcPts val="959"/>
              </a:lnSpc>
              <a:buNone/>
            </a:pPr>
            <a:r>
              <a:rPr lang="en-US" sz="800" b="1" spc="50" kern="0" dirty="0">
                <a:solidFill>
                  <a:srgbClr val="FFFFFF"/>
                </a:solidFill>
                <a:latin typeface="Carlito" pitchFamily="34" charset="0"/>
                <a:ea typeface="Carlito" pitchFamily="34" charset="-122"/>
                <a:cs typeface="Carlito" pitchFamily="34" charset="-120"/>
              </a:rPr>
              <a:t>LINK REGISTRASI</a:t>
            </a:r>
            <a:endParaRPr lang="en-US" sz="800" dirty="0"/>
          </a:p>
        </p:txBody>
      </p:sp>
      <p:sp>
        <p:nvSpPr>
          <p:cNvPr id="64" name="Text 62"/>
          <p:cNvSpPr/>
          <p:nvPr/>
        </p:nvSpPr>
        <p:spPr>
          <a:xfrm>
            <a:off x="614363" y="4473104"/>
            <a:ext cx="4875721" cy="287759"/>
          </a:xfrm>
          <a:prstGeom prst="rect">
            <a:avLst/>
          </a:prstGeom>
          <a:noFill/>
          <a:ln/>
        </p:spPr>
        <p:txBody>
          <a:bodyPr wrap="square" lIns="0" tIns="0" rIns="0" bIns="0" rtlCol="0" anchor="t"/>
          <a:lstStyle/>
          <a:p>
            <a:pPr algn="l" indent="0" marL="0">
              <a:lnSpc>
                <a:spcPts val="1133"/>
              </a:lnSpc>
              <a:buNone/>
            </a:pPr>
            <a:r>
              <a:rPr lang="en-US" sz="800" dirty="0">
                <a:solidFill>
                  <a:srgbClr val="E0ECEB"/>
                </a:solidFill>
                <a:latin typeface="Carlito" pitchFamily="34" charset="0"/>
                <a:ea typeface="Carlito" pitchFamily="34" charset="-122"/>
                <a:cs typeface="Carlito" pitchFamily="34" charset="-120"/>
              </a:rPr>
              <a:t>Daftar gratis di International Prospective Register of Systematic Reviews, di-hosting oleh NIHR Centre for Reviews and Dissemination (CRD), University of York, UK.</a:t>
            </a:r>
            <a:endParaRPr lang="en-US" sz="800" dirty="0"/>
          </a:p>
        </p:txBody>
      </p:sp>
      <p:sp>
        <p:nvSpPr>
          <p:cNvPr id="65" name="Text 63"/>
          <p:cNvSpPr/>
          <p:nvPr/>
        </p:nvSpPr>
        <p:spPr>
          <a:xfrm>
            <a:off x="5638673" y="4267086"/>
            <a:ext cx="1552605" cy="289364"/>
          </a:xfrm>
          <a:prstGeom prst="roundRect">
            <a:avLst>
              <a:gd name="adj" fmla="val 19750"/>
            </a:avLst>
          </a:prstGeom>
          <a:solidFill>
            <a:srgbClr val="000000">
              <a:alpha val="25000"/>
            </a:srgbClr>
          </a:solidFill>
          <a:ln/>
        </p:spPr>
        <p:txBody>
          <a:bodyPr wrap="square" rtlCol="0" anchor="ctr"/>
          <a:lstStyle/>
          <a:p>
            <a:pPr indent="0" marL="0">
              <a:buNone/>
            </a:pPr>
            <a:endParaRPr lang="en-US" dirty="0"/>
          </a:p>
        </p:txBody>
      </p:sp>
      <p:sp>
        <p:nvSpPr>
          <p:cNvPr id="66" name="Text 64"/>
          <p:cNvSpPr/>
          <p:nvPr/>
        </p:nvSpPr>
        <p:spPr>
          <a:xfrm>
            <a:off x="5661533" y="4279888"/>
            <a:ext cx="1506885" cy="263761"/>
          </a:xfrm>
          <a:prstGeom prst="rect">
            <a:avLst/>
          </a:prstGeom>
          <a:noFill/>
          <a:ln/>
        </p:spPr>
        <p:txBody>
          <a:bodyPr wrap="square" lIns="0" tIns="0" rIns="0" bIns="0" rtlCol="0" anchor="ctr"/>
          <a:lstStyle/>
          <a:p>
            <a:pPr algn="ctr" indent="0" marL="0">
              <a:lnSpc>
                <a:spcPts val="1177"/>
              </a:lnSpc>
              <a:buNone/>
            </a:pPr>
            <a:r>
              <a:rPr lang="en-US" sz="800" dirty="0">
                <a:solidFill>
                  <a:srgbClr val="FFFFFF"/>
                </a:solidFill>
                <a:latin typeface="Courier New" pitchFamily="34" charset="0"/>
                <a:ea typeface="Courier New" pitchFamily="34" charset="-122"/>
                <a:cs typeface="Courier New" pitchFamily="34" charset="-120"/>
              </a:rPr>
              <a:t>crd.york.ac.uk/prospero</a:t>
            </a:r>
            <a:endParaRPr lang="en-US" sz="800" dirty="0"/>
          </a:p>
        </p:txBody>
      </p:sp>
      <p:sp>
        <p:nvSpPr>
          <p:cNvPr id="67" name="Text 65"/>
          <p:cNvSpPr/>
          <p:nvPr/>
        </p:nvSpPr>
        <p:spPr>
          <a:xfrm>
            <a:off x="5661533" y="4600798"/>
            <a:ext cx="2075643" cy="153526"/>
          </a:xfrm>
          <a:prstGeom prst="rect">
            <a:avLst/>
          </a:prstGeom>
          <a:noFill/>
          <a:ln/>
        </p:spPr>
        <p:txBody>
          <a:bodyPr wrap="square" lIns="0" tIns="0" rIns="0" bIns="0" rtlCol="0" anchor="t"/>
          <a:lstStyle/>
          <a:p>
            <a:pPr algn="l" indent="0" marL="0">
              <a:lnSpc>
                <a:spcPts val="866"/>
              </a:lnSpc>
              <a:buNone/>
            </a:pPr>
            <a:r>
              <a:rPr lang="en-US" sz="619" dirty="0">
                <a:solidFill>
                  <a:srgbClr val="FFFFFF">
                    <a:alpha val="85000"/>
                  </a:srgbClr>
                </a:solidFill>
                <a:latin typeface="Carlito" pitchFamily="34" charset="0"/>
                <a:ea typeface="Carlito" pitchFamily="34" charset="-122"/>
                <a:cs typeface="Carlito" pitchFamily="34" charset="-120"/>
              </a:rPr>
              <a:t>Free · 2–4 weeks review · ID unik (CRDXXXXXXX)</a:t>
            </a:r>
            <a:endParaRPr lang="en-US" sz="619" dirty="0"/>
          </a:p>
        </p:txBody>
      </p:sp>
      <p:sp>
        <p:nvSpPr>
          <p:cNvPr id="68" name="Text 66"/>
          <p:cNvSpPr/>
          <p:nvPr/>
        </p:nvSpPr>
        <p:spPr>
          <a:xfrm>
            <a:off x="457200" y="4903738"/>
            <a:ext cx="8229600" cy="148100"/>
          </a:xfrm>
          <a:prstGeom prst="rect">
            <a:avLst/>
          </a:prstGeom>
          <a:noFill/>
          <a:ln/>
        </p:spPr>
        <p:txBody>
          <a:bodyPr wrap="square" lIns="0" tIns="0" rIns="0" bIns="0" rtlCol="0" anchor="t"/>
          <a:lstStyle/>
          <a:p>
            <a:pPr algn="l" indent="0" marL="0">
              <a:lnSpc>
                <a:spcPts val="797"/>
              </a:lnSpc>
              <a:buNone/>
            </a:pPr>
            <a:r>
              <a:rPr lang="en-US" sz="800" i="1" dirty="0">
                <a:solidFill>
                  <a:srgbClr val="64748B"/>
                </a:solidFill>
                <a:latin typeface="Carlito" pitchFamily="34" charset="0"/>
                <a:ea typeface="Carlito" pitchFamily="34" charset="-122"/>
                <a:cs typeface="Carlito" pitchFamily="34" charset="-120"/>
              </a:rPr>
              <a:t>PROSPERO menerima SLR kesehatan, sosial, pendidikan, &amp; interdisiplin. Untuk software engineering/CS, pertimbangkan juga OSF.</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8"/>
        </a:solidFill>
      </p:bgPr>
    </p:bg>
    <p:spTree>
      <p:nvGrpSpPr>
        <p:cNvPr id="1" name=""/>
        <p:cNvGrpSpPr/>
        <p:nvPr/>
      </p:nvGrpSpPr>
      <p:grpSpPr>
        <a:xfrm>
          <a:off x="0" y="0"/>
          <a:ext cx="0" cy="0"/>
          <a:chOff x="0" y="0"/>
          <a:chExt cx="0" cy="0"/>
        </a:xfrm>
      </p:grpSpPr>
      <p:sp>
        <p:nvSpPr>
          <p:cNvPr id="2" name="Text 0"/>
          <p:cNvSpPr/>
          <p:nvPr/>
        </p:nvSpPr>
        <p:spPr>
          <a:xfrm>
            <a:off x="7071512" y="-214312"/>
            <a:ext cx="2072488" cy="1234440"/>
          </a:xfrm>
          <a:prstGeom prst="rect">
            <a:avLst/>
          </a:prstGeom>
          <a:noFill/>
          <a:ln/>
        </p:spPr>
        <p:txBody>
          <a:bodyPr wrap="square" lIns="0" tIns="0" rIns="0" bIns="0" rtlCol="0" anchor="t"/>
          <a:lstStyle/>
          <a:p>
            <a:pPr algn="l" indent="0" marL="0">
              <a:lnSpc>
                <a:spcPts val="9000"/>
              </a:lnSpc>
              <a:buNone/>
            </a:pPr>
            <a:r>
              <a:rPr lang="en-US" sz="9000" dirty="0">
                <a:solidFill>
                  <a:srgbClr val="134E4A">
                    <a:alpha val="5000"/>
                  </a:srgbClr>
                </a:solidFill>
                <a:latin typeface="Liberation Sans Narrow" pitchFamily="34" charset="0"/>
                <a:ea typeface="Liberation Sans Narrow" pitchFamily="34" charset="-122"/>
                <a:cs typeface="Liberation Sans Narrow" pitchFamily="34" charset="-120"/>
              </a:rPr>
              <a:t>04</a:t>
            </a:r>
            <a:endParaRPr lang="en-US" sz="9000" dirty="0"/>
          </a:p>
        </p:txBody>
      </p:sp>
      <p:sp>
        <p:nvSpPr>
          <p:cNvPr id="3" name="Shape 1"/>
          <p:cNvSpPr/>
          <p:nvPr/>
        </p:nvSpPr>
        <p:spPr>
          <a:xfrm>
            <a:off x="457200" y="985056"/>
            <a:ext cx="428625" cy="0"/>
          </a:xfrm>
          <a:prstGeom prst="line">
            <a:avLst/>
          </a:prstGeom>
          <a:noFill/>
          <a:ln w="21431">
            <a:solidFill>
              <a:srgbClr val="134E4A"/>
            </a:solidFill>
            <a:prstDash val="solid"/>
          </a:ln>
        </p:spPr>
      </p:sp>
      <p:sp>
        <p:nvSpPr>
          <p:cNvPr id="4" name="Shape 2"/>
          <p:cNvSpPr/>
          <p:nvPr/>
        </p:nvSpPr>
        <p:spPr>
          <a:xfrm>
            <a:off x="6010238" y="2649550"/>
            <a:ext cx="2676451" cy="0"/>
          </a:xfrm>
          <a:prstGeom prst="line">
            <a:avLst/>
          </a:prstGeom>
          <a:noFill/>
          <a:ln w="21431">
            <a:solidFill>
              <a:srgbClr val="F97316"/>
            </a:solidFill>
            <a:prstDash val="solid"/>
          </a:ln>
        </p:spPr>
      </p:sp>
      <p:sp>
        <p:nvSpPr>
          <p:cNvPr id="5" name="Shape 3"/>
          <p:cNvSpPr/>
          <p:nvPr/>
        </p:nvSpPr>
        <p:spPr>
          <a:xfrm>
            <a:off x="8683117" y="2638834"/>
            <a:ext cx="0" cy="1428750"/>
          </a:xfrm>
          <a:prstGeom prst="line">
            <a:avLst/>
          </a:prstGeom>
          <a:noFill/>
          <a:ln w="7144">
            <a:solidFill>
              <a:srgbClr val="D8DEE2"/>
            </a:solidFill>
            <a:prstDash val="solid"/>
          </a:ln>
        </p:spPr>
      </p:sp>
      <p:sp>
        <p:nvSpPr>
          <p:cNvPr id="6" name="Shape 4"/>
          <p:cNvSpPr/>
          <p:nvPr/>
        </p:nvSpPr>
        <p:spPr>
          <a:xfrm>
            <a:off x="6010238" y="4064012"/>
            <a:ext cx="2676451" cy="0"/>
          </a:xfrm>
          <a:prstGeom prst="line">
            <a:avLst/>
          </a:prstGeom>
          <a:noFill/>
          <a:ln w="7144">
            <a:solidFill>
              <a:srgbClr val="D8DEE2"/>
            </a:solidFill>
            <a:prstDash val="solid"/>
          </a:ln>
        </p:spPr>
      </p:sp>
      <p:sp>
        <p:nvSpPr>
          <p:cNvPr id="7" name="Shape 5"/>
          <p:cNvSpPr/>
          <p:nvPr/>
        </p:nvSpPr>
        <p:spPr>
          <a:xfrm>
            <a:off x="6013810" y="2638834"/>
            <a:ext cx="0" cy="1428750"/>
          </a:xfrm>
          <a:prstGeom prst="line">
            <a:avLst/>
          </a:prstGeom>
          <a:noFill/>
          <a:ln w="7144">
            <a:solidFill>
              <a:srgbClr val="D8DEE2"/>
            </a:solidFill>
            <a:prstDash val="solid"/>
          </a:ln>
        </p:spPr>
      </p:sp>
      <p:sp>
        <p:nvSpPr>
          <p:cNvPr id="8" name="Text 6"/>
          <p:cNvSpPr/>
          <p:nvPr/>
        </p:nvSpPr>
        <p:spPr>
          <a:xfrm>
            <a:off x="434340" y="160051"/>
            <a:ext cx="1522467" cy="212777"/>
          </a:xfrm>
          <a:prstGeom prst="roundRect">
            <a:avLst>
              <a:gd name="adj" fmla="val 4472041"/>
            </a:avLst>
          </a:prstGeom>
          <a:solidFill>
            <a:srgbClr val="E0ECEB"/>
          </a:solidFill>
          <a:ln/>
        </p:spPr>
        <p:txBody>
          <a:bodyPr wrap="square" rtlCol="0" anchor="ctr"/>
          <a:lstStyle/>
          <a:p>
            <a:pPr indent="0" marL="0">
              <a:buNone/>
            </a:pPr>
            <a:endParaRPr lang="en-US" dirty="0"/>
          </a:p>
        </p:txBody>
      </p:sp>
      <p:sp>
        <p:nvSpPr>
          <p:cNvPr id="9" name="Text 7"/>
          <p:cNvSpPr/>
          <p:nvPr/>
        </p:nvSpPr>
        <p:spPr>
          <a:xfrm>
            <a:off x="457200" y="171450"/>
            <a:ext cx="1476747" cy="189979"/>
          </a:xfrm>
          <a:prstGeom prst="rect">
            <a:avLst/>
          </a:prstGeom>
          <a:noFill/>
          <a:ln/>
        </p:spPr>
        <p:txBody>
          <a:bodyPr wrap="none" lIns="0" tIns="0" rIns="0" bIns="0" rtlCol="0" anchor="ctr"/>
          <a:lstStyle/>
          <a:p>
            <a:pPr algn="ctr" indent="0" marL="0">
              <a:lnSpc>
                <a:spcPts val="1046"/>
              </a:lnSpc>
              <a:buNone/>
            </a:pPr>
            <a:r>
              <a:rPr lang="en-US" sz="800" spc="27" kern="0" dirty="0">
                <a:solidFill>
                  <a:srgbClr val="134E4A"/>
                </a:solidFill>
                <a:latin typeface="Liberation Sans Narrow" pitchFamily="34" charset="0"/>
                <a:ea typeface="Liberation Sans Narrow" pitchFamily="34" charset="-122"/>
                <a:cs typeface="Liberation Sans Narrow" pitchFamily="34" charset="-120"/>
              </a:rPr>
              <a:t>BAB 04 · EKSTRAKSI DATA</a:t>
            </a:r>
            <a:endParaRPr lang="en-US" sz="800" dirty="0"/>
          </a:p>
        </p:txBody>
      </p:sp>
      <p:sp>
        <p:nvSpPr>
          <p:cNvPr id="10" name="Text 8"/>
          <p:cNvSpPr/>
          <p:nvPr/>
        </p:nvSpPr>
        <p:spPr>
          <a:xfrm>
            <a:off x="8279271" y="188975"/>
            <a:ext cx="554239" cy="169980"/>
          </a:xfrm>
          <a:prstGeom prst="rect">
            <a:avLst/>
          </a:prstGeom>
          <a:noFill/>
          <a:ln/>
        </p:spPr>
        <p:txBody>
          <a:bodyPr wrap="none" lIns="0" tIns="0" rIns="0" bIns="0" rtlCol="0" anchor="t"/>
          <a:lstStyle/>
          <a:p>
            <a:pPr algn="l" indent="0" marL="0">
              <a:lnSpc>
                <a:spcPts val="1221"/>
              </a:lnSpc>
              <a:buNone/>
            </a:pPr>
            <a:r>
              <a:rPr lang="en-US" sz="800" spc="-16" kern="0" dirty="0">
                <a:solidFill>
                  <a:srgbClr val="64748B"/>
                </a:solidFill>
                <a:latin typeface="Liberation Sans Narrow" pitchFamily="34" charset="0"/>
                <a:ea typeface="Liberation Sans Narrow" pitchFamily="34" charset="-122"/>
                <a:cs typeface="Liberation Sans Narrow" pitchFamily="34" charset="-120"/>
              </a:rPr>
              <a:t>16 / 18</a:t>
            </a:r>
            <a:endParaRPr lang="en-US" sz="800" dirty="0"/>
          </a:p>
        </p:txBody>
      </p:sp>
      <p:sp>
        <p:nvSpPr>
          <p:cNvPr id="11" name="Text 9"/>
          <p:cNvSpPr/>
          <p:nvPr/>
        </p:nvSpPr>
        <p:spPr>
          <a:xfrm>
            <a:off x="457200" y="447154"/>
            <a:ext cx="8636000" cy="278298"/>
          </a:xfrm>
          <a:prstGeom prst="rect">
            <a:avLst/>
          </a:prstGeom>
          <a:noFill/>
          <a:ln/>
        </p:spPr>
        <p:txBody>
          <a:bodyPr wrap="square" lIns="0" tIns="0" rIns="0" bIns="0" rtlCol="0" anchor="t">
            <a:normAutofit/>
          </a:bodyPr>
          <a:lstStyle/>
          <a:p>
            <a:pPr algn="l" indent="0" marL="0">
              <a:lnSpc>
                <a:spcPts val="2070"/>
              </a:lnSpc>
              <a:buNone/>
            </a:pPr>
            <a:r>
              <a:rPr lang="en-US" sz="1800" spc="-18" kern="0" dirty="0">
                <a:solidFill>
                  <a:srgbClr val="134E4A"/>
                </a:solidFill>
                <a:latin typeface="Tinos" pitchFamily="34" charset="0"/>
                <a:ea typeface="Tinos" pitchFamily="34" charset="-122"/>
                <a:cs typeface="Tinos" pitchFamily="34" charset="-120"/>
              </a:rPr>
              <a:t>Template Ekstraksi Data Standard</a:t>
            </a:r>
            <a:endParaRPr lang="en-US" sz="1800" dirty="0"/>
          </a:p>
        </p:txBody>
      </p:sp>
      <p:sp>
        <p:nvSpPr>
          <p:cNvPr id="12" name="Text 10"/>
          <p:cNvSpPr/>
          <p:nvPr/>
        </p:nvSpPr>
        <p:spPr>
          <a:xfrm>
            <a:off x="457200" y="752884"/>
            <a:ext cx="7858125" cy="164592"/>
          </a:xfrm>
          <a:prstGeom prst="rect">
            <a:avLst/>
          </a:prstGeom>
          <a:noFill/>
          <a:ln/>
        </p:spPr>
        <p:txBody>
          <a:bodyPr wrap="square" lIns="0" tIns="0" rIns="0" bIns="0" rtlCol="0" anchor="t"/>
          <a:lstStyle/>
          <a:p>
            <a:pPr algn="l" indent="0" marL="0">
              <a:lnSpc>
                <a:spcPts val="1181"/>
              </a:lnSpc>
              <a:buNone/>
            </a:pPr>
            <a:r>
              <a:rPr lang="en-US" sz="788" dirty="0">
                <a:solidFill>
                  <a:srgbClr val="475569"/>
                </a:solidFill>
                <a:latin typeface="Carlito" pitchFamily="34" charset="0"/>
                <a:ea typeface="Carlito" pitchFamily="34" charset="-122"/>
                <a:cs typeface="Carlito" pitchFamily="34" charset="-120"/>
              </a:rPr>
              <a:t>Setiap studi yang lolos eligibility diekstrak ke form standard untuk memastikan konsistensi sintesis dan reproducibility analisis antar-reviewer.</a:t>
            </a:r>
            <a:endParaRPr lang="en-US" sz="788" dirty="0"/>
          </a:p>
        </p:txBody>
      </p:sp>
      <p:sp>
        <p:nvSpPr>
          <p:cNvPr id="13" name="Text 11"/>
          <p:cNvSpPr/>
          <p:nvPr/>
        </p:nvSpPr>
        <p:spPr>
          <a:xfrm>
            <a:off x="460772" y="1113644"/>
            <a:ext cx="2669307" cy="1421606"/>
          </a:xfrm>
          <a:prstGeom prst="roundRect">
            <a:avLst>
              <a:gd name="adj" fmla="val 8040"/>
            </a:avLst>
          </a:prstGeom>
          <a:solidFill>
            <a:srgbClr val="FFFFFF"/>
          </a:solidFill>
          <a:ln w="7144">
            <a:solidFill>
              <a:srgbClr val="D8DEE2"/>
            </a:solidFill>
            <a:prstDash val="solid"/>
          </a:ln>
        </p:spPr>
        <p:txBody>
          <a:bodyPr wrap="square" rtlCol="0" anchor="ctr"/>
          <a:lstStyle/>
          <a:p>
            <a:pPr indent="0" marL="0">
              <a:buNone/>
            </a:pPr>
            <a:endParaRPr lang="en-US" dirty="0"/>
          </a:p>
        </p:txBody>
      </p:sp>
      <p:sp>
        <p:nvSpPr>
          <p:cNvPr id="14" name="Text 12"/>
          <p:cNvSpPr/>
          <p:nvPr/>
        </p:nvSpPr>
        <p:spPr>
          <a:xfrm>
            <a:off x="2869332" y="1217228"/>
            <a:ext cx="157163" cy="157163"/>
          </a:xfrm>
          <a:prstGeom prst="rect">
            <a:avLst/>
          </a:prstGeom>
          <a:noFill/>
          <a:ln/>
        </p:spPr>
        <p:txBody>
          <a:bodyPr wrap="none" lIns="0" tIns="0" rIns="0" bIns="0" rtlCol="0" anchor="ctr"/>
          <a:lstStyle/>
          <a:p>
            <a:pPr algn="ctr" indent="0" marL="0">
              <a:buNone/>
            </a:pPr>
            <a:r>
              <a:rPr lang="en-US" sz="1547" dirty="0">
                <a:solidFill>
                  <a:srgbClr val="4A8480"/>
                </a:solidFill>
                <a:latin typeface="Segoe UI Symbol" pitchFamily="34" charset="0"/>
                <a:ea typeface="Segoe UI Symbol" pitchFamily="34" charset="-122"/>
                <a:cs typeface="Segoe UI Symbol" pitchFamily="34" charset="-120"/>
              </a:rPr>
              <a:t>✦</a:t>
            </a:r>
            <a:endParaRPr lang="en-US" sz="1547" dirty="0"/>
          </a:p>
        </p:txBody>
      </p:sp>
      <p:sp>
        <p:nvSpPr>
          <p:cNvPr id="15" name="Text 13"/>
          <p:cNvSpPr/>
          <p:nvPr/>
        </p:nvSpPr>
        <p:spPr>
          <a:xfrm>
            <a:off x="592931" y="1245803"/>
            <a:ext cx="2404988" cy="140446"/>
          </a:xfrm>
          <a:prstGeom prst="rect">
            <a:avLst/>
          </a:prstGeom>
          <a:noFill/>
          <a:ln/>
        </p:spPr>
        <p:txBody>
          <a:bodyPr wrap="none" lIns="0" tIns="0" rIns="0" bIns="0" rtlCol="0" anchor="t">
            <a:normAutofit/>
          </a:bodyPr>
          <a:lstStyle/>
          <a:p>
            <a:pPr algn="l" indent="0" marL="0">
              <a:lnSpc>
                <a:spcPts val="872"/>
              </a:lnSpc>
              <a:buNone/>
            </a:pPr>
            <a:r>
              <a:rPr lang="en-US" sz="800" b="1" spc="45" kern="0" dirty="0">
                <a:solidFill>
                  <a:srgbClr val="EA680C"/>
                </a:solidFill>
                <a:latin typeface="Liberation Sans Narrow" pitchFamily="34" charset="0"/>
                <a:ea typeface="Liberation Sans Narrow" pitchFamily="34" charset="-122"/>
                <a:cs typeface="Liberation Sans Narrow" pitchFamily="34" charset="-120"/>
              </a:rPr>
              <a:t>KATEGORI 01</a:t>
            </a:r>
            <a:endParaRPr lang="en-US" sz="800" dirty="0"/>
          </a:p>
        </p:txBody>
      </p:sp>
      <p:sp>
        <p:nvSpPr>
          <p:cNvPr id="16" name="Text 14"/>
          <p:cNvSpPr/>
          <p:nvPr/>
        </p:nvSpPr>
        <p:spPr>
          <a:xfrm>
            <a:off x="592931" y="1413681"/>
            <a:ext cx="2404988" cy="148036"/>
          </a:xfrm>
          <a:prstGeom prst="rect">
            <a:avLst/>
          </a:prstGeom>
          <a:noFill/>
          <a:ln/>
        </p:spPr>
        <p:txBody>
          <a:bodyPr wrap="none" lIns="0" tIns="0" rIns="214313" bIns="0" rtlCol="0" anchor="t"/>
          <a:lstStyle/>
          <a:p>
            <a:pPr algn="l" indent="0" marL="0">
              <a:lnSpc>
                <a:spcPts val="1080"/>
              </a:lnSpc>
              <a:buNone/>
            </a:pPr>
            <a:r>
              <a:rPr lang="en-US" sz="900" dirty="0">
                <a:solidFill>
                  <a:srgbClr val="134E4A"/>
                </a:solidFill>
                <a:latin typeface="Tinos" pitchFamily="34" charset="0"/>
                <a:ea typeface="Tinos" pitchFamily="34" charset="-122"/>
                <a:cs typeface="Tinos" pitchFamily="34" charset="-120"/>
              </a:rPr>
              <a:t>Identitas Studi</a:t>
            </a:r>
            <a:endParaRPr lang="en-US" sz="900" dirty="0"/>
          </a:p>
        </p:txBody>
      </p:sp>
      <p:sp>
        <p:nvSpPr>
          <p:cNvPr id="17" name="Text 15"/>
          <p:cNvSpPr/>
          <p:nvPr/>
        </p:nvSpPr>
        <p:spPr>
          <a:xfrm>
            <a:off x="592931" y="1593614"/>
            <a:ext cx="2404988" cy="939211"/>
          </a:xfrm>
          <a:prstGeom prst="rect">
            <a:avLst/>
          </a:prstGeom>
          <a:noFill/>
          <a:ln/>
        </p:spPr>
        <p:txBody>
          <a:bodyPr wrap="square" lIns="0" tIns="0" rIns="0" bIns="0" rtlCol="0" anchor="t"/>
          <a:lstStyle/>
          <a:p>
            <a:pPr algn="l" indent="0" marL="0">
              <a:lnSpc>
                <a:spcPts val="938"/>
              </a:lnSpc>
              <a:buNone/>
            </a:pPr>
            <a:r>
              <a:rPr lang="en-US" sz="600" dirty="0">
                <a:solidFill>
                  <a:srgbClr val="F97316"/>
                </a:solidFill>
                <a:latin typeface="Carlito" pitchFamily="34" charset="0"/>
                <a:ea typeface="Carlito" pitchFamily="34" charset="-122"/>
                <a:cs typeface="Carlito" pitchFamily="34" charset="-120"/>
              </a:rPr>
              <a:t>●  </a:t>
            </a:r>
            <a:pPr algn="l" indent="0" marL="0">
              <a:lnSpc>
                <a:spcPts val="938"/>
              </a:lnSpc>
              <a:buNone/>
            </a:pPr>
            <a:r>
              <a:rPr lang="en-US" sz="800" dirty="0">
                <a:solidFill>
                  <a:srgbClr val="0F172A"/>
                </a:solidFill>
                <a:latin typeface="Carlito" pitchFamily="34" charset="0"/>
                <a:ea typeface="Carlito" pitchFamily="34" charset="-122"/>
                <a:cs typeface="Carlito" pitchFamily="34" charset="-120"/>
              </a:rPr>
              <a:t>Author(s) &amp; affiliation</a:t>
            </a:r>
            <a:endParaRPr lang="en-US" sz="800" dirty="0"/>
          </a:p>
          <a:p>
            <a:pPr algn="l" indent="0" marL="0">
              <a:lnSpc>
                <a:spcPts val="938"/>
              </a:lnSpc>
              <a:buNone/>
            </a:pPr>
            <a:r>
              <a:rPr lang="en-US" sz="600" dirty="0">
                <a:solidFill>
                  <a:srgbClr val="F97316"/>
                </a:solidFill>
                <a:latin typeface="Carlito" pitchFamily="34" charset="0"/>
                <a:ea typeface="Carlito" pitchFamily="34" charset="-122"/>
                <a:cs typeface="Carlito" pitchFamily="34" charset="-120"/>
              </a:rPr>
              <a:t>●  </a:t>
            </a:r>
            <a:pPr algn="l" indent="0" marL="0">
              <a:lnSpc>
                <a:spcPts val="938"/>
              </a:lnSpc>
              <a:buNone/>
            </a:pPr>
            <a:r>
              <a:rPr lang="en-US" sz="800" dirty="0">
                <a:solidFill>
                  <a:srgbClr val="0F172A"/>
                </a:solidFill>
                <a:latin typeface="Carlito" pitchFamily="34" charset="0"/>
                <a:ea typeface="Carlito" pitchFamily="34" charset="-122"/>
                <a:cs typeface="Carlito" pitchFamily="34" charset="-120"/>
              </a:rPr>
              <a:t>Year of publication</a:t>
            </a:r>
            <a:endParaRPr lang="en-US" sz="800" dirty="0"/>
          </a:p>
          <a:p>
            <a:pPr algn="l" indent="0" marL="0">
              <a:lnSpc>
                <a:spcPts val="938"/>
              </a:lnSpc>
              <a:buNone/>
            </a:pPr>
            <a:r>
              <a:rPr lang="en-US" sz="600" dirty="0">
                <a:solidFill>
                  <a:srgbClr val="F97316"/>
                </a:solidFill>
                <a:latin typeface="Carlito" pitchFamily="34" charset="0"/>
                <a:ea typeface="Carlito" pitchFamily="34" charset="-122"/>
                <a:cs typeface="Carlito" pitchFamily="34" charset="-120"/>
              </a:rPr>
              <a:t>●  </a:t>
            </a:r>
            <a:pPr algn="l" indent="0" marL="0">
              <a:lnSpc>
                <a:spcPts val="938"/>
              </a:lnSpc>
              <a:buNone/>
            </a:pPr>
            <a:r>
              <a:rPr lang="en-US" sz="800" dirty="0">
                <a:solidFill>
                  <a:srgbClr val="0F172A"/>
                </a:solidFill>
                <a:latin typeface="Carlito" pitchFamily="34" charset="0"/>
                <a:ea typeface="Carlito" pitchFamily="34" charset="-122"/>
                <a:cs typeface="Carlito" pitchFamily="34" charset="-120"/>
              </a:rPr>
              <a:t>Journal / conference / DOI</a:t>
            </a:r>
            <a:endParaRPr lang="en-US" sz="800" dirty="0"/>
          </a:p>
          <a:p>
            <a:pPr algn="l" indent="0" marL="0">
              <a:lnSpc>
                <a:spcPts val="938"/>
              </a:lnSpc>
              <a:buNone/>
            </a:pPr>
            <a:r>
              <a:rPr lang="en-US" sz="600" dirty="0">
                <a:solidFill>
                  <a:srgbClr val="F97316"/>
                </a:solidFill>
                <a:latin typeface="Carlito" pitchFamily="34" charset="0"/>
                <a:ea typeface="Carlito" pitchFamily="34" charset="-122"/>
                <a:cs typeface="Carlito" pitchFamily="34" charset="-120"/>
              </a:rPr>
              <a:t>●  </a:t>
            </a:r>
            <a:pPr algn="l" indent="0" marL="0">
              <a:lnSpc>
                <a:spcPts val="938"/>
              </a:lnSpc>
              <a:buNone/>
            </a:pPr>
            <a:r>
              <a:rPr lang="en-US" sz="800" dirty="0">
                <a:solidFill>
                  <a:srgbClr val="0F172A"/>
                </a:solidFill>
                <a:latin typeface="Carlito" pitchFamily="34" charset="0"/>
                <a:ea typeface="Carlito" pitchFamily="34" charset="-122"/>
                <a:cs typeface="Carlito" pitchFamily="34" charset="-120"/>
              </a:rPr>
              <a:t>Country &amp; setting</a:t>
            </a:r>
            <a:endParaRPr lang="en-US" sz="800" dirty="0"/>
          </a:p>
          <a:p>
            <a:pPr algn="l" indent="0" marL="0">
              <a:lnSpc>
                <a:spcPts val="938"/>
              </a:lnSpc>
              <a:buNone/>
            </a:pPr>
            <a:r>
              <a:rPr lang="en-US" sz="600" dirty="0">
                <a:solidFill>
                  <a:srgbClr val="F97316"/>
                </a:solidFill>
                <a:latin typeface="Carlito" pitchFamily="34" charset="0"/>
                <a:ea typeface="Carlito" pitchFamily="34" charset="-122"/>
                <a:cs typeface="Carlito" pitchFamily="34" charset="-120"/>
              </a:rPr>
              <a:t>●  </a:t>
            </a:r>
            <a:pPr algn="l" indent="0" marL="0">
              <a:lnSpc>
                <a:spcPts val="938"/>
              </a:lnSpc>
              <a:buNone/>
            </a:pPr>
            <a:r>
              <a:rPr lang="en-US" sz="800" dirty="0">
                <a:solidFill>
                  <a:srgbClr val="0F172A"/>
                </a:solidFill>
                <a:latin typeface="Carlito" pitchFamily="34" charset="0"/>
                <a:ea typeface="Carlito" pitchFamily="34" charset="-122"/>
                <a:cs typeface="Carlito" pitchFamily="34" charset="-120"/>
              </a:rPr>
              <a:t>Study design (RCT / cohort / cross-sectional)</a:t>
            </a:r>
            <a:endParaRPr lang="en-US" sz="800" dirty="0"/>
          </a:p>
          <a:p>
            <a:pPr algn="l" indent="0" marL="0">
              <a:lnSpc>
                <a:spcPts val="938"/>
              </a:lnSpc>
              <a:buNone/>
            </a:pPr>
            <a:r>
              <a:rPr lang="en-US" sz="600" dirty="0">
                <a:solidFill>
                  <a:srgbClr val="F97316"/>
                </a:solidFill>
                <a:latin typeface="Carlito" pitchFamily="34" charset="0"/>
                <a:ea typeface="Carlito" pitchFamily="34" charset="-122"/>
                <a:cs typeface="Carlito" pitchFamily="34" charset="-120"/>
              </a:rPr>
              <a:t>●  </a:t>
            </a:r>
            <a:pPr algn="l" indent="0" marL="0">
              <a:lnSpc>
                <a:spcPts val="938"/>
              </a:lnSpc>
              <a:buNone/>
            </a:pPr>
            <a:r>
              <a:rPr lang="en-US" sz="800" dirty="0">
                <a:solidFill>
                  <a:srgbClr val="0F172A"/>
                </a:solidFill>
                <a:latin typeface="Carlito" pitchFamily="34" charset="0"/>
                <a:ea typeface="Carlito" pitchFamily="34" charset="-122"/>
                <a:cs typeface="Carlito" pitchFamily="34" charset="-120"/>
              </a:rPr>
              <a:t>Funding source &amp; conflict of interest</a:t>
            </a:r>
            <a:endParaRPr lang="en-US" sz="800" dirty="0"/>
          </a:p>
        </p:txBody>
      </p:sp>
      <p:sp>
        <p:nvSpPr>
          <p:cNvPr id="18" name="Text 16"/>
          <p:cNvSpPr/>
          <p:nvPr/>
        </p:nvSpPr>
        <p:spPr>
          <a:xfrm>
            <a:off x="3237235" y="1113644"/>
            <a:ext cx="2669418" cy="1421606"/>
          </a:xfrm>
          <a:prstGeom prst="roundRect">
            <a:avLst>
              <a:gd name="adj" fmla="val 8040"/>
            </a:avLst>
          </a:prstGeom>
          <a:solidFill>
            <a:srgbClr val="FFFFFF"/>
          </a:solidFill>
          <a:ln w="7144">
            <a:solidFill>
              <a:srgbClr val="D8DEE2"/>
            </a:solidFill>
            <a:prstDash val="solid"/>
          </a:ln>
        </p:spPr>
        <p:txBody>
          <a:bodyPr wrap="square" rtlCol="0" anchor="ctr"/>
          <a:lstStyle/>
          <a:p>
            <a:pPr indent="0" marL="0">
              <a:buNone/>
            </a:pPr>
            <a:endParaRPr lang="en-US" dirty="0"/>
          </a:p>
        </p:txBody>
      </p:sp>
      <p:sp>
        <p:nvSpPr>
          <p:cNvPr id="19" name="Text 17"/>
          <p:cNvSpPr/>
          <p:nvPr/>
        </p:nvSpPr>
        <p:spPr>
          <a:xfrm>
            <a:off x="5645907" y="1217228"/>
            <a:ext cx="157163" cy="157163"/>
          </a:xfrm>
          <a:prstGeom prst="rect">
            <a:avLst/>
          </a:prstGeom>
          <a:noFill/>
          <a:ln/>
        </p:spPr>
        <p:txBody>
          <a:bodyPr wrap="none" lIns="0" tIns="0" rIns="0" bIns="0" rtlCol="0" anchor="ctr"/>
          <a:lstStyle/>
          <a:p>
            <a:pPr algn="ctr" indent="0" marL="0">
              <a:buNone/>
            </a:pPr>
            <a:r>
              <a:rPr lang="en-US" sz="1547" dirty="0">
                <a:solidFill>
                  <a:srgbClr val="4A8480"/>
                </a:solidFill>
                <a:latin typeface="Segoe UI Symbol" pitchFamily="34" charset="0"/>
                <a:ea typeface="Segoe UI Symbol" pitchFamily="34" charset="-122"/>
                <a:cs typeface="Segoe UI Symbol" pitchFamily="34" charset="-120"/>
              </a:rPr>
              <a:t>♟</a:t>
            </a:r>
            <a:endParaRPr lang="en-US" sz="1547" dirty="0"/>
          </a:p>
        </p:txBody>
      </p:sp>
      <p:sp>
        <p:nvSpPr>
          <p:cNvPr id="20" name="Text 18"/>
          <p:cNvSpPr/>
          <p:nvPr/>
        </p:nvSpPr>
        <p:spPr>
          <a:xfrm>
            <a:off x="3369394" y="1245803"/>
            <a:ext cx="2405100" cy="140446"/>
          </a:xfrm>
          <a:prstGeom prst="rect">
            <a:avLst/>
          </a:prstGeom>
          <a:noFill/>
          <a:ln/>
        </p:spPr>
        <p:txBody>
          <a:bodyPr wrap="none" lIns="0" tIns="0" rIns="0" bIns="0" rtlCol="0" anchor="t">
            <a:normAutofit/>
          </a:bodyPr>
          <a:lstStyle/>
          <a:p>
            <a:pPr algn="l" indent="0" marL="0">
              <a:lnSpc>
                <a:spcPts val="872"/>
              </a:lnSpc>
              <a:buNone/>
            </a:pPr>
            <a:r>
              <a:rPr lang="en-US" sz="800" b="1" spc="45" kern="0" dirty="0">
                <a:solidFill>
                  <a:srgbClr val="EA680C"/>
                </a:solidFill>
                <a:latin typeface="Liberation Sans Narrow" pitchFamily="34" charset="0"/>
                <a:ea typeface="Liberation Sans Narrow" pitchFamily="34" charset="-122"/>
                <a:cs typeface="Liberation Sans Narrow" pitchFamily="34" charset="-120"/>
              </a:rPr>
              <a:t>KATEGORI 02</a:t>
            </a:r>
            <a:endParaRPr lang="en-US" sz="800" dirty="0"/>
          </a:p>
        </p:txBody>
      </p:sp>
      <p:sp>
        <p:nvSpPr>
          <p:cNvPr id="21" name="Text 19"/>
          <p:cNvSpPr/>
          <p:nvPr/>
        </p:nvSpPr>
        <p:spPr>
          <a:xfrm>
            <a:off x="3369394" y="1413681"/>
            <a:ext cx="2405100" cy="148036"/>
          </a:xfrm>
          <a:prstGeom prst="rect">
            <a:avLst/>
          </a:prstGeom>
          <a:noFill/>
          <a:ln/>
        </p:spPr>
        <p:txBody>
          <a:bodyPr wrap="none" lIns="0" tIns="0" rIns="214313" bIns="0" rtlCol="0" anchor="t"/>
          <a:lstStyle/>
          <a:p>
            <a:pPr algn="l" indent="0" marL="0">
              <a:lnSpc>
                <a:spcPts val="1080"/>
              </a:lnSpc>
              <a:buNone/>
            </a:pPr>
            <a:r>
              <a:rPr lang="en-US" sz="900" dirty="0">
                <a:solidFill>
                  <a:srgbClr val="134E4A"/>
                </a:solidFill>
                <a:latin typeface="Tinos" pitchFamily="34" charset="0"/>
                <a:ea typeface="Tinos" pitchFamily="34" charset="-122"/>
                <a:cs typeface="Tinos" pitchFamily="34" charset="-120"/>
              </a:rPr>
              <a:t>Sample / Populasi</a:t>
            </a:r>
            <a:endParaRPr lang="en-US" sz="900" dirty="0"/>
          </a:p>
        </p:txBody>
      </p:sp>
      <p:sp>
        <p:nvSpPr>
          <p:cNvPr id="22" name="Text 20"/>
          <p:cNvSpPr/>
          <p:nvPr/>
        </p:nvSpPr>
        <p:spPr>
          <a:xfrm>
            <a:off x="3369394" y="1593614"/>
            <a:ext cx="2405100" cy="939211"/>
          </a:xfrm>
          <a:prstGeom prst="rect">
            <a:avLst/>
          </a:prstGeom>
          <a:noFill/>
          <a:ln/>
        </p:spPr>
        <p:txBody>
          <a:bodyPr wrap="square" lIns="0" tIns="0" rIns="0" bIns="0" rtlCol="0" anchor="t"/>
          <a:lstStyle/>
          <a:p>
            <a:pPr algn="l" indent="0" marL="0">
              <a:lnSpc>
                <a:spcPts val="938"/>
              </a:lnSpc>
              <a:buNone/>
            </a:pPr>
            <a:r>
              <a:rPr lang="en-US" sz="600" dirty="0">
                <a:solidFill>
                  <a:srgbClr val="F97316"/>
                </a:solidFill>
                <a:latin typeface="Carlito" pitchFamily="34" charset="0"/>
                <a:ea typeface="Carlito" pitchFamily="34" charset="-122"/>
                <a:cs typeface="Carlito" pitchFamily="34" charset="-120"/>
              </a:rPr>
              <a:t>●  </a:t>
            </a:r>
            <a:pPr algn="l" indent="0" marL="0">
              <a:lnSpc>
                <a:spcPts val="938"/>
              </a:lnSpc>
              <a:buNone/>
            </a:pPr>
            <a:r>
              <a:rPr lang="en-US" sz="800" dirty="0">
                <a:solidFill>
                  <a:srgbClr val="0F172A"/>
                </a:solidFill>
                <a:latin typeface="Carlito" pitchFamily="34" charset="0"/>
                <a:ea typeface="Carlito" pitchFamily="34" charset="-122"/>
                <a:cs typeface="Carlito" pitchFamily="34" charset="-120"/>
              </a:rPr>
              <a:t>Population description &amp; criteria</a:t>
            </a:r>
            <a:endParaRPr lang="en-US" sz="800" dirty="0"/>
          </a:p>
          <a:p>
            <a:pPr algn="l" indent="0" marL="0">
              <a:lnSpc>
                <a:spcPts val="938"/>
              </a:lnSpc>
              <a:buNone/>
            </a:pPr>
            <a:r>
              <a:rPr lang="en-US" sz="600" dirty="0">
                <a:solidFill>
                  <a:srgbClr val="F97316"/>
                </a:solidFill>
                <a:latin typeface="Carlito" pitchFamily="34" charset="0"/>
                <a:ea typeface="Carlito" pitchFamily="34" charset="-122"/>
                <a:cs typeface="Carlito" pitchFamily="34" charset="-120"/>
              </a:rPr>
              <a:t>●  </a:t>
            </a:r>
            <a:pPr algn="l" indent="0" marL="0">
              <a:lnSpc>
                <a:spcPts val="938"/>
              </a:lnSpc>
              <a:buNone/>
            </a:pPr>
            <a:r>
              <a:rPr lang="en-US" sz="800" dirty="0">
                <a:solidFill>
                  <a:srgbClr val="0F172A"/>
                </a:solidFill>
                <a:latin typeface="Carlito" pitchFamily="34" charset="0"/>
                <a:ea typeface="Carlito" pitchFamily="34" charset="-122"/>
                <a:cs typeface="Carlito" pitchFamily="34" charset="-120"/>
              </a:rPr>
              <a:t>N total (N intervention / N control)</a:t>
            </a:r>
            <a:endParaRPr lang="en-US" sz="800" dirty="0"/>
          </a:p>
          <a:p>
            <a:pPr algn="l" indent="0" marL="0">
              <a:lnSpc>
                <a:spcPts val="938"/>
              </a:lnSpc>
              <a:buNone/>
            </a:pPr>
            <a:r>
              <a:rPr lang="en-US" sz="600" dirty="0">
                <a:solidFill>
                  <a:srgbClr val="F97316"/>
                </a:solidFill>
                <a:latin typeface="Carlito" pitchFamily="34" charset="0"/>
                <a:ea typeface="Carlito" pitchFamily="34" charset="-122"/>
                <a:cs typeface="Carlito" pitchFamily="34" charset="-120"/>
              </a:rPr>
              <a:t>●  </a:t>
            </a:r>
            <a:pPr algn="l" indent="0" marL="0">
              <a:lnSpc>
                <a:spcPts val="938"/>
              </a:lnSpc>
              <a:buNone/>
            </a:pPr>
            <a:r>
              <a:rPr lang="en-US" sz="800" dirty="0">
                <a:solidFill>
                  <a:srgbClr val="0F172A"/>
                </a:solidFill>
                <a:latin typeface="Carlito" pitchFamily="34" charset="0"/>
                <a:ea typeface="Carlito" pitchFamily="34" charset="-122"/>
                <a:cs typeface="Carlito" pitchFamily="34" charset="-120"/>
              </a:rPr>
              <a:t>Demographics (age / gender / level)</a:t>
            </a:r>
            <a:endParaRPr lang="en-US" sz="800" dirty="0"/>
          </a:p>
          <a:p>
            <a:pPr algn="l" indent="0" marL="0">
              <a:lnSpc>
                <a:spcPts val="938"/>
              </a:lnSpc>
              <a:buNone/>
            </a:pPr>
            <a:r>
              <a:rPr lang="en-US" sz="600" dirty="0">
                <a:solidFill>
                  <a:srgbClr val="F97316"/>
                </a:solidFill>
                <a:latin typeface="Carlito" pitchFamily="34" charset="0"/>
                <a:ea typeface="Carlito" pitchFamily="34" charset="-122"/>
                <a:cs typeface="Carlito" pitchFamily="34" charset="-120"/>
              </a:rPr>
              <a:t>●  </a:t>
            </a:r>
            <a:pPr algn="l" indent="0" marL="0">
              <a:lnSpc>
                <a:spcPts val="938"/>
              </a:lnSpc>
              <a:buNone/>
            </a:pPr>
            <a:r>
              <a:rPr lang="en-US" sz="800" dirty="0">
                <a:solidFill>
                  <a:srgbClr val="0F172A"/>
                </a:solidFill>
                <a:latin typeface="Carlito" pitchFamily="34" charset="0"/>
                <a:ea typeface="Carlito" pitchFamily="34" charset="-122"/>
                <a:cs typeface="Carlito" pitchFamily="34" charset="-120"/>
              </a:rPr>
              <a:t>Recruitment &amp; sampling method</a:t>
            </a:r>
            <a:endParaRPr lang="en-US" sz="800" dirty="0"/>
          </a:p>
          <a:p>
            <a:pPr algn="l" indent="0" marL="0">
              <a:lnSpc>
                <a:spcPts val="938"/>
              </a:lnSpc>
              <a:buNone/>
            </a:pPr>
            <a:r>
              <a:rPr lang="en-US" sz="600" dirty="0">
                <a:solidFill>
                  <a:srgbClr val="F97316"/>
                </a:solidFill>
                <a:latin typeface="Carlito" pitchFamily="34" charset="0"/>
                <a:ea typeface="Carlito" pitchFamily="34" charset="-122"/>
                <a:cs typeface="Carlito" pitchFamily="34" charset="-120"/>
              </a:rPr>
              <a:t>●  </a:t>
            </a:r>
            <a:pPr algn="l" indent="0" marL="0">
              <a:lnSpc>
                <a:spcPts val="938"/>
              </a:lnSpc>
              <a:buNone/>
            </a:pPr>
            <a:r>
              <a:rPr lang="en-US" sz="800" dirty="0">
                <a:solidFill>
                  <a:srgbClr val="0F172A"/>
                </a:solidFill>
                <a:latin typeface="Carlito" pitchFamily="34" charset="0"/>
                <a:ea typeface="Carlito" pitchFamily="34" charset="-122"/>
                <a:cs typeface="Carlito" pitchFamily="34" charset="-120"/>
              </a:rPr>
              <a:t>Dropout / attrition rate (%)</a:t>
            </a:r>
            <a:endParaRPr lang="en-US" sz="800" dirty="0"/>
          </a:p>
          <a:p>
            <a:pPr algn="l" indent="0" marL="0">
              <a:lnSpc>
                <a:spcPts val="938"/>
              </a:lnSpc>
              <a:buNone/>
            </a:pPr>
            <a:r>
              <a:rPr lang="en-US" sz="600" dirty="0">
                <a:solidFill>
                  <a:srgbClr val="F97316"/>
                </a:solidFill>
                <a:latin typeface="Carlito" pitchFamily="34" charset="0"/>
                <a:ea typeface="Carlito" pitchFamily="34" charset="-122"/>
                <a:cs typeface="Carlito" pitchFamily="34" charset="-120"/>
              </a:rPr>
              <a:t>●  </a:t>
            </a:r>
            <a:pPr algn="l" indent="0" marL="0">
              <a:lnSpc>
                <a:spcPts val="938"/>
              </a:lnSpc>
              <a:buNone/>
            </a:pPr>
            <a:r>
              <a:rPr lang="en-US" sz="800" dirty="0">
                <a:solidFill>
                  <a:srgbClr val="0F172A"/>
                </a:solidFill>
                <a:latin typeface="Carlito" pitchFamily="34" charset="0"/>
                <a:ea typeface="Carlito" pitchFamily="34" charset="-122"/>
                <a:cs typeface="Carlito" pitchFamily="34" charset="-120"/>
              </a:rPr>
              <a:t>Baseline equivalence</a:t>
            </a:r>
            <a:endParaRPr lang="en-US" sz="800" dirty="0"/>
          </a:p>
        </p:txBody>
      </p:sp>
      <p:sp>
        <p:nvSpPr>
          <p:cNvPr id="23" name="Text 21"/>
          <p:cNvSpPr/>
          <p:nvPr/>
        </p:nvSpPr>
        <p:spPr>
          <a:xfrm>
            <a:off x="6013810" y="1113644"/>
            <a:ext cx="2669307" cy="1421606"/>
          </a:xfrm>
          <a:prstGeom prst="roundRect">
            <a:avLst>
              <a:gd name="adj" fmla="val 8040"/>
            </a:avLst>
          </a:prstGeom>
          <a:solidFill>
            <a:srgbClr val="FFFFFF"/>
          </a:solidFill>
          <a:ln w="7144">
            <a:solidFill>
              <a:srgbClr val="D8DEE2"/>
            </a:solidFill>
            <a:prstDash val="solid"/>
          </a:ln>
        </p:spPr>
        <p:txBody>
          <a:bodyPr wrap="square" rtlCol="0" anchor="ctr"/>
          <a:lstStyle/>
          <a:p>
            <a:pPr indent="0" marL="0">
              <a:buNone/>
            </a:pPr>
            <a:endParaRPr lang="en-US" dirty="0"/>
          </a:p>
        </p:txBody>
      </p:sp>
      <p:sp>
        <p:nvSpPr>
          <p:cNvPr id="24" name="Text 22"/>
          <p:cNvSpPr/>
          <p:nvPr/>
        </p:nvSpPr>
        <p:spPr>
          <a:xfrm>
            <a:off x="8422370" y="1217228"/>
            <a:ext cx="157163" cy="157163"/>
          </a:xfrm>
          <a:prstGeom prst="rect">
            <a:avLst/>
          </a:prstGeom>
          <a:noFill/>
          <a:ln/>
        </p:spPr>
        <p:txBody>
          <a:bodyPr wrap="none" lIns="0" tIns="0" rIns="0" bIns="0" rtlCol="0" anchor="ctr"/>
          <a:lstStyle/>
          <a:p>
            <a:pPr algn="ctr" indent="0" marL="0">
              <a:buNone/>
            </a:pPr>
            <a:r>
              <a:rPr lang="en-US" sz="1547" dirty="0">
                <a:solidFill>
                  <a:srgbClr val="4A8480"/>
                </a:solidFill>
                <a:latin typeface="Segoe UI Symbol" pitchFamily="34" charset="0"/>
                <a:ea typeface="Segoe UI Symbol" pitchFamily="34" charset="-122"/>
                <a:cs typeface="Segoe UI Symbol" pitchFamily="34" charset="-120"/>
              </a:rPr>
              <a:t>⚗</a:t>
            </a:r>
            <a:endParaRPr lang="en-US" sz="1547" dirty="0"/>
          </a:p>
        </p:txBody>
      </p:sp>
      <p:sp>
        <p:nvSpPr>
          <p:cNvPr id="25" name="Text 23"/>
          <p:cNvSpPr/>
          <p:nvPr/>
        </p:nvSpPr>
        <p:spPr>
          <a:xfrm>
            <a:off x="6145969" y="1245803"/>
            <a:ext cx="2404988" cy="140446"/>
          </a:xfrm>
          <a:prstGeom prst="rect">
            <a:avLst/>
          </a:prstGeom>
          <a:noFill/>
          <a:ln/>
        </p:spPr>
        <p:txBody>
          <a:bodyPr wrap="none" lIns="0" tIns="0" rIns="0" bIns="0" rtlCol="0" anchor="t">
            <a:normAutofit/>
          </a:bodyPr>
          <a:lstStyle/>
          <a:p>
            <a:pPr algn="l" indent="0" marL="0">
              <a:lnSpc>
                <a:spcPts val="872"/>
              </a:lnSpc>
              <a:buNone/>
            </a:pPr>
            <a:r>
              <a:rPr lang="en-US" sz="800" b="1" spc="45" kern="0" dirty="0">
                <a:solidFill>
                  <a:srgbClr val="EA680C"/>
                </a:solidFill>
                <a:latin typeface="Liberation Sans Narrow" pitchFamily="34" charset="0"/>
                <a:ea typeface="Liberation Sans Narrow" pitchFamily="34" charset="-122"/>
                <a:cs typeface="Liberation Sans Narrow" pitchFamily="34" charset="-120"/>
              </a:rPr>
              <a:t>KATEGORI 03</a:t>
            </a:r>
            <a:endParaRPr lang="en-US" sz="800" dirty="0"/>
          </a:p>
        </p:txBody>
      </p:sp>
      <p:sp>
        <p:nvSpPr>
          <p:cNvPr id="26" name="Text 24"/>
          <p:cNvSpPr/>
          <p:nvPr/>
        </p:nvSpPr>
        <p:spPr>
          <a:xfrm>
            <a:off x="6145969" y="1413681"/>
            <a:ext cx="2404988" cy="148036"/>
          </a:xfrm>
          <a:prstGeom prst="rect">
            <a:avLst/>
          </a:prstGeom>
          <a:noFill/>
          <a:ln/>
        </p:spPr>
        <p:txBody>
          <a:bodyPr wrap="none" lIns="0" tIns="0" rIns="214313" bIns="0" rtlCol="0" anchor="t"/>
          <a:lstStyle/>
          <a:p>
            <a:pPr algn="l" indent="0" marL="0">
              <a:lnSpc>
                <a:spcPts val="1080"/>
              </a:lnSpc>
              <a:buNone/>
            </a:pPr>
            <a:r>
              <a:rPr lang="en-US" sz="900" dirty="0">
                <a:solidFill>
                  <a:srgbClr val="134E4A"/>
                </a:solidFill>
                <a:latin typeface="Tinos" pitchFamily="34" charset="0"/>
                <a:ea typeface="Tinos" pitchFamily="34" charset="-122"/>
                <a:cs typeface="Tinos" pitchFamily="34" charset="-120"/>
              </a:rPr>
              <a:t>Intervention / Exposure</a:t>
            </a:r>
            <a:endParaRPr lang="en-US" sz="900" dirty="0"/>
          </a:p>
        </p:txBody>
      </p:sp>
      <p:sp>
        <p:nvSpPr>
          <p:cNvPr id="27" name="Text 25"/>
          <p:cNvSpPr/>
          <p:nvPr/>
        </p:nvSpPr>
        <p:spPr>
          <a:xfrm>
            <a:off x="6145969" y="1593614"/>
            <a:ext cx="2404988" cy="939211"/>
          </a:xfrm>
          <a:prstGeom prst="rect">
            <a:avLst/>
          </a:prstGeom>
          <a:noFill/>
          <a:ln/>
        </p:spPr>
        <p:txBody>
          <a:bodyPr wrap="square" lIns="0" tIns="0" rIns="0" bIns="0" rtlCol="0" anchor="t"/>
          <a:lstStyle/>
          <a:p>
            <a:pPr algn="l" indent="0" marL="0">
              <a:lnSpc>
                <a:spcPts val="938"/>
              </a:lnSpc>
              <a:buNone/>
            </a:pPr>
            <a:r>
              <a:rPr lang="en-US" sz="600" dirty="0">
                <a:solidFill>
                  <a:srgbClr val="F97316"/>
                </a:solidFill>
                <a:latin typeface="Carlito" pitchFamily="34" charset="0"/>
                <a:ea typeface="Carlito" pitchFamily="34" charset="-122"/>
                <a:cs typeface="Carlito" pitchFamily="34" charset="-120"/>
              </a:rPr>
              <a:t>●  </a:t>
            </a:r>
            <a:pPr algn="l" indent="0" marL="0">
              <a:lnSpc>
                <a:spcPts val="938"/>
              </a:lnSpc>
              <a:buNone/>
            </a:pPr>
            <a:r>
              <a:rPr lang="en-US" sz="800" dirty="0">
                <a:solidFill>
                  <a:srgbClr val="0F172A"/>
                </a:solidFill>
                <a:latin typeface="Carlito" pitchFamily="34" charset="0"/>
                <a:ea typeface="Carlito" pitchFamily="34" charset="-122"/>
                <a:cs typeface="Carlito" pitchFamily="34" charset="-120"/>
              </a:rPr>
              <a:t>Treatment / program type</a:t>
            </a:r>
            <a:endParaRPr lang="en-US" sz="800" dirty="0"/>
          </a:p>
          <a:p>
            <a:pPr algn="l" indent="0" marL="0">
              <a:lnSpc>
                <a:spcPts val="938"/>
              </a:lnSpc>
              <a:buNone/>
            </a:pPr>
            <a:r>
              <a:rPr lang="en-US" sz="600" dirty="0">
                <a:solidFill>
                  <a:srgbClr val="F97316"/>
                </a:solidFill>
                <a:latin typeface="Carlito" pitchFamily="34" charset="0"/>
                <a:ea typeface="Carlito" pitchFamily="34" charset="-122"/>
                <a:cs typeface="Carlito" pitchFamily="34" charset="-120"/>
              </a:rPr>
              <a:t>●  </a:t>
            </a:r>
            <a:pPr algn="l" indent="0" marL="0">
              <a:lnSpc>
                <a:spcPts val="938"/>
              </a:lnSpc>
              <a:buNone/>
            </a:pPr>
            <a:r>
              <a:rPr lang="en-US" sz="800" dirty="0">
                <a:solidFill>
                  <a:srgbClr val="0F172A"/>
                </a:solidFill>
                <a:latin typeface="Carlito" pitchFamily="34" charset="0"/>
                <a:ea typeface="Carlito" pitchFamily="34" charset="-122"/>
                <a:cs typeface="Carlito" pitchFamily="34" charset="-120"/>
              </a:rPr>
              <a:t>Duration &amp; intensity</a:t>
            </a:r>
            <a:endParaRPr lang="en-US" sz="800" dirty="0"/>
          </a:p>
          <a:p>
            <a:pPr algn="l" indent="0" marL="0">
              <a:lnSpc>
                <a:spcPts val="938"/>
              </a:lnSpc>
              <a:buNone/>
            </a:pPr>
            <a:r>
              <a:rPr lang="en-US" sz="600" dirty="0">
                <a:solidFill>
                  <a:srgbClr val="F97316"/>
                </a:solidFill>
                <a:latin typeface="Carlito" pitchFamily="34" charset="0"/>
                <a:ea typeface="Carlito" pitchFamily="34" charset="-122"/>
                <a:cs typeface="Carlito" pitchFamily="34" charset="-120"/>
              </a:rPr>
              <a:t>●  </a:t>
            </a:r>
            <a:pPr algn="l" indent="0" marL="0">
              <a:lnSpc>
                <a:spcPts val="938"/>
              </a:lnSpc>
              <a:buNone/>
            </a:pPr>
            <a:r>
              <a:rPr lang="en-US" sz="800" dirty="0">
                <a:solidFill>
                  <a:srgbClr val="0F172A"/>
                </a:solidFill>
                <a:latin typeface="Carlito" pitchFamily="34" charset="0"/>
                <a:ea typeface="Carlito" pitchFamily="34" charset="-122"/>
                <a:cs typeface="Carlito" pitchFamily="34" charset="-120"/>
              </a:rPr>
              <a:t>Dose / frequency / modality</a:t>
            </a:r>
            <a:endParaRPr lang="en-US" sz="800" dirty="0"/>
          </a:p>
          <a:p>
            <a:pPr algn="l" indent="0" marL="0">
              <a:lnSpc>
                <a:spcPts val="938"/>
              </a:lnSpc>
              <a:buNone/>
            </a:pPr>
            <a:r>
              <a:rPr lang="en-US" sz="600" dirty="0">
                <a:solidFill>
                  <a:srgbClr val="F97316"/>
                </a:solidFill>
                <a:latin typeface="Carlito" pitchFamily="34" charset="0"/>
                <a:ea typeface="Carlito" pitchFamily="34" charset="-122"/>
                <a:cs typeface="Carlito" pitchFamily="34" charset="-120"/>
              </a:rPr>
              <a:t>●  </a:t>
            </a:r>
            <a:pPr algn="l" indent="0" marL="0">
              <a:lnSpc>
                <a:spcPts val="938"/>
              </a:lnSpc>
              <a:buNone/>
            </a:pPr>
            <a:r>
              <a:rPr lang="en-US" sz="800" dirty="0">
                <a:solidFill>
                  <a:srgbClr val="0F172A"/>
                </a:solidFill>
                <a:latin typeface="Carlito" pitchFamily="34" charset="0"/>
                <a:ea typeface="Carlito" pitchFamily="34" charset="-122"/>
                <a:cs typeface="Carlito" pitchFamily="34" charset="-120"/>
              </a:rPr>
              <a:t>Delivery platform (online / offline)</a:t>
            </a:r>
            <a:endParaRPr lang="en-US" sz="800" dirty="0"/>
          </a:p>
          <a:p>
            <a:pPr algn="l" indent="0" marL="0">
              <a:lnSpc>
                <a:spcPts val="938"/>
              </a:lnSpc>
              <a:buNone/>
            </a:pPr>
            <a:r>
              <a:rPr lang="en-US" sz="600" dirty="0">
                <a:solidFill>
                  <a:srgbClr val="F97316"/>
                </a:solidFill>
                <a:latin typeface="Carlito" pitchFamily="34" charset="0"/>
                <a:ea typeface="Carlito" pitchFamily="34" charset="-122"/>
                <a:cs typeface="Carlito" pitchFamily="34" charset="-120"/>
              </a:rPr>
              <a:t>●  </a:t>
            </a:r>
            <a:pPr algn="l" indent="0" marL="0">
              <a:lnSpc>
                <a:spcPts val="938"/>
              </a:lnSpc>
              <a:buNone/>
            </a:pPr>
            <a:r>
              <a:rPr lang="en-US" sz="800" dirty="0">
                <a:solidFill>
                  <a:srgbClr val="0F172A"/>
                </a:solidFill>
                <a:latin typeface="Carlito" pitchFamily="34" charset="0"/>
                <a:ea typeface="Carlito" pitchFamily="34" charset="-122"/>
                <a:cs typeface="Carlito" pitchFamily="34" charset="-120"/>
              </a:rPr>
              <a:t>Provider qualifications &amp; training</a:t>
            </a:r>
            <a:endParaRPr lang="en-US" sz="800" dirty="0"/>
          </a:p>
          <a:p>
            <a:pPr algn="l" indent="0" marL="0">
              <a:lnSpc>
                <a:spcPts val="938"/>
              </a:lnSpc>
              <a:buNone/>
            </a:pPr>
            <a:r>
              <a:rPr lang="en-US" sz="600" dirty="0">
                <a:solidFill>
                  <a:srgbClr val="F97316"/>
                </a:solidFill>
                <a:latin typeface="Carlito" pitchFamily="34" charset="0"/>
                <a:ea typeface="Carlito" pitchFamily="34" charset="-122"/>
                <a:cs typeface="Carlito" pitchFamily="34" charset="-120"/>
              </a:rPr>
              <a:t>●  </a:t>
            </a:r>
            <a:pPr algn="l" indent="0" marL="0">
              <a:lnSpc>
                <a:spcPts val="938"/>
              </a:lnSpc>
              <a:buNone/>
            </a:pPr>
            <a:r>
              <a:rPr lang="en-US" sz="800" dirty="0">
                <a:solidFill>
                  <a:srgbClr val="0F172A"/>
                </a:solidFill>
                <a:latin typeface="Carlito" pitchFamily="34" charset="0"/>
                <a:ea typeface="Carlito" pitchFamily="34" charset="-122"/>
                <a:cs typeface="Carlito" pitchFamily="34" charset="-120"/>
              </a:rPr>
              <a:t>Fidelity check / adherence</a:t>
            </a:r>
            <a:endParaRPr lang="en-US" sz="800" dirty="0"/>
          </a:p>
        </p:txBody>
      </p:sp>
      <p:sp>
        <p:nvSpPr>
          <p:cNvPr id="28" name="Text 26"/>
          <p:cNvSpPr/>
          <p:nvPr/>
        </p:nvSpPr>
        <p:spPr>
          <a:xfrm>
            <a:off x="460772" y="2642406"/>
            <a:ext cx="2669307" cy="1421606"/>
          </a:xfrm>
          <a:prstGeom prst="roundRect">
            <a:avLst>
              <a:gd name="adj" fmla="val 8040"/>
            </a:avLst>
          </a:prstGeom>
          <a:solidFill>
            <a:srgbClr val="FFFFFF"/>
          </a:solidFill>
          <a:ln w="7144">
            <a:solidFill>
              <a:srgbClr val="D8DEE2"/>
            </a:solidFill>
            <a:prstDash val="solid"/>
          </a:ln>
        </p:spPr>
        <p:txBody>
          <a:bodyPr wrap="square" rtlCol="0" anchor="ctr"/>
          <a:lstStyle/>
          <a:p>
            <a:pPr indent="0" marL="0">
              <a:buNone/>
            </a:pPr>
            <a:endParaRPr lang="en-US" dirty="0"/>
          </a:p>
        </p:txBody>
      </p:sp>
      <p:sp>
        <p:nvSpPr>
          <p:cNvPr id="29" name="Text 27"/>
          <p:cNvSpPr/>
          <p:nvPr/>
        </p:nvSpPr>
        <p:spPr>
          <a:xfrm>
            <a:off x="2869332" y="2745991"/>
            <a:ext cx="157163" cy="157163"/>
          </a:xfrm>
          <a:prstGeom prst="rect">
            <a:avLst/>
          </a:prstGeom>
          <a:noFill/>
          <a:ln/>
        </p:spPr>
        <p:txBody>
          <a:bodyPr wrap="none" lIns="0" tIns="0" rIns="0" bIns="0" rtlCol="0" anchor="ctr"/>
          <a:lstStyle/>
          <a:p>
            <a:pPr algn="ctr" indent="0" marL="0">
              <a:buNone/>
            </a:pPr>
            <a:r>
              <a:rPr lang="en-US" sz="1547" dirty="0">
                <a:solidFill>
                  <a:srgbClr val="4A8480"/>
                </a:solidFill>
                <a:latin typeface="Segoe UI Symbol" pitchFamily="34" charset="0"/>
                <a:ea typeface="Segoe UI Symbol" pitchFamily="34" charset="-122"/>
                <a:cs typeface="Segoe UI Symbol" pitchFamily="34" charset="-120"/>
              </a:rPr>
              <a:t>⇄</a:t>
            </a:r>
            <a:endParaRPr lang="en-US" sz="1547" dirty="0"/>
          </a:p>
        </p:txBody>
      </p:sp>
      <p:sp>
        <p:nvSpPr>
          <p:cNvPr id="30" name="Text 28"/>
          <p:cNvSpPr/>
          <p:nvPr/>
        </p:nvSpPr>
        <p:spPr>
          <a:xfrm>
            <a:off x="592931" y="2774566"/>
            <a:ext cx="2404988" cy="140446"/>
          </a:xfrm>
          <a:prstGeom prst="rect">
            <a:avLst/>
          </a:prstGeom>
          <a:noFill/>
          <a:ln/>
        </p:spPr>
        <p:txBody>
          <a:bodyPr wrap="none" lIns="0" tIns="0" rIns="0" bIns="0" rtlCol="0" anchor="t">
            <a:normAutofit/>
          </a:bodyPr>
          <a:lstStyle/>
          <a:p>
            <a:pPr algn="l" indent="0" marL="0">
              <a:lnSpc>
                <a:spcPts val="872"/>
              </a:lnSpc>
              <a:buNone/>
            </a:pPr>
            <a:r>
              <a:rPr lang="en-US" sz="800" b="1" spc="45" kern="0" dirty="0">
                <a:solidFill>
                  <a:srgbClr val="EA680C"/>
                </a:solidFill>
                <a:latin typeface="Liberation Sans Narrow" pitchFamily="34" charset="0"/>
                <a:ea typeface="Liberation Sans Narrow" pitchFamily="34" charset="-122"/>
                <a:cs typeface="Liberation Sans Narrow" pitchFamily="34" charset="-120"/>
              </a:rPr>
              <a:t>KATEGORI 04</a:t>
            </a:r>
            <a:endParaRPr lang="en-US" sz="800" dirty="0"/>
          </a:p>
        </p:txBody>
      </p:sp>
      <p:sp>
        <p:nvSpPr>
          <p:cNvPr id="31" name="Text 29"/>
          <p:cNvSpPr/>
          <p:nvPr/>
        </p:nvSpPr>
        <p:spPr>
          <a:xfrm>
            <a:off x="592931" y="2942444"/>
            <a:ext cx="2404988" cy="148036"/>
          </a:xfrm>
          <a:prstGeom prst="rect">
            <a:avLst/>
          </a:prstGeom>
          <a:noFill/>
          <a:ln/>
        </p:spPr>
        <p:txBody>
          <a:bodyPr wrap="none" lIns="0" tIns="0" rIns="214313" bIns="0" rtlCol="0" anchor="t"/>
          <a:lstStyle/>
          <a:p>
            <a:pPr algn="l" indent="0" marL="0">
              <a:lnSpc>
                <a:spcPts val="1080"/>
              </a:lnSpc>
              <a:buNone/>
            </a:pPr>
            <a:r>
              <a:rPr lang="en-US" sz="900" dirty="0">
                <a:solidFill>
                  <a:srgbClr val="134E4A"/>
                </a:solidFill>
                <a:latin typeface="Tinos" pitchFamily="34" charset="0"/>
                <a:ea typeface="Tinos" pitchFamily="34" charset="-122"/>
                <a:cs typeface="Tinos" pitchFamily="34" charset="-120"/>
              </a:rPr>
              <a:t>Comparator / Control</a:t>
            </a:r>
            <a:endParaRPr lang="en-US" sz="900" dirty="0"/>
          </a:p>
        </p:txBody>
      </p:sp>
      <p:sp>
        <p:nvSpPr>
          <p:cNvPr id="32" name="Text 30"/>
          <p:cNvSpPr/>
          <p:nvPr/>
        </p:nvSpPr>
        <p:spPr>
          <a:xfrm>
            <a:off x="592931" y="3122377"/>
            <a:ext cx="2404988" cy="939211"/>
          </a:xfrm>
          <a:prstGeom prst="rect">
            <a:avLst/>
          </a:prstGeom>
          <a:noFill/>
          <a:ln/>
        </p:spPr>
        <p:txBody>
          <a:bodyPr wrap="square" lIns="0" tIns="0" rIns="0" bIns="0" rtlCol="0" anchor="t"/>
          <a:lstStyle/>
          <a:p>
            <a:pPr algn="l" indent="0" marL="0">
              <a:lnSpc>
                <a:spcPts val="938"/>
              </a:lnSpc>
              <a:buNone/>
            </a:pPr>
            <a:r>
              <a:rPr lang="en-US" sz="600" dirty="0">
                <a:solidFill>
                  <a:srgbClr val="F97316"/>
                </a:solidFill>
                <a:latin typeface="Carlito" pitchFamily="34" charset="0"/>
                <a:ea typeface="Carlito" pitchFamily="34" charset="-122"/>
                <a:cs typeface="Carlito" pitchFamily="34" charset="-120"/>
              </a:rPr>
              <a:t>●  </a:t>
            </a:r>
            <a:pPr algn="l" indent="0" marL="0">
              <a:lnSpc>
                <a:spcPts val="938"/>
              </a:lnSpc>
              <a:buNone/>
            </a:pPr>
            <a:r>
              <a:rPr lang="en-US" sz="800" dirty="0">
                <a:solidFill>
                  <a:srgbClr val="0F172A"/>
                </a:solidFill>
                <a:latin typeface="Carlito" pitchFamily="34" charset="0"/>
                <a:ea typeface="Carlito" pitchFamily="34" charset="-122"/>
                <a:cs typeface="Carlito" pitchFamily="34" charset="-120"/>
              </a:rPr>
              <a:t>Control type (active / passive / waitlist)</a:t>
            </a:r>
            <a:endParaRPr lang="en-US" sz="800" dirty="0"/>
          </a:p>
          <a:p>
            <a:pPr algn="l" indent="0" marL="0">
              <a:lnSpc>
                <a:spcPts val="938"/>
              </a:lnSpc>
              <a:buNone/>
            </a:pPr>
            <a:r>
              <a:rPr lang="en-US" sz="600" dirty="0">
                <a:solidFill>
                  <a:srgbClr val="F97316"/>
                </a:solidFill>
                <a:latin typeface="Carlito" pitchFamily="34" charset="0"/>
                <a:ea typeface="Carlito" pitchFamily="34" charset="-122"/>
                <a:cs typeface="Carlito" pitchFamily="34" charset="-120"/>
              </a:rPr>
              <a:t>●  </a:t>
            </a:r>
            <a:pPr algn="l" indent="0" marL="0">
              <a:lnSpc>
                <a:spcPts val="938"/>
              </a:lnSpc>
              <a:buNone/>
            </a:pPr>
            <a:r>
              <a:rPr lang="en-US" sz="800" dirty="0">
                <a:solidFill>
                  <a:srgbClr val="0F172A"/>
                </a:solidFill>
                <a:latin typeface="Carlito" pitchFamily="34" charset="0"/>
                <a:ea typeface="Carlito" pitchFamily="34" charset="-122"/>
                <a:cs typeface="Carlito" pitchFamily="34" charset="-120"/>
              </a:rPr>
              <a:t>Placebo / sham description</a:t>
            </a:r>
            <a:endParaRPr lang="en-US" sz="800" dirty="0"/>
          </a:p>
          <a:p>
            <a:pPr algn="l" indent="0" marL="0">
              <a:lnSpc>
                <a:spcPts val="938"/>
              </a:lnSpc>
              <a:buNone/>
            </a:pPr>
            <a:r>
              <a:rPr lang="en-US" sz="600" dirty="0">
                <a:solidFill>
                  <a:srgbClr val="F97316"/>
                </a:solidFill>
                <a:latin typeface="Carlito" pitchFamily="34" charset="0"/>
                <a:ea typeface="Carlito" pitchFamily="34" charset="-122"/>
                <a:cs typeface="Carlito" pitchFamily="34" charset="-120"/>
              </a:rPr>
              <a:t>●  </a:t>
            </a:r>
            <a:pPr algn="l" indent="0" marL="0">
              <a:lnSpc>
                <a:spcPts val="938"/>
              </a:lnSpc>
              <a:buNone/>
            </a:pPr>
            <a:r>
              <a:rPr lang="en-US" sz="800" dirty="0">
                <a:solidFill>
                  <a:srgbClr val="0F172A"/>
                </a:solidFill>
                <a:latin typeface="Carlito" pitchFamily="34" charset="0"/>
                <a:ea typeface="Carlito" pitchFamily="34" charset="-122"/>
                <a:cs typeface="Carlito" pitchFamily="34" charset="-120"/>
              </a:rPr>
              <a:t>Alternative intervention</a:t>
            </a:r>
            <a:endParaRPr lang="en-US" sz="800" dirty="0"/>
          </a:p>
          <a:p>
            <a:pPr algn="l" indent="0" marL="0">
              <a:lnSpc>
                <a:spcPts val="938"/>
              </a:lnSpc>
              <a:buNone/>
            </a:pPr>
            <a:r>
              <a:rPr lang="en-US" sz="600" dirty="0">
                <a:solidFill>
                  <a:srgbClr val="F97316"/>
                </a:solidFill>
                <a:latin typeface="Carlito" pitchFamily="34" charset="0"/>
                <a:ea typeface="Carlito" pitchFamily="34" charset="-122"/>
                <a:cs typeface="Carlito" pitchFamily="34" charset="-120"/>
              </a:rPr>
              <a:t>●  </a:t>
            </a:r>
            <a:pPr algn="l" indent="0" marL="0">
              <a:lnSpc>
                <a:spcPts val="938"/>
              </a:lnSpc>
              <a:buNone/>
            </a:pPr>
            <a:r>
              <a:rPr lang="en-US" sz="800" dirty="0">
                <a:solidFill>
                  <a:srgbClr val="0F172A"/>
                </a:solidFill>
                <a:latin typeface="Carlito" pitchFamily="34" charset="0"/>
                <a:ea typeface="Carlito" pitchFamily="34" charset="-122"/>
                <a:cs typeface="Carlito" pitchFamily="34" charset="-120"/>
              </a:rPr>
              <a:t>Standard care / business as usual</a:t>
            </a:r>
            <a:endParaRPr lang="en-US" sz="800" dirty="0"/>
          </a:p>
          <a:p>
            <a:pPr algn="l" indent="0" marL="0">
              <a:lnSpc>
                <a:spcPts val="938"/>
              </a:lnSpc>
              <a:buNone/>
            </a:pPr>
            <a:r>
              <a:rPr lang="en-US" sz="600" dirty="0">
                <a:solidFill>
                  <a:srgbClr val="F97316"/>
                </a:solidFill>
                <a:latin typeface="Carlito" pitchFamily="34" charset="0"/>
                <a:ea typeface="Carlito" pitchFamily="34" charset="-122"/>
                <a:cs typeface="Carlito" pitchFamily="34" charset="-120"/>
              </a:rPr>
              <a:t>●  </a:t>
            </a:r>
            <a:pPr algn="l" indent="0" marL="0">
              <a:lnSpc>
                <a:spcPts val="938"/>
              </a:lnSpc>
              <a:buNone/>
            </a:pPr>
            <a:r>
              <a:rPr lang="en-US" sz="800" dirty="0">
                <a:solidFill>
                  <a:srgbClr val="0F172A"/>
                </a:solidFill>
                <a:latin typeface="Carlito" pitchFamily="34" charset="0"/>
                <a:ea typeface="Carlito" pitchFamily="34" charset="-122"/>
                <a:cs typeface="Carlito" pitchFamily="34" charset="-120"/>
              </a:rPr>
              <a:t>Matching duration &amp; contact time</a:t>
            </a:r>
            <a:endParaRPr lang="en-US" sz="800" dirty="0"/>
          </a:p>
          <a:p>
            <a:pPr algn="l" indent="0" marL="0">
              <a:lnSpc>
                <a:spcPts val="938"/>
              </a:lnSpc>
              <a:buNone/>
            </a:pPr>
            <a:r>
              <a:rPr lang="en-US" sz="600" dirty="0">
                <a:solidFill>
                  <a:srgbClr val="F97316"/>
                </a:solidFill>
                <a:latin typeface="Carlito" pitchFamily="34" charset="0"/>
                <a:ea typeface="Carlito" pitchFamily="34" charset="-122"/>
                <a:cs typeface="Carlito" pitchFamily="34" charset="-120"/>
              </a:rPr>
              <a:t>●  </a:t>
            </a:r>
            <a:pPr algn="l" indent="0" marL="0">
              <a:lnSpc>
                <a:spcPts val="938"/>
              </a:lnSpc>
              <a:buNone/>
            </a:pPr>
            <a:r>
              <a:rPr lang="en-US" sz="800" dirty="0">
                <a:solidFill>
                  <a:srgbClr val="0F172A"/>
                </a:solidFill>
                <a:latin typeface="Carlito" pitchFamily="34" charset="0"/>
                <a:ea typeface="Carlito" pitchFamily="34" charset="-122"/>
                <a:cs typeface="Carlito" pitchFamily="34" charset="-120"/>
              </a:rPr>
              <a:t>Contamination risk</a:t>
            </a:r>
            <a:endParaRPr lang="en-US" sz="800" dirty="0"/>
          </a:p>
        </p:txBody>
      </p:sp>
      <p:sp>
        <p:nvSpPr>
          <p:cNvPr id="33" name="Text 31"/>
          <p:cNvSpPr/>
          <p:nvPr/>
        </p:nvSpPr>
        <p:spPr>
          <a:xfrm>
            <a:off x="3237235" y="2642406"/>
            <a:ext cx="2669418" cy="1421606"/>
          </a:xfrm>
          <a:prstGeom prst="roundRect">
            <a:avLst>
              <a:gd name="adj" fmla="val 8040"/>
            </a:avLst>
          </a:prstGeom>
          <a:solidFill>
            <a:srgbClr val="FFFFFF"/>
          </a:solidFill>
          <a:ln w="7144">
            <a:solidFill>
              <a:srgbClr val="D8DEE2"/>
            </a:solidFill>
            <a:prstDash val="solid"/>
          </a:ln>
        </p:spPr>
        <p:txBody>
          <a:bodyPr wrap="square" rtlCol="0" anchor="ctr"/>
          <a:lstStyle/>
          <a:p>
            <a:pPr indent="0" marL="0">
              <a:buNone/>
            </a:pPr>
            <a:endParaRPr lang="en-US" dirty="0"/>
          </a:p>
        </p:txBody>
      </p:sp>
      <p:sp>
        <p:nvSpPr>
          <p:cNvPr id="34" name="Text 32"/>
          <p:cNvSpPr/>
          <p:nvPr/>
        </p:nvSpPr>
        <p:spPr>
          <a:xfrm>
            <a:off x="5645907" y="2745991"/>
            <a:ext cx="157163" cy="157163"/>
          </a:xfrm>
          <a:prstGeom prst="rect">
            <a:avLst/>
          </a:prstGeom>
          <a:noFill/>
          <a:ln/>
        </p:spPr>
        <p:txBody>
          <a:bodyPr wrap="none" lIns="0" tIns="0" rIns="0" bIns="0" rtlCol="0" anchor="ctr"/>
          <a:lstStyle/>
          <a:p>
            <a:pPr algn="ctr" indent="0" marL="0">
              <a:buNone/>
            </a:pPr>
            <a:r>
              <a:rPr lang="en-US" sz="1547" dirty="0">
                <a:solidFill>
                  <a:srgbClr val="4A8480"/>
                </a:solidFill>
                <a:latin typeface="Segoe UI Symbol" pitchFamily="34" charset="0"/>
                <a:ea typeface="Segoe UI Symbol" pitchFamily="34" charset="-122"/>
                <a:cs typeface="Segoe UI Symbol" pitchFamily="34" charset="-120"/>
              </a:rPr>
              <a:t>▦</a:t>
            </a:r>
            <a:endParaRPr lang="en-US" sz="1547" dirty="0"/>
          </a:p>
        </p:txBody>
      </p:sp>
      <p:sp>
        <p:nvSpPr>
          <p:cNvPr id="35" name="Text 33"/>
          <p:cNvSpPr/>
          <p:nvPr/>
        </p:nvSpPr>
        <p:spPr>
          <a:xfrm>
            <a:off x="3369394" y="2774566"/>
            <a:ext cx="2405100" cy="140446"/>
          </a:xfrm>
          <a:prstGeom prst="rect">
            <a:avLst/>
          </a:prstGeom>
          <a:noFill/>
          <a:ln/>
        </p:spPr>
        <p:txBody>
          <a:bodyPr wrap="none" lIns="0" tIns="0" rIns="0" bIns="0" rtlCol="0" anchor="t">
            <a:normAutofit/>
          </a:bodyPr>
          <a:lstStyle/>
          <a:p>
            <a:pPr algn="l" indent="0" marL="0">
              <a:lnSpc>
                <a:spcPts val="872"/>
              </a:lnSpc>
              <a:buNone/>
            </a:pPr>
            <a:r>
              <a:rPr lang="en-US" sz="800" b="1" spc="45" kern="0" dirty="0">
                <a:solidFill>
                  <a:srgbClr val="EA680C"/>
                </a:solidFill>
                <a:latin typeface="Liberation Sans Narrow" pitchFamily="34" charset="0"/>
                <a:ea typeface="Liberation Sans Narrow" pitchFamily="34" charset="-122"/>
                <a:cs typeface="Liberation Sans Narrow" pitchFamily="34" charset="-120"/>
              </a:rPr>
              <a:t>KATEGORI 05</a:t>
            </a:r>
            <a:endParaRPr lang="en-US" sz="800" dirty="0"/>
          </a:p>
        </p:txBody>
      </p:sp>
      <p:sp>
        <p:nvSpPr>
          <p:cNvPr id="36" name="Text 34"/>
          <p:cNvSpPr/>
          <p:nvPr/>
        </p:nvSpPr>
        <p:spPr>
          <a:xfrm>
            <a:off x="3369394" y="2942444"/>
            <a:ext cx="2405100" cy="148036"/>
          </a:xfrm>
          <a:prstGeom prst="rect">
            <a:avLst/>
          </a:prstGeom>
          <a:noFill/>
          <a:ln/>
        </p:spPr>
        <p:txBody>
          <a:bodyPr wrap="none" lIns="0" tIns="0" rIns="214313" bIns="0" rtlCol="0" anchor="t"/>
          <a:lstStyle/>
          <a:p>
            <a:pPr algn="l" indent="0" marL="0">
              <a:lnSpc>
                <a:spcPts val="1080"/>
              </a:lnSpc>
              <a:buNone/>
            </a:pPr>
            <a:r>
              <a:rPr lang="en-US" sz="900" dirty="0">
                <a:solidFill>
                  <a:srgbClr val="134E4A"/>
                </a:solidFill>
                <a:latin typeface="Tinos" pitchFamily="34" charset="0"/>
                <a:ea typeface="Tinos" pitchFamily="34" charset="-122"/>
                <a:cs typeface="Tinos" pitchFamily="34" charset="-120"/>
              </a:rPr>
              <a:t>Outcomes</a:t>
            </a:r>
            <a:endParaRPr lang="en-US" sz="900" dirty="0"/>
          </a:p>
        </p:txBody>
      </p:sp>
      <p:sp>
        <p:nvSpPr>
          <p:cNvPr id="37" name="Text 35"/>
          <p:cNvSpPr/>
          <p:nvPr/>
        </p:nvSpPr>
        <p:spPr>
          <a:xfrm>
            <a:off x="3369394" y="3122377"/>
            <a:ext cx="2405100" cy="939211"/>
          </a:xfrm>
          <a:prstGeom prst="rect">
            <a:avLst/>
          </a:prstGeom>
          <a:noFill/>
          <a:ln/>
        </p:spPr>
        <p:txBody>
          <a:bodyPr wrap="square" lIns="0" tIns="0" rIns="0" bIns="0" rtlCol="0" anchor="t"/>
          <a:lstStyle/>
          <a:p>
            <a:pPr algn="l" indent="0" marL="0">
              <a:lnSpc>
                <a:spcPts val="938"/>
              </a:lnSpc>
              <a:buNone/>
            </a:pPr>
            <a:r>
              <a:rPr lang="en-US" sz="600" dirty="0">
                <a:solidFill>
                  <a:srgbClr val="F97316"/>
                </a:solidFill>
                <a:latin typeface="Carlito" pitchFamily="34" charset="0"/>
                <a:ea typeface="Carlito" pitchFamily="34" charset="-122"/>
                <a:cs typeface="Carlito" pitchFamily="34" charset="-120"/>
              </a:rPr>
              <a:t>●  </a:t>
            </a:r>
            <a:pPr algn="l" indent="0" marL="0">
              <a:lnSpc>
                <a:spcPts val="938"/>
              </a:lnSpc>
              <a:buNone/>
            </a:pPr>
            <a:r>
              <a:rPr lang="en-US" sz="800" dirty="0">
                <a:solidFill>
                  <a:srgbClr val="0F172A"/>
                </a:solidFill>
                <a:latin typeface="Carlito" pitchFamily="34" charset="0"/>
                <a:ea typeface="Carlito" pitchFamily="34" charset="-122"/>
                <a:cs typeface="Carlito" pitchFamily="34" charset="-120"/>
              </a:rPr>
              <a:t>Primary outcome (define &amp; justify)</a:t>
            </a:r>
            <a:endParaRPr lang="en-US" sz="800" dirty="0"/>
          </a:p>
          <a:p>
            <a:pPr algn="l" indent="0" marL="0">
              <a:lnSpc>
                <a:spcPts val="938"/>
              </a:lnSpc>
              <a:buNone/>
            </a:pPr>
            <a:r>
              <a:rPr lang="en-US" sz="600" dirty="0">
                <a:solidFill>
                  <a:srgbClr val="F97316"/>
                </a:solidFill>
                <a:latin typeface="Carlito" pitchFamily="34" charset="0"/>
                <a:ea typeface="Carlito" pitchFamily="34" charset="-122"/>
                <a:cs typeface="Carlito" pitchFamily="34" charset="-120"/>
              </a:rPr>
              <a:t>●  </a:t>
            </a:r>
            <a:pPr algn="l" indent="0" marL="0">
              <a:lnSpc>
                <a:spcPts val="938"/>
              </a:lnSpc>
              <a:buNone/>
            </a:pPr>
            <a:r>
              <a:rPr lang="en-US" sz="800" dirty="0">
                <a:solidFill>
                  <a:srgbClr val="0F172A"/>
                </a:solidFill>
                <a:latin typeface="Carlito" pitchFamily="34" charset="0"/>
                <a:ea typeface="Carlito" pitchFamily="34" charset="-122"/>
                <a:cs typeface="Carlito" pitchFamily="34" charset="-120"/>
              </a:rPr>
              <a:t>Secondary outcomes</a:t>
            </a:r>
            <a:endParaRPr lang="en-US" sz="800" dirty="0"/>
          </a:p>
          <a:p>
            <a:pPr algn="l" indent="0" marL="0">
              <a:lnSpc>
                <a:spcPts val="938"/>
              </a:lnSpc>
              <a:buNone/>
            </a:pPr>
            <a:r>
              <a:rPr lang="en-US" sz="600" dirty="0">
                <a:solidFill>
                  <a:srgbClr val="F97316"/>
                </a:solidFill>
                <a:latin typeface="Carlito" pitchFamily="34" charset="0"/>
                <a:ea typeface="Carlito" pitchFamily="34" charset="-122"/>
                <a:cs typeface="Carlito" pitchFamily="34" charset="-120"/>
              </a:rPr>
              <a:t>●  </a:t>
            </a:r>
            <a:pPr algn="l" indent="0" marL="0">
              <a:lnSpc>
                <a:spcPts val="938"/>
              </a:lnSpc>
              <a:buNone/>
            </a:pPr>
            <a:r>
              <a:rPr lang="en-US" sz="800" dirty="0">
                <a:solidFill>
                  <a:srgbClr val="0F172A"/>
                </a:solidFill>
                <a:latin typeface="Carlito" pitchFamily="34" charset="0"/>
                <a:ea typeface="Carlito" pitchFamily="34" charset="-122"/>
                <a:cs typeface="Carlito" pitchFamily="34" charset="-120"/>
              </a:rPr>
              <a:t>Measurement tool / instrument</a:t>
            </a:r>
            <a:endParaRPr lang="en-US" sz="800" dirty="0"/>
          </a:p>
          <a:p>
            <a:pPr algn="l" indent="0" marL="0">
              <a:lnSpc>
                <a:spcPts val="938"/>
              </a:lnSpc>
              <a:buNone/>
            </a:pPr>
            <a:r>
              <a:rPr lang="en-US" sz="600" dirty="0">
                <a:solidFill>
                  <a:srgbClr val="F97316"/>
                </a:solidFill>
                <a:latin typeface="Carlito" pitchFamily="34" charset="0"/>
                <a:ea typeface="Carlito" pitchFamily="34" charset="-122"/>
                <a:cs typeface="Carlito" pitchFamily="34" charset="-120"/>
              </a:rPr>
              <a:t>●  </a:t>
            </a:r>
            <a:pPr algn="l" indent="0" marL="0">
              <a:lnSpc>
                <a:spcPts val="938"/>
              </a:lnSpc>
              <a:buNone/>
            </a:pPr>
            <a:r>
              <a:rPr lang="en-US" sz="800" dirty="0">
                <a:solidFill>
                  <a:srgbClr val="0F172A"/>
                </a:solidFill>
                <a:latin typeface="Carlito" pitchFamily="34" charset="0"/>
                <a:ea typeface="Carlito" pitchFamily="34" charset="-122"/>
                <a:cs typeface="Carlito" pitchFamily="34" charset="-120"/>
              </a:rPr>
              <a:t>Time point (pre / post / follow-up)</a:t>
            </a:r>
            <a:endParaRPr lang="en-US" sz="800" dirty="0"/>
          </a:p>
          <a:p>
            <a:pPr algn="l" indent="0" marL="0">
              <a:lnSpc>
                <a:spcPts val="938"/>
              </a:lnSpc>
              <a:buNone/>
            </a:pPr>
            <a:r>
              <a:rPr lang="en-US" sz="600" dirty="0">
                <a:solidFill>
                  <a:srgbClr val="F97316"/>
                </a:solidFill>
                <a:latin typeface="Carlito" pitchFamily="34" charset="0"/>
                <a:ea typeface="Carlito" pitchFamily="34" charset="-122"/>
                <a:cs typeface="Carlito" pitchFamily="34" charset="-120"/>
              </a:rPr>
              <a:t>●  </a:t>
            </a:r>
            <a:pPr algn="l" indent="0" marL="0">
              <a:lnSpc>
                <a:spcPts val="938"/>
              </a:lnSpc>
              <a:buNone/>
            </a:pPr>
            <a:r>
              <a:rPr lang="en-US" sz="800" dirty="0">
                <a:solidFill>
                  <a:srgbClr val="0F172A"/>
                </a:solidFill>
                <a:latin typeface="Carlito" pitchFamily="34" charset="0"/>
                <a:ea typeface="Carlito" pitchFamily="34" charset="-122"/>
                <a:cs typeface="Carlito" pitchFamily="34" charset="-120"/>
              </a:rPr>
              <a:t>Reliability &amp; validity evidence</a:t>
            </a:r>
            <a:endParaRPr lang="en-US" sz="800" dirty="0"/>
          </a:p>
          <a:p>
            <a:pPr algn="l" indent="0" marL="0">
              <a:lnSpc>
                <a:spcPts val="938"/>
              </a:lnSpc>
              <a:buNone/>
            </a:pPr>
            <a:r>
              <a:rPr lang="en-US" sz="600" dirty="0">
                <a:solidFill>
                  <a:srgbClr val="F97316"/>
                </a:solidFill>
                <a:latin typeface="Carlito" pitchFamily="34" charset="0"/>
                <a:ea typeface="Carlito" pitchFamily="34" charset="-122"/>
                <a:cs typeface="Carlito" pitchFamily="34" charset="-120"/>
              </a:rPr>
              <a:t>●  </a:t>
            </a:r>
            <a:pPr algn="l" indent="0" marL="0">
              <a:lnSpc>
                <a:spcPts val="938"/>
              </a:lnSpc>
              <a:buNone/>
            </a:pPr>
            <a:r>
              <a:rPr lang="en-US" sz="800" dirty="0">
                <a:solidFill>
                  <a:srgbClr val="0F172A"/>
                </a:solidFill>
                <a:latin typeface="Carlito" pitchFamily="34" charset="0"/>
                <a:ea typeface="Carlito" pitchFamily="34" charset="-122"/>
                <a:cs typeface="Carlito" pitchFamily="34" charset="-120"/>
              </a:rPr>
              <a:t>Adverse events (if applicable)</a:t>
            </a:r>
            <a:endParaRPr lang="en-US" sz="800" dirty="0"/>
          </a:p>
        </p:txBody>
      </p:sp>
      <p:sp>
        <p:nvSpPr>
          <p:cNvPr id="38" name="Text 36"/>
          <p:cNvSpPr/>
          <p:nvPr/>
        </p:nvSpPr>
        <p:spPr>
          <a:xfrm>
            <a:off x="6010238" y="2638834"/>
            <a:ext cx="2676451" cy="1428750"/>
          </a:xfrm>
          <a:prstGeom prst="roundRect">
            <a:avLst>
              <a:gd name="adj" fmla="val 8000"/>
            </a:avLst>
          </a:prstGeom>
          <a:solidFill>
            <a:srgbClr val="FFFFFF"/>
          </a:solidFill>
          <a:ln/>
        </p:spPr>
        <p:txBody>
          <a:bodyPr wrap="square" rtlCol="0" anchor="ctr"/>
          <a:lstStyle/>
          <a:p>
            <a:pPr indent="0" marL="0">
              <a:buNone/>
            </a:pPr>
            <a:endParaRPr lang="en-US" dirty="0"/>
          </a:p>
        </p:txBody>
      </p:sp>
      <p:sp>
        <p:nvSpPr>
          <p:cNvPr id="39" name="Text 37"/>
          <p:cNvSpPr/>
          <p:nvPr/>
        </p:nvSpPr>
        <p:spPr>
          <a:xfrm>
            <a:off x="8422370" y="2760278"/>
            <a:ext cx="157163" cy="157163"/>
          </a:xfrm>
          <a:prstGeom prst="rect">
            <a:avLst/>
          </a:prstGeom>
          <a:noFill/>
          <a:ln/>
        </p:spPr>
        <p:txBody>
          <a:bodyPr wrap="none" lIns="0" tIns="0" rIns="0" bIns="0" rtlCol="0" anchor="ctr"/>
          <a:lstStyle/>
          <a:p>
            <a:pPr algn="ctr" indent="0" marL="0">
              <a:buNone/>
            </a:pPr>
            <a:r>
              <a:rPr lang="en-US" sz="1547" dirty="0">
                <a:solidFill>
                  <a:srgbClr val="F97316"/>
                </a:solidFill>
                <a:latin typeface="Segoe UI Symbol" pitchFamily="34" charset="0"/>
                <a:ea typeface="Segoe UI Symbol" pitchFamily="34" charset="-122"/>
                <a:cs typeface="Segoe UI Symbol" pitchFamily="34" charset="-120"/>
              </a:rPr>
              <a:t>✦</a:t>
            </a:r>
            <a:endParaRPr lang="en-US" sz="1547" dirty="0"/>
          </a:p>
        </p:txBody>
      </p:sp>
      <p:sp>
        <p:nvSpPr>
          <p:cNvPr id="40" name="Text 38"/>
          <p:cNvSpPr/>
          <p:nvPr/>
        </p:nvSpPr>
        <p:spPr>
          <a:xfrm>
            <a:off x="6145969" y="2788853"/>
            <a:ext cx="2404988" cy="140446"/>
          </a:xfrm>
          <a:prstGeom prst="rect">
            <a:avLst/>
          </a:prstGeom>
          <a:noFill/>
          <a:ln/>
        </p:spPr>
        <p:txBody>
          <a:bodyPr wrap="none" lIns="0" tIns="0" rIns="0" bIns="0" rtlCol="0" anchor="t">
            <a:normAutofit/>
          </a:bodyPr>
          <a:lstStyle/>
          <a:p>
            <a:pPr algn="l" indent="0" marL="0">
              <a:lnSpc>
                <a:spcPts val="872"/>
              </a:lnSpc>
              <a:buNone/>
            </a:pPr>
            <a:r>
              <a:rPr lang="en-US" sz="800" b="1" spc="45" kern="0" dirty="0">
                <a:solidFill>
                  <a:srgbClr val="EA680C"/>
                </a:solidFill>
                <a:latin typeface="Liberation Sans Narrow" pitchFamily="34" charset="0"/>
                <a:ea typeface="Liberation Sans Narrow" pitchFamily="34" charset="-122"/>
                <a:cs typeface="Liberation Sans Narrow" pitchFamily="34" charset="-120"/>
              </a:rPr>
              <a:t>KATEGORI 06</a:t>
            </a:r>
            <a:endParaRPr lang="en-US" sz="800" dirty="0"/>
          </a:p>
        </p:txBody>
      </p:sp>
      <p:sp>
        <p:nvSpPr>
          <p:cNvPr id="41" name="Text 39"/>
          <p:cNvSpPr/>
          <p:nvPr/>
        </p:nvSpPr>
        <p:spPr>
          <a:xfrm>
            <a:off x="6145969" y="2956731"/>
            <a:ext cx="2404988" cy="148036"/>
          </a:xfrm>
          <a:prstGeom prst="rect">
            <a:avLst/>
          </a:prstGeom>
          <a:noFill/>
          <a:ln/>
        </p:spPr>
        <p:txBody>
          <a:bodyPr wrap="none" lIns="0" tIns="0" rIns="214313" bIns="0" rtlCol="0" anchor="t"/>
          <a:lstStyle/>
          <a:p>
            <a:pPr algn="l" indent="0" marL="0">
              <a:lnSpc>
                <a:spcPts val="1080"/>
              </a:lnSpc>
              <a:buNone/>
            </a:pPr>
            <a:r>
              <a:rPr lang="en-US" sz="900" dirty="0">
                <a:solidFill>
                  <a:srgbClr val="134E4A"/>
                </a:solidFill>
                <a:latin typeface="Tinos" pitchFamily="34" charset="0"/>
                <a:ea typeface="Tinos" pitchFamily="34" charset="-122"/>
                <a:cs typeface="Tinos" pitchFamily="34" charset="-120"/>
              </a:rPr>
              <a:t>Results &amp; Synthesis</a:t>
            </a:r>
            <a:endParaRPr lang="en-US" sz="900" dirty="0"/>
          </a:p>
        </p:txBody>
      </p:sp>
      <p:sp>
        <p:nvSpPr>
          <p:cNvPr id="42" name="Text 40"/>
          <p:cNvSpPr/>
          <p:nvPr/>
        </p:nvSpPr>
        <p:spPr>
          <a:xfrm>
            <a:off x="6145969" y="3136664"/>
            <a:ext cx="2404988" cy="939211"/>
          </a:xfrm>
          <a:prstGeom prst="rect">
            <a:avLst/>
          </a:prstGeom>
          <a:noFill/>
          <a:ln/>
        </p:spPr>
        <p:txBody>
          <a:bodyPr wrap="square" lIns="0" tIns="0" rIns="0" bIns="0" rtlCol="0" anchor="t"/>
          <a:lstStyle/>
          <a:p>
            <a:pPr algn="l" indent="0" marL="0">
              <a:lnSpc>
                <a:spcPts val="938"/>
              </a:lnSpc>
              <a:buNone/>
            </a:pPr>
            <a:r>
              <a:rPr lang="en-US" sz="600" dirty="0">
                <a:solidFill>
                  <a:srgbClr val="F97316"/>
                </a:solidFill>
                <a:latin typeface="Carlito" pitchFamily="34" charset="0"/>
                <a:ea typeface="Carlito" pitchFamily="34" charset="-122"/>
                <a:cs typeface="Carlito" pitchFamily="34" charset="-120"/>
              </a:rPr>
              <a:t>●  </a:t>
            </a:r>
            <a:pPr algn="l" indent="0" marL="0">
              <a:lnSpc>
                <a:spcPts val="938"/>
              </a:lnSpc>
              <a:buNone/>
            </a:pPr>
            <a:r>
              <a:rPr lang="en-US" sz="800" dirty="0">
                <a:solidFill>
                  <a:srgbClr val="0F172A"/>
                </a:solidFill>
                <a:latin typeface="Carlito" pitchFamily="34" charset="0"/>
                <a:ea typeface="Carlito" pitchFamily="34" charset="-122"/>
                <a:cs typeface="Carlito" pitchFamily="34" charset="-120"/>
              </a:rPr>
              <a:t>Effect size (d / g / OR / RR / r)</a:t>
            </a:r>
            <a:endParaRPr lang="en-US" sz="800" dirty="0"/>
          </a:p>
          <a:p>
            <a:pPr algn="l" indent="0" marL="0">
              <a:lnSpc>
                <a:spcPts val="938"/>
              </a:lnSpc>
              <a:buNone/>
            </a:pPr>
            <a:r>
              <a:rPr lang="en-US" sz="600" dirty="0">
                <a:solidFill>
                  <a:srgbClr val="F97316"/>
                </a:solidFill>
                <a:latin typeface="Carlito" pitchFamily="34" charset="0"/>
                <a:ea typeface="Carlito" pitchFamily="34" charset="-122"/>
                <a:cs typeface="Carlito" pitchFamily="34" charset="-120"/>
              </a:rPr>
              <a:t>●  </a:t>
            </a:r>
            <a:pPr algn="l" indent="0" marL="0">
              <a:lnSpc>
                <a:spcPts val="938"/>
              </a:lnSpc>
              <a:buNone/>
            </a:pPr>
            <a:r>
              <a:rPr lang="en-US" sz="800" dirty="0">
                <a:solidFill>
                  <a:srgbClr val="0F172A"/>
                </a:solidFill>
                <a:latin typeface="Liberation Sans Narrow" pitchFamily="34" charset="0"/>
                <a:ea typeface="Liberation Sans Narrow" pitchFamily="34" charset="-122"/>
                <a:cs typeface="Liberation Sans Narrow" pitchFamily="34" charset="-120"/>
              </a:rPr>
              <a:t>95% Confidence Interval</a:t>
            </a:r>
            <a:endParaRPr lang="en-US" sz="800" dirty="0"/>
          </a:p>
          <a:p>
            <a:pPr algn="l" indent="0" marL="0">
              <a:lnSpc>
                <a:spcPts val="938"/>
              </a:lnSpc>
              <a:buNone/>
            </a:pPr>
            <a:r>
              <a:rPr lang="en-US" sz="600" dirty="0">
                <a:solidFill>
                  <a:srgbClr val="F97316"/>
                </a:solidFill>
                <a:latin typeface="Carlito" pitchFamily="34" charset="0"/>
                <a:ea typeface="Carlito" pitchFamily="34" charset="-122"/>
                <a:cs typeface="Carlito" pitchFamily="34" charset="-120"/>
              </a:rPr>
              <a:t>●  </a:t>
            </a:r>
            <a:pPr algn="l" indent="0" marL="0">
              <a:lnSpc>
                <a:spcPts val="938"/>
              </a:lnSpc>
              <a:buNone/>
            </a:pPr>
            <a:r>
              <a:rPr lang="en-US" sz="800" dirty="0">
                <a:solidFill>
                  <a:srgbClr val="0F172A"/>
                </a:solidFill>
                <a:latin typeface="Carlito" pitchFamily="34" charset="0"/>
                <a:ea typeface="Carlito" pitchFamily="34" charset="-122"/>
                <a:cs typeface="Carlito" pitchFamily="34" charset="-120"/>
              </a:rPr>
              <a:t>p-value &amp; direction of effect</a:t>
            </a:r>
            <a:endParaRPr lang="en-US" sz="800" dirty="0"/>
          </a:p>
          <a:p>
            <a:pPr algn="l" indent="0" marL="0">
              <a:lnSpc>
                <a:spcPts val="938"/>
              </a:lnSpc>
              <a:buNone/>
            </a:pPr>
            <a:r>
              <a:rPr lang="en-US" sz="600" dirty="0">
                <a:solidFill>
                  <a:srgbClr val="F97316"/>
                </a:solidFill>
                <a:latin typeface="Carlito" pitchFamily="34" charset="0"/>
                <a:ea typeface="Carlito" pitchFamily="34" charset="-122"/>
                <a:cs typeface="Carlito" pitchFamily="34" charset="-120"/>
              </a:rPr>
              <a:t>●  </a:t>
            </a:r>
            <a:pPr algn="l" indent="0" marL="0">
              <a:lnSpc>
                <a:spcPts val="938"/>
              </a:lnSpc>
              <a:buNone/>
            </a:pPr>
            <a:r>
              <a:rPr lang="en-US" sz="800" dirty="0">
                <a:solidFill>
                  <a:srgbClr val="0F172A"/>
                </a:solidFill>
                <a:latin typeface="Carlito" pitchFamily="34" charset="0"/>
                <a:ea typeface="Carlito" pitchFamily="34" charset="-122"/>
                <a:cs typeface="Carlito" pitchFamily="34" charset="-120"/>
              </a:rPr>
              <a:t>Author conclusions (verbatim)</a:t>
            </a:r>
            <a:endParaRPr lang="en-US" sz="800" dirty="0"/>
          </a:p>
          <a:p>
            <a:pPr algn="l" indent="0" marL="0">
              <a:lnSpc>
                <a:spcPts val="938"/>
              </a:lnSpc>
              <a:buNone/>
            </a:pPr>
            <a:r>
              <a:rPr lang="en-US" sz="600" dirty="0">
                <a:solidFill>
                  <a:srgbClr val="F97316"/>
                </a:solidFill>
                <a:latin typeface="Carlito" pitchFamily="34" charset="0"/>
                <a:ea typeface="Carlito" pitchFamily="34" charset="-122"/>
                <a:cs typeface="Carlito" pitchFamily="34" charset="-120"/>
              </a:rPr>
              <a:t>●  </a:t>
            </a:r>
            <a:pPr algn="l" indent="0" marL="0">
              <a:lnSpc>
                <a:spcPts val="938"/>
              </a:lnSpc>
              <a:buNone/>
            </a:pPr>
            <a:r>
              <a:rPr lang="en-US" sz="800" dirty="0">
                <a:solidFill>
                  <a:srgbClr val="0F172A"/>
                </a:solidFill>
                <a:latin typeface="Carlito" pitchFamily="34" charset="0"/>
                <a:ea typeface="Carlito" pitchFamily="34" charset="-122"/>
                <a:cs typeface="Carlito" pitchFamily="34" charset="-120"/>
              </a:rPr>
              <a:t>Reported limitations</a:t>
            </a:r>
            <a:endParaRPr lang="en-US" sz="800" dirty="0"/>
          </a:p>
          <a:p>
            <a:pPr algn="l" indent="0" marL="0">
              <a:lnSpc>
                <a:spcPts val="938"/>
              </a:lnSpc>
              <a:buNone/>
            </a:pPr>
            <a:r>
              <a:rPr lang="en-US" sz="600" dirty="0">
                <a:solidFill>
                  <a:srgbClr val="F97316"/>
                </a:solidFill>
                <a:latin typeface="Carlito" pitchFamily="34" charset="0"/>
                <a:ea typeface="Carlito" pitchFamily="34" charset="-122"/>
                <a:cs typeface="Carlito" pitchFamily="34" charset="-120"/>
              </a:rPr>
              <a:t>●  </a:t>
            </a:r>
            <a:pPr algn="l" indent="0" marL="0">
              <a:lnSpc>
                <a:spcPts val="938"/>
              </a:lnSpc>
              <a:buNone/>
            </a:pPr>
            <a:r>
              <a:rPr lang="en-US" sz="800" dirty="0">
                <a:solidFill>
                  <a:srgbClr val="0F172A"/>
                </a:solidFill>
                <a:latin typeface="Carlito" pitchFamily="34" charset="0"/>
                <a:ea typeface="Carlito" pitchFamily="34" charset="-122"/>
                <a:cs typeface="Carlito" pitchFamily="34" charset="-120"/>
              </a:rPr>
              <a:t>Reviewer notes &amp; QA judgment</a:t>
            </a:r>
            <a:endParaRPr lang="en-US" sz="800" dirty="0"/>
          </a:p>
        </p:txBody>
      </p:sp>
      <p:sp>
        <p:nvSpPr>
          <p:cNvPr id="43" name="Text 41"/>
          <p:cNvSpPr/>
          <p:nvPr/>
        </p:nvSpPr>
        <p:spPr>
          <a:xfrm>
            <a:off x="457200" y="4153309"/>
            <a:ext cx="8229600" cy="153526"/>
          </a:xfrm>
          <a:prstGeom prst="rect">
            <a:avLst/>
          </a:prstGeom>
          <a:noFill/>
          <a:ln/>
        </p:spPr>
        <p:txBody>
          <a:bodyPr wrap="square" lIns="0" tIns="0" rIns="0" bIns="0" rtlCol="0" anchor="t"/>
          <a:lstStyle/>
          <a:p>
            <a:pPr algn="l" indent="0" marL="0">
              <a:lnSpc>
                <a:spcPts val="866"/>
              </a:lnSpc>
              <a:buNone/>
            </a:pPr>
            <a:r>
              <a:rPr lang="en-US" sz="619" i="1" dirty="0">
                <a:solidFill>
                  <a:srgbClr val="64748B"/>
                </a:solidFill>
                <a:latin typeface="Carlito" pitchFamily="34" charset="0"/>
                <a:ea typeface="Carlito" pitchFamily="34" charset="-122"/>
                <a:cs typeface="Carlito" pitchFamily="34" charset="-120"/>
              </a:rPr>
              <a:t>Ekstraksi dilakukan oleh 2 reviewer independen; konflik diselesaikan konsensus atau reviewer ketiga (mediator). Template dapat dibuat di Excel, Covidence, Rayyan, atau DistillerSR.</a:t>
            </a:r>
            <a:endParaRPr lang="en-US" sz="619"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8"/>
        </a:solidFill>
      </p:bgPr>
    </p:bg>
    <p:spTree>
      <p:nvGrpSpPr>
        <p:cNvPr id="1" name=""/>
        <p:cNvGrpSpPr/>
        <p:nvPr/>
      </p:nvGrpSpPr>
      <p:grpSpPr>
        <a:xfrm>
          <a:off x="0" y="0"/>
          <a:ext cx="0" cy="0"/>
          <a:chOff x="0" y="0"/>
          <a:chExt cx="0" cy="0"/>
        </a:xfrm>
      </p:grpSpPr>
      <p:sp>
        <p:nvSpPr>
          <p:cNvPr id="2" name="Text 0"/>
          <p:cNvSpPr/>
          <p:nvPr/>
        </p:nvSpPr>
        <p:spPr>
          <a:xfrm>
            <a:off x="7071512" y="-214312"/>
            <a:ext cx="2072488" cy="1234440"/>
          </a:xfrm>
          <a:prstGeom prst="rect">
            <a:avLst/>
          </a:prstGeom>
          <a:noFill/>
          <a:ln/>
        </p:spPr>
        <p:txBody>
          <a:bodyPr wrap="square" lIns="0" tIns="0" rIns="0" bIns="0" rtlCol="0" anchor="t"/>
          <a:lstStyle/>
          <a:p>
            <a:pPr algn="l" indent="0" marL="0">
              <a:lnSpc>
                <a:spcPts val="9000"/>
              </a:lnSpc>
              <a:buNone/>
            </a:pPr>
            <a:r>
              <a:rPr lang="en-US" sz="9000" dirty="0">
                <a:solidFill>
                  <a:srgbClr val="134E4A">
                    <a:alpha val="5000"/>
                  </a:srgbClr>
                </a:solidFill>
                <a:latin typeface="Liberation Sans Narrow" pitchFamily="34" charset="0"/>
                <a:ea typeface="Liberation Sans Narrow" pitchFamily="34" charset="-122"/>
                <a:cs typeface="Liberation Sans Narrow" pitchFamily="34" charset="-120"/>
              </a:rPr>
              <a:t>04</a:t>
            </a:r>
            <a:endParaRPr lang="en-US" sz="9000" dirty="0"/>
          </a:p>
        </p:txBody>
      </p:sp>
      <p:sp>
        <p:nvSpPr>
          <p:cNvPr id="3" name="Shape 1"/>
          <p:cNvSpPr/>
          <p:nvPr/>
        </p:nvSpPr>
        <p:spPr>
          <a:xfrm>
            <a:off x="457200" y="985056"/>
            <a:ext cx="428625" cy="0"/>
          </a:xfrm>
          <a:prstGeom prst="line">
            <a:avLst/>
          </a:prstGeom>
          <a:noFill/>
          <a:ln w="21431">
            <a:solidFill>
              <a:srgbClr val="134E4A"/>
            </a:solidFill>
            <a:prstDash val="solid"/>
          </a:ln>
        </p:spPr>
      </p:sp>
      <p:sp>
        <p:nvSpPr>
          <p:cNvPr id="4" name="Shape 2"/>
          <p:cNvSpPr/>
          <p:nvPr/>
        </p:nvSpPr>
        <p:spPr>
          <a:xfrm>
            <a:off x="635794" y="1944774"/>
            <a:ext cx="4494758" cy="0"/>
          </a:xfrm>
          <a:prstGeom prst="line">
            <a:avLst/>
          </a:prstGeom>
          <a:noFill/>
          <a:ln w="7144">
            <a:solidFill>
              <a:srgbClr val="E2E8F0"/>
            </a:solidFill>
            <a:prstDash val="solid"/>
          </a:ln>
        </p:spPr>
      </p:sp>
      <p:sp>
        <p:nvSpPr>
          <p:cNvPr id="5" name="Shape 3"/>
          <p:cNvSpPr/>
          <p:nvPr/>
        </p:nvSpPr>
        <p:spPr>
          <a:xfrm>
            <a:off x="635794" y="2428763"/>
            <a:ext cx="4494758" cy="0"/>
          </a:xfrm>
          <a:prstGeom prst="line">
            <a:avLst/>
          </a:prstGeom>
          <a:noFill/>
          <a:ln w="7144">
            <a:solidFill>
              <a:srgbClr val="E2E8F0"/>
            </a:solidFill>
            <a:prstDash val="solid"/>
          </a:ln>
        </p:spPr>
      </p:sp>
      <p:sp>
        <p:nvSpPr>
          <p:cNvPr id="6" name="Shape 4"/>
          <p:cNvSpPr/>
          <p:nvPr/>
        </p:nvSpPr>
        <p:spPr>
          <a:xfrm>
            <a:off x="635794" y="2912752"/>
            <a:ext cx="4494758" cy="0"/>
          </a:xfrm>
          <a:prstGeom prst="line">
            <a:avLst/>
          </a:prstGeom>
          <a:noFill/>
          <a:ln w="7144">
            <a:solidFill>
              <a:srgbClr val="E2E8F0"/>
            </a:solidFill>
            <a:prstDash val="solid"/>
          </a:ln>
        </p:spPr>
      </p:sp>
      <p:sp>
        <p:nvSpPr>
          <p:cNvPr id="7" name="Shape 5"/>
          <p:cNvSpPr/>
          <p:nvPr/>
        </p:nvSpPr>
        <p:spPr>
          <a:xfrm>
            <a:off x="635794" y="3396742"/>
            <a:ext cx="4494758" cy="0"/>
          </a:xfrm>
          <a:prstGeom prst="line">
            <a:avLst/>
          </a:prstGeom>
          <a:noFill/>
          <a:ln w="7144">
            <a:solidFill>
              <a:srgbClr val="E2E8F0"/>
            </a:solidFill>
            <a:prstDash val="solid"/>
          </a:ln>
        </p:spPr>
      </p:sp>
      <p:sp>
        <p:nvSpPr>
          <p:cNvPr id="8" name="Text 6"/>
          <p:cNvSpPr/>
          <p:nvPr/>
        </p:nvSpPr>
        <p:spPr>
          <a:xfrm>
            <a:off x="434340" y="160051"/>
            <a:ext cx="1446453" cy="212777"/>
          </a:xfrm>
          <a:prstGeom prst="roundRect">
            <a:avLst>
              <a:gd name="adj" fmla="val 4472041"/>
            </a:avLst>
          </a:prstGeom>
          <a:solidFill>
            <a:srgbClr val="E0ECEB"/>
          </a:solidFill>
          <a:ln/>
        </p:spPr>
        <p:txBody>
          <a:bodyPr wrap="square" rtlCol="0" anchor="ctr"/>
          <a:lstStyle/>
          <a:p>
            <a:pPr indent="0" marL="0">
              <a:buNone/>
            </a:pPr>
            <a:endParaRPr lang="en-US" dirty="0"/>
          </a:p>
        </p:txBody>
      </p:sp>
      <p:sp>
        <p:nvSpPr>
          <p:cNvPr id="9" name="Text 7"/>
          <p:cNvSpPr/>
          <p:nvPr/>
        </p:nvSpPr>
        <p:spPr>
          <a:xfrm>
            <a:off x="457200" y="171450"/>
            <a:ext cx="1400733" cy="189979"/>
          </a:xfrm>
          <a:prstGeom prst="rect">
            <a:avLst/>
          </a:prstGeom>
          <a:noFill/>
          <a:ln/>
        </p:spPr>
        <p:txBody>
          <a:bodyPr wrap="none" lIns="0" tIns="0" rIns="0" bIns="0" rtlCol="0" anchor="ctr"/>
          <a:lstStyle/>
          <a:p>
            <a:pPr algn="ctr" indent="0" marL="0">
              <a:lnSpc>
                <a:spcPts val="1046"/>
              </a:lnSpc>
              <a:buNone/>
            </a:pPr>
            <a:r>
              <a:rPr lang="en-US" sz="800" spc="27" kern="0" dirty="0">
                <a:solidFill>
                  <a:srgbClr val="134E4A"/>
                </a:solidFill>
                <a:latin typeface="Liberation Sans Narrow" pitchFamily="34" charset="0"/>
                <a:ea typeface="Liberation Sans Narrow" pitchFamily="34" charset="-122"/>
                <a:cs typeface="Liberation Sans Narrow" pitchFamily="34" charset="-120"/>
              </a:rPr>
              <a:t>BAB 04 · META-ANALISIS</a:t>
            </a:r>
            <a:endParaRPr lang="en-US" sz="800" dirty="0"/>
          </a:p>
        </p:txBody>
      </p:sp>
      <p:sp>
        <p:nvSpPr>
          <p:cNvPr id="10" name="Text 8"/>
          <p:cNvSpPr/>
          <p:nvPr/>
        </p:nvSpPr>
        <p:spPr>
          <a:xfrm>
            <a:off x="8279271" y="188975"/>
            <a:ext cx="554239" cy="169980"/>
          </a:xfrm>
          <a:prstGeom prst="rect">
            <a:avLst/>
          </a:prstGeom>
          <a:noFill/>
          <a:ln/>
        </p:spPr>
        <p:txBody>
          <a:bodyPr wrap="none" lIns="0" tIns="0" rIns="0" bIns="0" rtlCol="0" anchor="t"/>
          <a:lstStyle/>
          <a:p>
            <a:pPr algn="l" indent="0" marL="0">
              <a:lnSpc>
                <a:spcPts val="1221"/>
              </a:lnSpc>
              <a:buNone/>
            </a:pPr>
            <a:r>
              <a:rPr lang="en-US" sz="800" spc="-16" kern="0" dirty="0">
                <a:solidFill>
                  <a:srgbClr val="64748B"/>
                </a:solidFill>
                <a:latin typeface="Liberation Sans Narrow" pitchFamily="34" charset="0"/>
                <a:ea typeface="Liberation Sans Narrow" pitchFamily="34" charset="-122"/>
                <a:cs typeface="Liberation Sans Narrow" pitchFamily="34" charset="-120"/>
              </a:rPr>
              <a:t>17 / 18</a:t>
            </a:r>
            <a:endParaRPr lang="en-US" sz="800" dirty="0"/>
          </a:p>
        </p:txBody>
      </p:sp>
      <p:sp>
        <p:nvSpPr>
          <p:cNvPr id="11" name="Text 9"/>
          <p:cNvSpPr/>
          <p:nvPr/>
        </p:nvSpPr>
        <p:spPr>
          <a:xfrm>
            <a:off x="457200" y="447154"/>
            <a:ext cx="8636000" cy="278298"/>
          </a:xfrm>
          <a:prstGeom prst="rect">
            <a:avLst/>
          </a:prstGeom>
          <a:noFill/>
          <a:ln/>
        </p:spPr>
        <p:txBody>
          <a:bodyPr wrap="square" lIns="0" tIns="0" rIns="0" bIns="0" rtlCol="0" anchor="t">
            <a:normAutofit/>
          </a:bodyPr>
          <a:lstStyle/>
          <a:p>
            <a:pPr algn="l" indent="0" marL="0">
              <a:lnSpc>
                <a:spcPts val="2070"/>
              </a:lnSpc>
              <a:buNone/>
            </a:pPr>
            <a:r>
              <a:rPr lang="en-US" sz="1800" spc="-18" kern="0" dirty="0">
                <a:solidFill>
                  <a:srgbClr val="134E4A"/>
                </a:solidFill>
                <a:latin typeface="Tinos" pitchFamily="34" charset="0"/>
                <a:ea typeface="Tinos" pitchFamily="34" charset="-122"/>
                <a:cs typeface="Tinos" pitchFamily="34" charset="-120"/>
              </a:rPr>
              <a:t>Pendekatan Meta-Analisis Kuantitatif</a:t>
            </a:r>
            <a:endParaRPr lang="en-US" sz="1800" dirty="0"/>
          </a:p>
        </p:txBody>
      </p:sp>
      <p:sp>
        <p:nvSpPr>
          <p:cNvPr id="12" name="Text 10"/>
          <p:cNvSpPr/>
          <p:nvPr/>
        </p:nvSpPr>
        <p:spPr>
          <a:xfrm>
            <a:off x="457200" y="752884"/>
            <a:ext cx="7858125" cy="164592"/>
          </a:xfrm>
          <a:prstGeom prst="rect">
            <a:avLst/>
          </a:prstGeom>
          <a:noFill/>
          <a:ln/>
        </p:spPr>
        <p:txBody>
          <a:bodyPr wrap="square" lIns="0" tIns="0" rIns="0" bIns="0" rtlCol="0" anchor="t"/>
          <a:lstStyle/>
          <a:p>
            <a:pPr algn="l" indent="0" marL="0">
              <a:lnSpc>
                <a:spcPts val="1181"/>
              </a:lnSpc>
              <a:buNone/>
            </a:pPr>
            <a:r>
              <a:rPr lang="en-US" sz="800" dirty="0">
                <a:solidFill>
                  <a:srgbClr val="475569"/>
                </a:solidFill>
                <a:latin typeface="Carlito" pitchFamily="34" charset="0"/>
                <a:ea typeface="Carlito" pitchFamily="34" charset="-122"/>
                <a:cs typeface="Carlito" pitchFamily="34" charset="-120"/>
              </a:rPr>
              <a:t>Jika studi cukup homogen (I² &lt; 50%), lakukan pooling effect size; jika heterogen, gunakan model random-effect dan lakukan subgroup analysis.</a:t>
            </a:r>
            <a:endParaRPr lang="en-US" sz="800" dirty="0"/>
          </a:p>
        </p:txBody>
      </p:sp>
      <p:sp>
        <p:nvSpPr>
          <p:cNvPr id="13" name="Text 11"/>
          <p:cNvSpPr/>
          <p:nvPr/>
        </p:nvSpPr>
        <p:spPr>
          <a:xfrm>
            <a:off x="460772" y="1099356"/>
            <a:ext cx="4844802" cy="2895674"/>
          </a:xfrm>
          <a:prstGeom prst="roundRect">
            <a:avLst>
              <a:gd name="adj" fmla="val 3947"/>
            </a:avLst>
          </a:prstGeom>
          <a:solidFill>
            <a:srgbClr val="FFFFFF"/>
          </a:solidFill>
          <a:ln w="7144">
            <a:solidFill>
              <a:srgbClr val="D8DEE2"/>
            </a:solidFill>
            <a:prstDash val="solid"/>
          </a:ln>
        </p:spPr>
        <p:txBody>
          <a:bodyPr wrap="square" rtlCol="0" anchor="ctr"/>
          <a:lstStyle/>
          <a:p>
            <a:pPr indent="0" marL="0">
              <a:buNone/>
            </a:pPr>
            <a:endParaRPr lang="en-US" dirty="0"/>
          </a:p>
        </p:txBody>
      </p:sp>
      <p:sp>
        <p:nvSpPr>
          <p:cNvPr id="14" name="Text 12"/>
          <p:cNvSpPr/>
          <p:nvPr/>
        </p:nvSpPr>
        <p:spPr>
          <a:xfrm>
            <a:off x="612934" y="1248692"/>
            <a:ext cx="1779642" cy="212777"/>
          </a:xfrm>
          <a:prstGeom prst="roundRect">
            <a:avLst>
              <a:gd name="adj" fmla="val 4472041"/>
            </a:avLst>
          </a:prstGeom>
          <a:solidFill>
            <a:srgbClr val="E0ECEB"/>
          </a:solidFill>
          <a:ln/>
        </p:spPr>
        <p:txBody>
          <a:bodyPr wrap="square" rtlCol="0" anchor="ctr"/>
          <a:lstStyle/>
          <a:p>
            <a:pPr indent="0" marL="0">
              <a:buNone/>
            </a:pPr>
            <a:endParaRPr lang="en-US" dirty="0"/>
          </a:p>
        </p:txBody>
      </p:sp>
      <p:sp>
        <p:nvSpPr>
          <p:cNvPr id="15" name="Text 13"/>
          <p:cNvSpPr/>
          <p:nvPr/>
        </p:nvSpPr>
        <p:spPr>
          <a:xfrm>
            <a:off x="635794" y="1260091"/>
            <a:ext cx="1733922" cy="189979"/>
          </a:xfrm>
          <a:prstGeom prst="rect">
            <a:avLst/>
          </a:prstGeom>
          <a:noFill/>
          <a:ln/>
        </p:spPr>
        <p:txBody>
          <a:bodyPr wrap="none" lIns="0" tIns="0" rIns="0" bIns="0" rtlCol="0" anchor="ctr"/>
          <a:lstStyle/>
          <a:p>
            <a:pPr algn="ctr" indent="0" marL="0">
              <a:lnSpc>
                <a:spcPts val="1046"/>
              </a:lnSpc>
              <a:buNone/>
            </a:pPr>
            <a:r>
              <a:rPr lang="en-US" sz="800" spc="27" kern="0" dirty="0">
                <a:solidFill>
                  <a:srgbClr val="134E4A"/>
                </a:solidFill>
                <a:latin typeface="Carlito" pitchFamily="34" charset="0"/>
                <a:ea typeface="Carlito" pitchFamily="34" charset="-122"/>
                <a:cs typeface="Carlito" pitchFamily="34" charset="-120"/>
              </a:rPr>
              <a:t>PERTIMBANGAN METODOLOGIS</a:t>
            </a:r>
            <a:endParaRPr lang="en-US" sz="800" dirty="0"/>
          </a:p>
        </p:txBody>
      </p:sp>
      <p:sp>
        <p:nvSpPr>
          <p:cNvPr id="16" name="Text 14"/>
          <p:cNvSpPr/>
          <p:nvPr/>
        </p:nvSpPr>
        <p:spPr>
          <a:xfrm>
            <a:off x="4973389" y="1276499"/>
            <a:ext cx="157163" cy="157163"/>
          </a:xfrm>
          <a:prstGeom prst="rect">
            <a:avLst/>
          </a:prstGeom>
          <a:noFill/>
          <a:ln/>
        </p:spPr>
        <p:txBody>
          <a:bodyPr wrap="none" lIns="0" tIns="0" rIns="0" bIns="0" rtlCol="0" anchor="ctr"/>
          <a:lstStyle/>
          <a:p>
            <a:pPr algn="ctr" indent="0" marL="0">
              <a:buNone/>
            </a:pPr>
            <a:r>
              <a:rPr lang="en-US" sz="1547" dirty="0">
                <a:solidFill>
                  <a:srgbClr val="134E4A"/>
                </a:solidFill>
                <a:latin typeface="Segoe UI Symbol" pitchFamily="34" charset="0"/>
                <a:ea typeface="Segoe UI Symbol" pitchFamily="34" charset="-122"/>
                <a:cs typeface="Segoe UI Symbol" pitchFamily="34" charset="-120"/>
              </a:rPr>
              <a:t>⚙</a:t>
            </a:r>
            <a:endParaRPr lang="en-US" sz="1547" dirty="0"/>
          </a:p>
        </p:txBody>
      </p:sp>
      <p:sp>
        <p:nvSpPr>
          <p:cNvPr id="17" name="Text 15"/>
          <p:cNvSpPr/>
          <p:nvPr/>
        </p:nvSpPr>
        <p:spPr>
          <a:xfrm>
            <a:off x="635794" y="1564370"/>
            <a:ext cx="214313" cy="214313"/>
          </a:xfrm>
          <a:prstGeom prst="roundRect">
            <a:avLst>
              <a:gd name="adj" fmla="val 35555"/>
            </a:avLst>
          </a:prstGeom>
          <a:solidFill>
            <a:srgbClr val="E0ECEB"/>
          </a:solidFill>
          <a:ln/>
        </p:spPr>
        <p:txBody>
          <a:bodyPr wrap="square" rtlCol="0" anchor="ctr"/>
          <a:lstStyle/>
          <a:p>
            <a:pPr indent="0" marL="0">
              <a:buNone/>
            </a:pPr>
            <a:endParaRPr lang="en-US" dirty="0"/>
          </a:p>
        </p:txBody>
      </p:sp>
      <p:sp>
        <p:nvSpPr>
          <p:cNvPr id="18" name="Text 16"/>
          <p:cNvSpPr/>
          <p:nvPr/>
        </p:nvSpPr>
        <p:spPr>
          <a:xfrm>
            <a:off x="635794" y="1564370"/>
            <a:ext cx="264319" cy="214313"/>
          </a:xfrm>
          <a:prstGeom prst="rect">
            <a:avLst/>
          </a:prstGeom>
          <a:noFill/>
          <a:ln/>
        </p:spPr>
        <p:txBody>
          <a:bodyPr wrap="none" lIns="0" tIns="0" rIns="0" bIns="0" rtlCol="0" anchor="ctr"/>
          <a:lstStyle/>
          <a:p>
            <a:pPr algn="ctr" indent="0" marL="0">
              <a:lnSpc>
                <a:spcPts val="1133"/>
              </a:lnSpc>
              <a:buNone/>
            </a:pPr>
            <a:r>
              <a:rPr lang="en-US" sz="800" b="1" dirty="0">
                <a:solidFill>
                  <a:srgbClr val="134E4A"/>
                </a:solidFill>
                <a:latin typeface="Liberation Sans Narrow" pitchFamily="34" charset="0"/>
                <a:ea typeface="Liberation Sans Narrow" pitchFamily="34" charset="-122"/>
                <a:cs typeface="Liberation Sans Narrow" pitchFamily="34" charset="-120"/>
              </a:rPr>
              <a:t>01</a:t>
            </a:r>
            <a:endParaRPr lang="en-US" sz="800" dirty="0"/>
          </a:p>
        </p:txBody>
      </p:sp>
      <p:sp>
        <p:nvSpPr>
          <p:cNvPr id="19" name="Text 17"/>
          <p:cNvSpPr/>
          <p:nvPr/>
        </p:nvSpPr>
        <p:spPr>
          <a:xfrm>
            <a:off x="950119" y="1564370"/>
            <a:ext cx="4180433" cy="340157"/>
          </a:xfrm>
          <a:prstGeom prst="rect">
            <a:avLst/>
          </a:prstGeom>
          <a:noFill/>
          <a:ln/>
        </p:spPr>
        <p:txBody>
          <a:bodyPr wrap="square" lIns="0" tIns="0" rIns="0" bIns="0" rtlCol="0" anchor="t"/>
          <a:lstStyle/>
          <a:p>
            <a:pPr algn="l" indent="0" marL="0">
              <a:lnSpc>
                <a:spcPts val="1090"/>
              </a:lnSpc>
              <a:buNone/>
            </a:pPr>
            <a:r>
              <a:rPr lang="en-US" sz="800" dirty="0">
                <a:solidFill>
                  <a:srgbClr val="134E4A"/>
                </a:solidFill>
                <a:latin typeface="Carlito" pitchFamily="34" charset="0"/>
                <a:ea typeface="Carlito" pitchFamily="34" charset="-122"/>
                <a:cs typeface="Carlito" pitchFamily="34" charset="-120"/>
              </a:rPr>
              <a:t>Effect Size</a:t>
            </a:r>
            <a:pPr algn="l" indent="0" marL="0">
              <a:lnSpc>
                <a:spcPts val="1090"/>
              </a:lnSpc>
              <a:buNone/>
            </a:pPr>
            <a:r>
              <a:rPr lang="en-US" sz="800" dirty="0">
                <a:solidFill>
                  <a:srgbClr val="0F172A"/>
                </a:solidFill>
                <a:latin typeface="Carlito" pitchFamily="34" charset="0"/>
                <a:ea typeface="Carlito" pitchFamily="34" charset="-122"/>
                <a:cs typeface="Carlito" pitchFamily="34" charset="-120"/>
              </a:rPr>
              <a:t> — Cohen's d / Hedges' g untuk continuous data; Odds Ratio (OR) / Risk Ratio (RR) untuk binary outcomes; Pearson r untuk korelasi.</a:t>
            </a:r>
            <a:endParaRPr lang="en-US" sz="800" dirty="0"/>
          </a:p>
        </p:txBody>
      </p:sp>
      <p:sp>
        <p:nvSpPr>
          <p:cNvPr id="20" name="Text 18"/>
          <p:cNvSpPr/>
          <p:nvPr/>
        </p:nvSpPr>
        <p:spPr>
          <a:xfrm>
            <a:off x="635794" y="2048359"/>
            <a:ext cx="214313" cy="214313"/>
          </a:xfrm>
          <a:prstGeom prst="roundRect">
            <a:avLst>
              <a:gd name="adj" fmla="val 35555"/>
            </a:avLst>
          </a:prstGeom>
          <a:solidFill>
            <a:srgbClr val="E0ECEB"/>
          </a:solidFill>
          <a:ln/>
        </p:spPr>
        <p:txBody>
          <a:bodyPr wrap="square" rtlCol="0" anchor="ctr"/>
          <a:lstStyle/>
          <a:p>
            <a:pPr indent="0" marL="0">
              <a:buNone/>
            </a:pPr>
            <a:endParaRPr lang="en-US" dirty="0"/>
          </a:p>
        </p:txBody>
      </p:sp>
      <p:sp>
        <p:nvSpPr>
          <p:cNvPr id="21" name="Text 19"/>
          <p:cNvSpPr/>
          <p:nvPr/>
        </p:nvSpPr>
        <p:spPr>
          <a:xfrm>
            <a:off x="635794" y="2048359"/>
            <a:ext cx="264319" cy="214313"/>
          </a:xfrm>
          <a:prstGeom prst="rect">
            <a:avLst/>
          </a:prstGeom>
          <a:noFill/>
          <a:ln/>
        </p:spPr>
        <p:txBody>
          <a:bodyPr wrap="none" lIns="0" tIns="0" rIns="0" bIns="0" rtlCol="0" anchor="ctr"/>
          <a:lstStyle/>
          <a:p>
            <a:pPr algn="ctr" indent="0" marL="0">
              <a:lnSpc>
                <a:spcPts val="1133"/>
              </a:lnSpc>
              <a:buNone/>
            </a:pPr>
            <a:r>
              <a:rPr lang="en-US" sz="800" b="1" dirty="0">
                <a:solidFill>
                  <a:srgbClr val="134E4A"/>
                </a:solidFill>
                <a:latin typeface="Liberation Sans Narrow" pitchFamily="34" charset="0"/>
                <a:ea typeface="Liberation Sans Narrow" pitchFamily="34" charset="-122"/>
                <a:cs typeface="Liberation Sans Narrow" pitchFamily="34" charset="-120"/>
              </a:rPr>
              <a:t>02</a:t>
            </a:r>
            <a:endParaRPr lang="en-US" sz="800" dirty="0"/>
          </a:p>
        </p:txBody>
      </p:sp>
      <p:sp>
        <p:nvSpPr>
          <p:cNvPr id="22" name="Text 20"/>
          <p:cNvSpPr/>
          <p:nvPr/>
        </p:nvSpPr>
        <p:spPr>
          <a:xfrm>
            <a:off x="950119" y="2048359"/>
            <a:ext cx="4180433" cy="276820"/>
          </a:xfrm>
          <a:prstGeom prst="rect">
            <a:avLst/>
          </a:prstGeom>
          <a:noFill/>
          <a:ln/>
        </p:spPr>
        <p:txBody>
          <a:bodyPr wrap="square" lIns="0" tIns="0" rIns="0" bIns="0" rtlCol="0" anchor="t"/>
          <a:lstStyle/>
          <a:p>
            <a:pPr algn="l" indent="0" marL="0">
              <a:lnSpc>
                <a:spcPts val="1090"/>
              </a:lnSpc>
              <a:buNone/>
            </a:pPr>
            <a:r>
              <a:rPr lang="en-US" sz="800" dirty="0">
                <a:solidFill>
                  <a:srgbClr val="134E4A"/>
                </a:solidFill>
                <a:latin typeface="Carlito" pitchFamily="34" charset="0"/>
                <a:ea typeface="Carlito" pitchFamily="34" charset="-122"/>
                <a:cs typeface="Carlito" pitchFamily="34" charset="-120"/>
              </a:rPr>
              <a:t>Pooling Model</a:t>
            </a:r>
            <a:pPr algn="l" indent="0" marL="0">
              <a:lnSpc>
                <a:spcPts val="1090"/>
              </a:lnSpc>
              <a:buNone/>
            </a:pPr>
            <a:r>
              <a:rPr lang="en-US" sz="800" dirty="0">
                <a:solidFill>
                  <a:srgbClr val="0F172A"/>
                </a:solidFill>
                <a:latin typeface="Carlito" pitchFamily="34" charset="0"/>
                <a:ea typeface="Carlito" pitchFamily="34" charset="-122"/>
                <a:cs typeface="Carlito" pitchFamily="34" charset="-120"/>
              </a:rPr>
              <a:t> — Fixed-effect (asumsi efek sejati sama across studi, I² &lt; 50%) vs Random-effect (asumsi efek bervariasi, I² &gt; 50%).</a:t>
            </a:r>
            <a:endParaRPr lang="en-US" sz="800" dirty="0"/>
          </a:p>
        </p:txBody>
      </p:sp>
      <p:sp>
        <p:nvSpPr>
          <p:cNvPr id="23" name="Text 21"/>
          <p:cNvSpPr/>
          <p:nvPr/>
        </p:nvSpPr>
        <p:spPr>
          <a:xfrm>
            <a:off x="635794" y="2532348"/>
            <a:ext cx="214313" cy="214313"/>
          </a:xfrm>
          <a:prstGeom prst="roundRect">
            <a:avLst>
              <a:gd name="adj" fmla="val 35555"/>
            </a:avLst>
          </a:prstGeom>
          <a:solidFill>
            <a:srgbClr val="E0ECEB"/>
          </a:solidFill>
          <a:ln/>
        </p:spPr>
        <p:txBody>
          <a:bodyPr wrap="square" rtlCol="0" anchor="ctr"/>
          <a:lstStyle/>
          <a:p>
            <a:pPr indent="0" marL="0">
              <a:buNone/>
            </a:pPr>
            <a:endParaRPr lang="en-US" dirty="0"/>
          </a:p>
        </p:txBody>
      </p:sp>
      <p:sp>
        <p:nvSpPr>
          <p:cNvPr id="24" name="Text 22"/>
          <p:cNvSpPr/>
          <p:nvPr/>
        </p:nvSpPr>
        <p:spPr>
          <a:xfrm>
            <a:off x="635794" y="2532348"/>
            <a:ext cx="264319" cy="214313"/>
          </a:xfrm>
          <a:prstGeom prst="rect">
            <a:avLst/>
          </a:prstGeom>
          <a:noFill/>
          <a:ln/>
        </p:spPr>
        <p:txBody>
          <a:bodyPr wrap="none" lIns="0" tIns="0" rIns="0" bIns="0" rtlCol="0" anchor="ctr"/>
          <a:lstStyle/>
          <a:p>
            <a:pPr algn="ctr" indent="0" marL="0">
              <a:lnSpc>
                <a:spcPts val="1133"/>
              </a:lnSpc>
              <a:buNone/>
            </a:pPr>
            <a:r>
              <a:rPr lang="en-US" sz="800" b="1" dirty="0">
                <a:solidFill>
                  <a:srgbClr val="134E4A"/>
                </a:solidFill>
                <a:latin typeface="Liberation Sans Narrow" pitchFamily="34" charset="0"/>
                <a:ea typeface="Liberation Sans Narrow" pitchFamily="34" charset="-122"/>
                <a:cs typeface="Liberation Sans Narrow" pitchFamily="34" charset="-120"/>
              </a:rPr>
              <a:t>03</a:t>
            </a:r>
            <a:endParaRPr lang="en-US" sz="800" dirty="0"/>
          </a:p>
        </p:txBody>
      </p:sp>
      <p:sp>
        <p:nvSpPr>
          <p:cNvPr id="25" name="Text 23"/>
          <p:cNvSpPr/>
          <p:nvPr/>
        </p:nvSpPr>
        <p:spPr>
          <a:xfrm>
            <a:off x="950119" y="2532348"/>
            <a:ext cx="4180433" cy="276820"/>
          </a:xfrm>
          <a:prstGeom prst="rect">
            <a:avLst/>
          </a:prstGeom>
          <a:noFill/>
          <a:ln/>
        </p:spPr>
        <p:txBody>
          <a:bodyPr wrap="square" lIns="0" tIns="0" rIns="0" bIns="0" rtlCol="0" anchor="t"/>
          <a:lstStyle/>
          <a:p>
            <a:pPr algn="l" indent="0" marL="0">
              <a:lnSpc>
                <a:spcPts val="1090"/>
              </a:lnSpc>
              <a:buNone/>
            </a:pPr>
            <a:r>
              <a:rPr lang="en-US" sz="800" dirty="0">
                <a:solidFill>
                  <a:srgbClr val="134E4A"/>
                </a:solidFill>
                <a:latin typeface="Carlito" pitchFamily="34" charset="0"/>
                <a:ea typeface="Carlito" pitchFamily="34" charset="-122"/>
                <a:cs typeface="Carlito" pitchFamily="34" charset="-120"/>
              </a:rPr>
              <a:t>Heterogeneity Test</a:t>
            </a:r>
            <a:pPr algn="l" indent="0" marL="0">
              <a:lnSpc>
                <a:spcPts val="1090"/>
              </a:lnSpc>
              <a:buNone/>
            </a:pPr>
            <a:r>
              <a:rPr lang="en-US" sz="800" dirty="0">
                <a:solidFill>
                  <a:srgbClr val="0F172A"/>
                </a:solidFill>
                <a:latin typeface="Carlito" pitchFamily="34" charset="0"/>
                <a:ea typeface="Carlito" pitchFamily="34" charset="-122"/>
                <a:cs typeface="Carlito" pitchFamily="34" charset="-120"/>
              </a:rPr>
              <a:t> — Q-statistic (signifikan jika p &lt; 0.10) dan I² (25% rendah · 50% moderat · 75% tinggi).</a:t>
            </a:r>
            <a:endParaRPr lang="en-US" sz="800" dirty="0"/>
          </a:p>
        </p:txBody>
      </p:sp>
      <p:sp>
        <p:nvSpPr>
          <p:cNvPr id="26" name="Text 24"/>
          <p:cNvSpPr/>
          <p:nvPr/>
        </p:nvSpPr>
        <p:spPr>
          <a:xfrm>
            <a:off x="635794" y="3016337"/>
            <a:ext cx="214313" cy="214313"/>
          </a:xfrm>
          <a:prstGeom prst="roundRect">
            <a:avLst>
              <a:gd name="adj" fmla="val 35555"/>
            </a:avLst>
          </a:prstGeom>
          <a:solidFill>
            <a:srgbClr val="E0ECEB"/>
          </a:solidFill>
          <a:ln/>
        </p:spPr>
        <p:txBody>
          <a:bodyPr wrap="square" rtlCol="0" anchor="ctr"/>
          <a:lstStyle/>
          <a:p>
            <a:pPr indent="0" marL="0">
              <a:buNone/>
            </a:pPr>
            <a:endParaRPr lang="en-US" dirty="0"/>
          </a:p>
        </p:txBody>
      </p:sp>
      <p:sp>
        <p:nvSpPr>
          <p:cNvPr id="27" name="Text 25"/>
          <p:cNvSpPr/>
          <p:nvPr/>
        </p:nvSpPr>
        <p:spPr>
          <a:xfrm>
            <a:off x="635794" y="3016337"/>
            <a:ext cx="264319" cy="214313"/>
          </a:xfrm>
          <a:prstGeom prst="rect">
            <a:avLst/>
          </a:prstGeom>
          <a:noFill/>
          <a:ln/>
        </p:spPr>
        <p:txBody>
          <a:bodyPr wrap="none" lIns="0" tIns="0" rIns="0" bIns="0" rtlCol="0" anchor="ctr"/>
          <a:lstStyle/>
          <a:p>
            <a:pPr algn="ctr" indent="0" marL="0">
              <a:lnSpc>
                <a:spcPts val="1133"/>
              </a:lnSpc>
              <a:buNone/>
            </a:pPr>
            <a:r>
              <a:rPr lang="en-US" sz="800" b="1" dirty="0">
                <a:solidFill>
                  <a:srgbClr val="134E4A"/>
                </a:solidFill>
                <a:latin typeface="Liberation Sans Narrow" pitchFamily="34" charset="0"/>
                <a:ea typeface="Liberation Sans Narrow" pitchFamily="34" charset="-122"/>
                <a:cs typeface="Liberation Sans Narrow" pitchFamily="34" charset="-120"/>
              </a:rPr>
              <a:t>04</a:t>
            </a:r>
            <a:endParaRPr lang="en-US" sz="800" dirty="0"/>
          </a:p>
        </p:txBody>
      </p:sp>
      <p:sp>
        <p:nvSpPr>
          <p:cNvPr id="28" name="Text 26"/>
          <p:cNvSpPr/>
          <p:nvPr/>
        </p:nvSpPr>
        <p:spPr>
          <a:xfrm>
            <a:off x="950119" y="3016337"/>
            <a:ext cx="4180433" cy="276820"/>
          </a:xfrm>
          <a:prstGeom prst="rect">
            <a:avLst/>
          </a:prstGeom>
          <a:noFill/>
          <a:ln/>
        </p:spPr>
        <p:txBody>
          <a:bodyPr wrap="square" lIns="0" tIns="0" rIns="0" bIns="0" rtlCol="0" anchor="t"/>
          <a:lstStyle/>
          <a:p>
            <a:pPr algn="l" indent="0" marL="0">
              <a:lnSpc>
                <a:spcPts val="1090"/>
              </a:lnSpc>
              <a:buNone/>
            </a:pPr>
            <a:r>
              <a:rPr lang="en-US" sz="800" dirty="0">
                <a:solidFill>
                  <a:srgbClr val="134E4A"/>
                </a:solidFill>
                <a:latin typeface="Carlito" pitchFamily="34" charset="0"/>
                <a:ea typeface="Carlito" pitchFamily="34" charset="-122"/>
                <a:cs typeface="Carlito" pitchFamily="34" charset="-120"/>
              </a:rPr>
              <a:t>Subgroup Analysis</a:t>
            </a:r>
            <a:pPr algn="l" indent="0" marL="0">
              <a:lnSpc>
                <a:spcPts val="1090"/>
              </a:lnSpc>
              <a:buNone/>
            </a:pPr>
            <a:r>
              <a:rPr lang="en-US" sz="800" dirty="0">
                <a:solidFill>
                  <a:srgbClr val="0F172A"/>
                </a:solidFill>
                <a:latin typeface="Carlito" pitchFamily="34" charset="0"/>
                <a:ea typeface="Carlito" pitchFamily="34" charset="-122"/>
                <a:cs typeface="Carlito" pitchFamily="34" charset="-120"/>
              </a:rPr>
              <a:t> — Memecah studi berdasarkan moderator (tahun, setting, metode, populasi) untuk menjelaskan sumber heterogeneity.</a:t>
            </a:r>
            <a:endParaRPr lang="en-US" sz="800" dirty="0"/>
          </a:p>
        </p:txBody>
      </p:sp>
      <p:sp>
        <p:nvSpPr>
          <p:cNvPr id="29" name="Text 27"/>
          <p:cNvSpPr/>
          <p:nvPr/>
        </p:nvSpPr>
        <p:spPr>
          <a:xfrm>
            <a:off x="635794" y="3500326"/>
            <a:ext cx="214313" cy="214313"/>
          </a:xfrm>
          <a:prstGeom prst="roundRect">
            <a:avLst>
              <a:gd name="adj" fmla="val 35555"/>
            </a:avLst>
          </a:prstGeom>
          <a:solidFill>
            <a:srgbClr val="E0ECEB"/>
          </a:solidFill>
          <a:ln/>
        </p:spPr>
        <p:txBody>
          <a:bodyPr wrap="square" rtlCol="0" anchor="ctr"/>
          <a:lstStyle/>
          <a:p>
            <a:pPr indent="0" marL="0">
              <a:buNone/>
            </a:pPr>
            <a:endParaRPr lang="en-US" dirty="0"/>
          </a:p>
        </p:txBody>
      </p:sp>
      <p:sp>
        <p:nvSpPr>
          <p:cNvPr id="30" name="Text 28"/>
          <p:cNvSpPr/>
          <p:nvPr/>
        </p:nvSpPr>
        <p:spPr>
          <a:xfrm>
            <a:off x="635794" y="3500326"/>
            <a:ext cx="264319" cy="214313"/>
          </a:xfrm>
          <a:prstGeom prst="rect">
            <a:avLst/>
          </a:prstGeom>
          <a:noFill/>
          <a:ln/>
        </p:spPr>
        <p:txBody>
          <a:bodyPr wrap="none" lIns="0" tIns="0" rIns="0" bIns="0" rtlCol="0" anchor="ctr"/>
          <a:lstStyle/>
          <a:p>
            <a:pPr algn="ctr" indent="0" marL="0">
              <a:lnSpc>
                <a:spcPts val="1133"/>
              </a:lnSpc>
              <a:buNone/>
            </a:pPr>
            <a:r>
              <a:rPr lang="en-US" sz="800" b="1" dirty="0">
                <a:solidFill>
                  <a:srgbClr val="134E4A"/>
                </a:solidFill>
                <a:latin typeface="Liberation Sans Narrow" pitchFamily="34" charset="0"/>
                <a:ea typeface="Liberation Sans Narrow" pitchFamily="34" charset="-122"/>
                <a:cs typeface="Liberation Sans Narrow" pitchFamily="34" charset="-120"/>
              </a:rPr>
              <a:t>05</a:t>
            </a:r>
            <a:endParaRPr lang="en-US" sz="800" dirty="0"/>
          </a:p>
        </p:txBody>
      </p:sp>
      <p:sp>
        <p:nvSpPr>
          <p:cNvPr id="31" name="Text 29"/>
          <p:cNvSpPr/>
          <p:nvPr/>
        </p:nvSpPr>
        <p:spPr>
          <a:xfrm>
            <a:off x="950119" y="3500326"/>
            <a:ext cx="4180433" cy="276820"/>
          </a:xfrm>
          <a:prstGeom prst="rect">
            <a:avLst/>
          </a:prstGeom>
          <a:noFill/>
          <a:ln/>
        </p:spPr>
        <p:txBody>
          <a:bodyPr wrap="square" lIns="0" tIns="0" rIns="0" bIns="0" rtlCol="0" anchor="t"/>
          <a:lstStyle/>
          <a:p>
            <a:pPr algn="l" indent="0" marL="0">
              <a:lnSpc>
                <a:spcPts val="1090"/>
              </a:lnSpc>
              <a:buNone/>
            </a:pPr>
            <a:r>
              <a:rPr lang="en-US" sz="800" dirty="0">
                <a:solidFill>
                  <a:srgbClr val="134E4A"/>
                </a:solidFill>
                <a:latin typeface="Carlito" pitchFamily="34" charset="0"/>
                <a:ea typeface="Carlito" pitchFamily="34" charset="-122"/>
                <a:cs typeface="Carlito" pitchFamily="34" charset="-120"/>
              </a:rPr>
              <a:t>Sensitivity Analysis</a:t>
            </a:r>
            <a:pPr algn="l" indent="0" marL="0">
              <a:lnSpc>
                <a:spcPts val="1090"/>
              </a:lnSpc>
              <a:buNone/>
            </a:pPr>
            <a:r>
              <a:rPr lang="en-US" sz="800" dirty="0">
                <a:solidFill>
                  <a:srgbClr val="0F172A"/>
                </a:solidFill>
                <a:latin typeface="Carlito" pitchFamily="34" charset="0"/>
                <a:ea typeface="Carlito" pitchFamily="34" charset="-122"/>
                <a:cs typeface="Carlito" pitchFamily="34" charset="-120"/>
              </a:rPr>
              <a:t> — Leave-one-out dan uji robustness — menilai apakah estimasi gabungan digerakkan oleh studi outlier.</a:t>
            </a:r>
            <a:endParaRPr lang="en-US" sz="800" dirty="0"/>
          </a:p>
        </p:txBody>
      </p:sp>
      <p:sp>
        <p:nvSpPr>
          <p:cNvPr id="32" name="Text 30"/>
          <p:cNvSpPr/>
          <p:nvPr/>
        </p:nvSpPr>
        <p:spPr>
          <a:xfrm>
            <a:off x="5452021" y="1095784"/>
            <a:ext cx="1574416" cy="914400"/>
          </a:xfrm>
          <a:prstGeom prst="roundRect">
            <a:avLst>
              <a:gd name="adj" fmla="val 10417"/>
            </a:avLst>
          </a:prstGeom>
          <a:solidFill>
            <a:srgbClr val="E0ECEB"/>
          </a:solidFill>
          <a:ln/>
        </p:spPr>
        <p:txBody>
          <a:bodyPr wrap="square" rtlCol="0" anchor="ctr"/>
          <a:lstStyle/>
          <a:p>
            <a:pPr indent="0" marL="0">
              <a:buNone/>
            </a:pPr>
            <a:endParaRPr lang="en-US" dirty="0"/>
          </a:p>
        </p:txBody>
      </p:sp>
      <p:sp>
        <p:nvSpPr>
          <p:cNvPr id="33" name="Text 31"/>
          <p:cNvSpPr/>
          <p:nvPr/>
        </p:nvSpPr>
        <p:spPr>
          <a:xfrm>
            <a:off x="6826411" y="1167222"/>
            <a:ext cx="128588" cy="128588"/>
          </a:xfrm>
          <a:prstGeom prst="rect">
            <a:avLst/>
          </a:prstGeom>
          <a:noFill/>
          <a:ln/>
        </p:spPr>
        <p:txBody>
          <a:bodyPr wrap="none" lIns="0" tIns="0" rIns="0" bIns="0" rtlCol="0" anchor="ctr"/>
          <a:lstStyle/>
          <a:p>
            <a:pPr algn="ctr" indent="0" marL="0">
              <a:buNone/>
            </a:pPr>
            <a:r>
              <a:rPr lang="en-US" sz="1266" dirty="0">
                <a:solidFill>
                  <a:srgbClr val="F97316"/>
                </a:solidFill>
                <a:latin typeface="Segoe UI Symbol" pitchFamily="34" charset="0"/>
                <a:ea typeface="Segoe UI Symbol" pitchFamily="34" charset="-122"/>
                <a:cs typeface="Segoe UI Symbol" pitchFamily="34" charset="-120"/>
              </a:rPr>
              <a:t>✓</a:t>
            </a:r>
            <a:endParaRPr lang="en-US" sz="1266" dirty="0"/>
          </a:p>
        </p:txBody>
      </p:sp>
      <p:sp>
        <p:nvSpPr>
          <p:cNvPr id="34" name="Text 32"/>
          <p:cNvSpPr/>
          <p:nvPr/>
        </p:nvSpPr>
        <p:spPr>
          <a:xfrm>
            <a:off x="5736967" y="1327286"/>
            <a:ext cx="1004411" cy="203610"/>
          </a:xfrm>
          <a:prstGeom prst="rect">
            <a:avLst/>
          </a:prstGeom>
          <a:noFill/>
          <a:ln/>
        </p:spPr>
        <p:txBody>
          <a:bodyPr wrap="none" lIns="0" tIns="0" rIns="0" bIns="0" rtlCol="0" anchor="t"/>
          <a:lstStyle/>
          <a:p>
            <a:pPr algn="ctr" indent="0" marL="0">
              <a:lnSpc>
                <a:spcPts val="1485"/>
              </a:lnSpc>
              <a:buNone/>
            </a:pPr>
            <a:r>
              <a:rPr lang="en-US" sz="1350" b="1" spc="-40" kern="0" dirty="0">
                <a:solidFill>
                  <a:srgbClr val="134E4A"/>
                </a:solidFill>
                <a:latin typeface="Liberation Sans Narrow" pitchFamily="34" charset="0"/>
                <a:ea typeface="Liberation Sans Narrow" pitchFamily="34" charset="-122"/>
                <a:cs typeface="Liberation Sans Narrow" pitchFamily="34" charset="-120"/>
              </a:rPr>
              <a:t>I² &lt; 50%</a:t>
            </a:r>
            <a:endParaRPr lang="en-US" sz="1350" dirty="0"/>
          </a:p>
        </p:txBody>
      </p:sp>
      <p:sp>
        <p:nvSpPr>
          <p:cNvPr id="35" name="Text 33"/>
          <p:cNvSpPr/>
          <p:nvPr/>
        </p:nvSpPr>
        <p:spPr>
          <a:xfrm>
            <a:off x="5911213" y="1558677"/>
            <a:ext cx="656031" cy="96133"/>
          </a:xfrm>
          <a:prstGeom prst="rect">
            <a:avLst/>
          </a:prstGeom>
          <a:noFill/>
          <a:ln/>
        </p:spPr>
        <p:txBody>
          <a:bodyPr wrap="none" lIns="0" tIns="0" rIns="0" bIns="0" rtlCol="0" anchor="t">
            <a:normAutofit/>
          </a:bodyPr>
          <a:lstStyle/>
          <a:p>
            <a:pPr algn="ctr" indent="0" marL="0">
              <a:lnSpc>
                <a:spcPts val="804"/>
              </a:lnSpc>
              <a:buNone/>
            </a:pPr>
            <a:r>
              <a:rPr lang="en-US" sz="800" spc="37" kern="0" dirty="0">
                <a:solidFill>
                  <a:srgbClr val="475569"/>
                </a:solidFill>
                <a:latin typeface="Carlito" pitchFamily="34" charset="0"/>
                <a:ea typeface="Carlito" pitchFamily="34" charset="-122"/>
                <a:cs typeface="Carlito" pitchFamily="34" charset="-120"/>
              </a:rPr>
              <a:t>HOMOGEN</a:t>
            </a:r>
            <a:endParaRPr lang="en-US" sz="800" dirty="0"/>
          </a:p>
        </p:txBody>
      </p:sp>
      <p:sp>
        <p:nvSpPr>
          <p:cNvPr id="36" name="Text 34"/>
          <p:cNvSpPr/>
          <p:nvPr/>
        </p:nvSpPr>
        <p:spPr>
          <a:xfrm>
            <a:off x="5852198" y="1682242"/>
            <a:ext cx="774061" cy="148133"/>
          </a:xfrm>
          <a:prstGeom prst="rect">
            <a:avLst/>
          </a:prstGeom>
          <a:noFill/>
          <a:ln/>
        </p:spPr>
        <p:txBody>
          <a:bodyPr wrap="none" lIns="0" tIns="0" rIns="0" bIns="0" rtlCol="0" anchor="t"/>
          <a:lstStyle/>
          <a:p>
            <a:pPr algn="ctr" indent="0" marL="0">
              <a:lnSpc>
                <a:spcPts val="759"/>
              </a:lnSpc>
              <a:buNone/>
            </a:pPr>
            <a:r>
              <a:rPr lang="en-US" sz="600" dirty="0">
                <a:solidFill>
                  <a:srgbClr val="64748B"/>
                </a:solidFill>
                <a:latin typeface="Carlito" pitchFamily="34" charset="0"/>
                <a:ea typeface="Carlito" pitchFamily="34" charset="-122"/>
                <a:cs typeface="Carlito" pitchFamily="34" charset="-120"/>
              </a:rPr>
              <a:t>Fixed-effect model</a:t>
            </a:r>
            <a:endParaRPr lang="en-US" sz="600" dirty="0"/>
          </a:p>
        </p:txBody>
      </p:sp>
      <p:sp>
        <p:nvSpPr>
          <p:cNvPr id="37" name="Text 35"/>
          <p:cNvSpPr/>
          <p:nvPr/>
        </p:nvSpPr>
        <p:spPr>
          <a:xfrm>
            <a:off x="7112161" y="1095784"/>
            <a:ext cx="1574527" cy="914400"/>
          </a:xfrm>
          <a:prstGeom prst="roundRect">
            <a:avLst>
              <a:gd name="adj" fmla="val 10417"/>
            </a:avLst>
          </a:prstGeom>
          <a:solidFill>
            <a:srgbClr val="FFF1E6"/>
          </a:solidFill>
          <a:ln/>
        </p:spPr>
        <p:txBody>
          <a:bodyPr wrap="square" rtlCol="0" anchor="ctr"/>
          <a:lstStyle/>
          <a:p>
            <a:pPr indent="0" marL="0">
              <a:buNone/>
            </a:pPr>
            <a:endParaRPr lang="en-US" dirty="0"/>
          </a:p>
        </p:txBody>
      </p:sp>
      <p:sp>
        <p:nvSpPr>
          <p:cNvPr id="38" name="Text 36"/>
          <p:cNvSpPr/>
          <p:nvPr/>
        </p:nvSpPr>
        <p:spPr>
          <a:xfrm>
            <a:off x="8486663" y="1167222"/>
            <a:ext cx="128588" cy="128588"/>
          </a:xfrm>
          <a:prstGeom prst="rect">
            <a:avLst/>
          </a:prstGeom>
          <a:noFill/>
          <a:ln/>
        </p:spPr>
        <p:txBody>
          <a:bodyPr wrap="none" lIns="0" tIns="0" rIns="0" bIns="0" rtlCol="0" anchor="ctr"/>
          <a:lstStyle/>
          <a:p>
            <a:pPr algn="ctr" indent="0" marL="0">
              <a:buNone/>
            </a:pPr>
            <a:r>
              <a:rPr lang="en-US" sz="1266" dirty="0">
                <a:solidFill>
                  <a:srgbClr val="134E4A"/>
                </a:solidFill>
                <a:latin typeface="Segoe UI Symbol" pitchFamily="34" charset="0"/>
                <a:ea typeface="Segoe UI Symbol" pitchFamily="34" charset="-122"/>
                <a:cs typeface="Segoe UI Symbol" pitchFamily="34" charset="-120"/>
              </a:rPr>
              <a:t>▦</a:t>
            </a:r>
            <a:endParaRPr lang="en-US" sz="1266" dirty="0"/>
          </a:p>
        </p:txBody>
      </p:sp>
      <p:sp>
        <p:nvSpPr>
          <p:cNvPr id="39" name="Text 37"/>
          <p:cNvSpPr/>
          <p:nvPr/>
        </p:nvSpPr>
        <p:spPr>
          <a:xfrm>
            <a:off x="7212174" y="1280071"/>
            <a:ext cx="1374502" cy="298278"/>
          </a:xfrm>
          <a:prstGeom prst="rect">
            <a:avLst/>
          </a:prstGeom>
          <a:noFill/>
          <a:ln/>
        </p:spPr>
        <p:txBody>
          <a:bodyPr wrap="none" lIns="0" tIns="0" rIns="0" bIns="0" rtlCol="0" anchor="t">
            <a:normAutofit/>
          </a:bodyPr>
          <a:lstStyle/>
          <a:p>
            <a:pPr algn="ctr" indent="0" marL="0">
              <a:lnSpc>
                <a:spcPts val="1114"/>
              </a:lnSpc>
              <a:buNone/>
            </a:pPr>
            <a:r>
              <a:rPr lang="en-US" sz="1013" b="1" spc="-30" kern="0" dirty="0">
                <a:solidFill>
                  <a:srgbClr val="134E4A"/>
                </a:solidFill>
                <a:latin typeface="Liberation Sans Narrow" pitchFamily="34" charset="0"/>
                <a:ea typeface="Liberation Sans Narrow" pitchFamily="34" charset="-122"/>
                <a:cs typeface="Liberation Sans Narrow" pitchFamily="34" charset="-120"/>
              </a:rPr>
              <a:t>d = 0.2 / 0.5 / 0.8</a:t>
            </a:r>
            <a:endParaRPr lang="en-US" sz="1013" dirty="0"/>
          </a:p>
        </p:txBody>
      </p:sp>
      <p:sp>
        <p:nvSpPr>
          <p:cNvPr id="40" name="Text 38"/>
          <p:cNvSpPr/>
          <p:nvPr/>
        </p:nvSpPr>
        <p:spPr>
          <a:xfrm>
            <a:off x="7266494" y="1605781"/>
            <a:ext cx="1265750" cy="96133"/>
          </a:xfrm>
          <a:prstGeom prst="rect">
            <a:avLst/>
          </a:prstGeom>
          <a:noFill/>
          <a:ln/>
        </p:spPr>
        <p:txBody>
          <a:bodyPr wrap="none" lIns="0" tIns="0" rIns="0" bIns="0" rtlCol="0" anchor="t">
            <a:normAutofit/>
          </a:bodyPr>
          <a:lstStyle/>
          <a:p>
            <a:pPr algn="ctr" indent="0" marL="0">
              <a:lnSpc>
                <a:spcPts val="804"/>
              </a:lnSpc>
              <a:buNone/>
            </a:pPr>
            <a:r>
              <a:rPr lang="en-US" sz="800" spc="37" kern="0" dirty="0">
                <a:solidFill>
                  <a:srgbClr val="475569"/>
                </a:solidFill>
                <a:latin typeface="Carlito" pitchFamily="34" charset="0"/>
                <a:ea typeface="Carlito" pitchFamily="34" charset="-122"/>
                <a:cs typeface="Carlito" pitchFamily="34" charset="-120"/>
              </a:rPr>
              <a:t>SMALL / MED / LARGE</a:t>
            </a:r>
            <a:endParaRPr lang="en-US" sz="800" dirty="0"/>
          </a:p>
        </p:txBody>
      </p:sp>
      <p:sp>
        <p:nvSpPr>
          <p:cNvPr id="41" name="Text 39"/>
          <p:cNvSpPr/>
          <p:nvPr/>
        </p:nvSpPr>
        <p:spPr>
          <a:xfrm>
            <a:off x="7288473" y="1729346"/>
            <a:ext cx="1221903" cy="148133"/>
          </a:xfrm>
          <a:prstGeom prst="rect">
            <a:avLst/>
          </a:prstGeom>
          <a:noFill/>
          <a:ln/>
        </p:spPr>
        <p:txBody>
          <a:bodyPr wrap="square" lIns="0" tIns="0" rIns="0" bIns="0" rtlCol="0" anchor="t"/>
          <a:lstStyle/>
          <a:p>
            <a:pPr algn="ctr" indent="0" marL="0">
              <a:lnSpc>
                <a:spcPts val="759"/>
              </a:lnSpc>
              <a:buNone/>
            </a:pPr>
            <a:r>
              <a:rPr lang="en-US" sz="600" dirty="0">
                <a:solidFill>
                  <a:srgbClr val="64748B"/>
                </a:solidFill>
                <a:latin typeface="Carlito" pitchFamily="34" charset="0"/>
                <a:ea typeface="Carlito" pitchFamily="34" charset="-122"/>
                <a:cs typeface="Carlito" pitchFamily="34" charset="-120"/>
              </a:rPr>
              <a:t>Cohen effect size interpretation</a:t>
            </a:r>
            <a:endParaRPr lang="en-US" sz="600" dirty="0"/>
          </a:p>
        </p:txBody>
      </p:sp>
      <p:sp>
        <p:nvSpPr>
          <p:cNvPr id="42" name="Text 40"/>
          <p:cNvSpPr/>
          <p:nvPr/>
        </p:nvSpPr>
        <p:spPr>
          <a:xfrm>
            <a:off x="5452021" y="2590056"/>
            <a:ext cx="1574416" cy="914400"/>
          </a:xfrm>
          <a:prstGeom prst="roundRect">
            <a:avLst>
              <a:gd name="adj" fmla="val 10417"/>
            </a:avLst>
          </a:prstGeom>
          <a:solidFill>
            <a:srgbClr val="FFF1E6"/>
          </a:solidFill>
          <a:ln/>
        </p:spPr>
        <p:txBody>
          <a:bodyPr wrap="square" rtlCol="0" anchor="ctr"/>
          <a:lstStyle/>
          <a:p>
            <a:pPr indent="0" marL="0">
              <a:buNone/>
            </a:pPr>
            <a:endParaRPr lang="en-US" dirty="0"/>
          </a:p>
        </p:txBody>
      </p:sp>
      <p:sp>
        <p:nvSpPr>
          <p:cNvPr id="43" name="Text 41"/>
          <p:cNvSpPr/>
          <p:nvPr/>
        </p:nvSpPr>
        <p:spPr>
          <a:xfrm>
            <a:off x="6826411" y="2661493"/>
            <a:ext cx="128588" cy="128588"/>
          </a:xfrm>
          <a:prstGeom prst="rect">
            <a:avLst/>
          </a:prstGeom>
          <a:noFill/>
          <a:ln/>
        </p:spPr>
        <p:txBody>
          <a:bodyPr wrap="none" lIns="0" tIns="0" rIns="0" bIns="0" rtlCol="0" anchor="ctr"/>
          <a:lstStyle/>
          <a:p>
            <a:pPr algn="ctr" indent="0" marL="0">
              <a:buNone/>
            </a:pPr>
            <a:r>
              <a:rPr lang="en-US" sz="1266" dirty="0">
                <a:solidFill>
                  <a:srgbClr val="134E4A"/>
                </a:solidFill>
                <a:latin typeface="Segoe UI Symbol" pitchFamily="34" charset="0"/>
                <a:ea typeface="Segoe UI Symbol" pitchFamily="34" charset="-122"/>
                <a:cs typeface="Segoe UI Symbol" pitchFamily="34" charset="-120"/>
              </a:rPr>
              <a:t>▤</a:t>
            </a:r>
            <a:endParaRPr lang="en-US" sz="1266" dirty="0"/>
          </a:p>
        </p:txBody>
      </p:sp>
      <p:sp>
        <p:nvSpPr>
          <p:cNvPr id="44" name="Text 42"/>
          <p:cNvSpPr/>
          <p:nvPr/>
        </p:nvSpPr>
        <p:spPr>
          <a:xfrm>
            <a:off x="5862539" y="2821558"/>
            <a:ext cx="753380" cy="203610"/>
          </a:xfrm>
          <a:prstGeom prst="rect">
            <a:avLst/>
          </a:prstGeom>
          <a:noFill/>
          <a:ln/>
        </p:spPr>
        <p:txBody>
          <a:bodyPr wrap="none" lIns="0" tIns="0" rIns="0" bIns="0" rtlCol="0" anchor="t"/>
          <a:lstStyle/>
          <a:p>
            <a:pPr algn="ctr" indent="0" marL="0">
              <a:lnSpc>
                <a:spcPts val="1485"/>
              </a:lnSpc>
              <a:buNone/>
            </a:pPr>
            <a:r>
              <a:rPr lang="en-US" sz="1350" b="1" spc="-40" kern="0" dirty="0">
                <a:solidFill>
                  <a:srgbClr val="134E4A"/>
                </a:solidFill>
                <a:latin typeface="Liberation Sans Narrow" pitchFamily="34" charset="0"/>
                <a:ea typeface="Liberation Sans Narrow" pitchFamily="34" charset="-122"/>
                <a:cs typeface="Liberation Sans Narrow" pitchFamily="34" charset="-120"/>
              </a:rPr>
              <a:t>95% CI</a:t>
            </a:r>
            <a:endParaRPr lang="en-US" sz="1350" dirty="0"/>
          </a:p>
        </p:txBody>
      </p:sp>
      <p:sp>
        <p:nvSpPr>
          <p:cNvPr id="45" name="Text 43"/>
          <p:cNvSpPr/>
          <p:nvPr/>
        </p:nvSpPr>
        <p:spPr>
          <a:xfrm>
            <a:off x="5559717" y="3052949"/>
            <a:ext cx="1358910" cy="96133"/>
          </a:xfrm>
          <a:prstGeom prst="rect">
            <a:avLst/>
          </a:prstGeom>
          <a:noFill/>
          <a:ln/>
        </p:spPr>
        <p:txBody>
          <a:bodyPr wrap="none" lIns="0" tIns="0" rIns="0" bIns="0" rtlCol="0" anchor="t">
            <a:normAutofit/>
          </a:bodyPr>
          <a:lstStyle/>
          <a:p>
            <a:pPr algn="ctr" indent="0" marL="0">
              <a:lnSpc>
                <a:spcPts val="804"/>
              </a:lnSpc>
              <a:buNone/>
            </a:pPr>
            <a:r>
              <a:rPr lang="en-US" sz="800" spc="37" kern="0" dirty="0">
                <a:solidFill>
                  <a:srgbClr val="475569"/>
                </a:solidFill>
                <a:latin typeface="Carlito" pitchFamily="34" charset="0"/>
                <a:ea typeface="Carlito" pitchFamily="34" charset="-122"/>
                <a:cs typeface="Carlito" pitchFamily="34" charset="-120"/>
              </a:rPr>
              <a:t>CONFIDENCE INTERVAL</a:t>
            </a:r>
            <a:endParaRPr lang="en-US" sz="800" dirty="0"/>
          </a:p>
        </p:txBody>
      </p:sp>
      <p:sp>
        <p:nvSpPr>
          <p:cNvPr id="46" name="Text 44"/>
          <p:cNvSpPr/>
          <p:nvPr/>
        </p:nvSpPr>
        <p:spPr>
          <a:xfrm>
            <a:off x="5777011" y="3176513"/>
            <a:ext cx="924435" cy="148133"/>
          </a:xfrm>
          <a:prstGeom prst="rect">
            <a:avLst/>
          </a:prstGeom>
          <a:noFill/>
          <a:ln/>
        </p:spPr>
        <p:txBody>
          <a:bodyPr wrap="none" lIns="0" tIns="0" rIns="0" bIns="0" rtlCol="0" anchor="t"/>
          <a:lstStyle/>
          <a:p>
            <a:pPr algn="ctr" indent="0" marL="0">
              <a:lnSpc>
                <a:spcPts val="759"/>
              </a:lnSpc>
              <a:buNone/>
            </a:pPr>
            <a:r>
              <a:rPr lang="en-US" sz="600" dirty="0">
                <a:solidFill>
                  <a:srgbClr val="64748B"/>
                </a:solidFill>
                <a:latin typeface="Carlito" pitchFamily="34" charset="0"/>
                <a:ea typeface="Carlito" pitchFamily="34" charset="-122"/>
                <a:cs typeface="Carlito" pitchFamily="34" charset="-120"/>
              </a:rPr>
              <a:t>Estimasi presisi pooling</a:t>
            </a:r>
            <a:endParaRPr lang="en-US" sz="600" dirty="0"/>
          </a:p>
        </p:txBody>
      </p:sp>
      <p:sp>
        <p:nvSpPr>
          <p:cNvPr id="47" name="Text 45"/>
          <p:cNvSpPr/>
          <p:nvPr/>
        </p:nvSpPr>
        <p:spPr>
          <a:xfrm>
            <a:off x="7112161" y="2590056"/>
            <a:ext cx="1574527" cy="914400"/>
          </a:xfrm>
          <a:prstGeom prst="roundRect">
            <a:avLst>
              <a:gd name="adj" fmla="val 10417"/>
            </a:avLst>
          </a:prstGeom>
          <a:solidFill>
            <a:srgbClr val="E0ECEB"/>
          </a:solidFill>
          <a:ln/>
        </p:spPr>
        <p:txBody>
          <a:bodyPr wrap="square" rtlCol="0" anchor="ctr"/>
          <a:lstStyle/>
          <a:p>
            <a:pPr indent="0" marL="0">
              <a:buNone/>
            </a:pPr>
            <a:endParaRPr lang="en-US" dirty="0"/>
          </a:p>
        </p:txBody>
      </p:sp>
      <p:sp>
        <p:nvSpPr>
          <p:cNvPr id="48" name="Text 46"/>
          <p:cNvSpPr/>
          <p:nvPr/>
        </p:nvSpPr>
        <p:spPr>
          <a:xfrm>
            <a:off x="8486663" y="2661493"/>
            <a:ext cx="128588" cy="128588"/>
          </a:xfrm>
          <a:prstGeom prst="rect">
            <a:avLst/>
          </a:prstGeom>
          <a:noFill/>
          <a:ln/>
        </p:spPr>
        <p:txBody>
          <a:bodyPr wrap="none" lIns="0" tIns="0" rIns="0" bIns="0" rtlCol="0" anchor="ctr"/>
          <a:lstStyle/>
          <a:p>
            <a:pPr algn="ctr" indent="0" marL="0">
              <a:buNone/>
            </a:pPr>
            <a:r>
              <a:rPr lang="en-US" sz="1266" dirty="0">
                <a:solidFill>
                  <a:srgbClr val="F97316"/>
                </a:solidFill>
                <a:latin typeface="Segoe UI Symbol" pitchFamily="34" charset="0"/>
                <a:ea typeface="Segoe UI Symbol" pitchFamily="34" charset="-122"/>
                <a:cs typeface="Segoe UI Symbol" pitchFamily="34" charset="-120"/>
              </a:rPr>
              <a:t>✦</a:t>
            </a:r>
            <a:endParaRPr lang="en-US" sz="1266" dirty="0"/>
          </a:p>
        </p:txBody>
      </p:sp>
      <p:sp>
        <p:nvSpPr>
          <p:cNvPr id="49" name="Text 47"/>
          <p:cNvSpPr/>
          <p:nvPr/>
        </p:nvSpPr>
        <p:spPr>
          <a:xfrm>
            <a:off x="7362942" y="2852924"/>
            <a:ext cx="1072854" cy="135740"/>
          </a:xfrm>
          <a:prstGeom prst="rect">
            <a:avLst/>
          </a:prstGeom>
          <a:noFill/>
          <a:ln/>
        </p:spPr>
        <p:txBody>
          <a:bodyPr wrap="none" lIns="0" tIns="0" rIns="0" bIns="0" rtlCol="0" anchor="t"/>
          <a:lstStyle/>
          <a:p>
            <a:pPr algn="ctr" indent="0" marL="0">
              <a:lnSpc>
                <a:spcPts val="990"/>
              </a:lnSpc>
              <a:buNone/>
            </a:pPr>
            <a:r>
              <a:rPr lang="en-US" sz="900" b="1" spc="-27" kern="0" dirty="0">
                <a:solidFill>
                  <a:srgbClr val="134E4A"/>
                </a:solidFill>
                <a:latin typeface="Courier New" pitchFamily="34" charset="0"/>
                <a:ea typeface="Courier New" pitchFamily="34" charset="-122"/>
                <a:cs typeface="Courier New" pitchFamily="34" charset="-120"/>
              </a:rPr>
              <a:t>Egger + Funnel</a:t>
            </a:r>
            <a:endParaRPr lang="en-US" sz="900" dirty="0"/>
          </a:p>
        </p:txBody>
      </p:sp>
      <p:sp>
        <p:nvSpPr>
          <p:cNvPr id="50" name="Text 48"/>
          <p:cNvSpPr/>
          <p:nvPr/>
        </p:nvSpPr>
        <p:spPr>
          <a:xfrm>
            <a:off x="7352446" y="3021471"/>
            <a:ext cx="1093847" cy="96133"/>
          </a:xfrm>
          <a:prstGeom prst="rect">
            <a:avLst/>
          </a:prstGeom>
          <a:noFill/>
          <a:ln/>
        </p:spPr>
        <p:txBody>
          <a:bodyPr wrap="none" lIns="0" tIns="0" rIns="0" bIns="0" rtlCol="0" anchor="t">
            <a:normAutofit/>
          </a:bodyPr>
          <a:lstStyle/>
          <a:p>
            <a:pPr algn="ctr" indent="0" marL="0">
              <a:lnSpc>
                <a:spcPts val="804"/>
              </a:lnSpc>
              <a:buNone/>
            </a:pPr>
            <a:r>
              <a:rPr lang="en-US" sz="800" spc="37" kern="0" dirty="0">
                <a:solidFill>
                  <a:srgbClr val="475569"/>
                </a:solidFill>
                <a:latin typeface="Carlito" pitchFamily="34" charset="0"/>
                <a:ea typeface="Carlito" pitchFamily="34" charset="-122"/>
                <a:cs typeface="Carlito" pitchFamily="34" charset="-120"/>
              </a:rPr>
              <a:t>PUBLICATION BIAS</a:t>
            </a:r>
            <a:endParaRPr lang="en-US" sz="800" dirty="0"/>
          </a:p>
        </p:txBody>
      </p:sp>
      <p:sp>
        <p:nvSpPr>
          <p:cNvPr id="51" name="Text 49"/>
          <p:cNvSpPr/>
          <p:nvPr/>
        </p:nvSpPr>
        <p:spPr>
          <a:xfrm>
            <a:off x="7327898" y="3145036"/>
            <a:ext cx="1142942" cy="148133"/>
          </a:xfrm>
          <a:prstGeom prst="rect">
            <a:avLst/>
          </a:prstGeom>
          <a:noFill/>
          <a:ln/>
        </p:spPr>
        <p:txBody>
          <a:bodyPr wrap="square" lIns="0" tIns="0" rIns="0" bIns="0" rtlCol="0" anchor="t"/>
          <a:lstStyle/>
          <a:p>
            <a:pPr algn="ctr" indent="0" marL="0">
              <a:lnSpc>
                <a:spcPts val="759"/>
              </a:lnSpc>
              <a:buNone/>
            </a:pPr>
            <a:r>
              <a:rPr lang="en-US" sz="600" dirty="0">
                <a:solidFill>
                  <a:srgbClr val="64748B"/>
                </a:solidFill>
                <a:latin typeface="Carlito" pitchFamily="34" charset="0"/>
                <a:ea typeface="Carlito" pitchFamily="34" charset="-122"/>
                <a:cs typeface="Carlito" pitchFamily="34" charset="-120"/>
              </a:rPr>
              <a:t>Statistical test + visual check</a:t>
            </a:r>
            <a:endParaRPr lang="en-US" sz="600" dirty="0"/>
          </a:p>
        </p:txBody>
      </p:sp>
      <p:sp>
        <p:nvSpPr>
          <p:cNvPr id="52" name="Text 50"/>
          <p:cNvSpPr/>
          <p:nvPr/>
        </p:nvSpPr>
        <p:spPr>
          <a:xfrm>
            <a:off x="457200" y="4084327"/>
            <a:ext cx="8229600" cy="153526"/>
          </a:xfrm>
          <a:prstGeom prst="rect">
            <a:avLst/>
          </a:prstGeom>
          <a:noFill/>
          <a:ln/>
        </p:spPr>
        <p:txBody>
          <a:bodyPr wrap="square" lIns="0" tIns="0" rIns="0" bIns="0" rtlCol="0" anchor="t"/>
          <a:lstStyle/>
          <a:p>
            <a:pPr algn="l" indent="0" marL="0">
              <a:lnSpc>
                <a:spcPts val="866"/>
              </a:lnSpc>
              <a:buNone/>
            </a:pPr>
            <a:r>
              <a:rPr lang="en-US" sz="619" i="1" dirty="0">
                <a:solidFill>
                  <a:srgbClr val="64748B"/>
                </a:solidFill>
                <a:latin typeface="Carlito" pitchFamily="34" charset="0"/>
                <a:ea typeface="Carlito" pitchFamily="34" charset="-122"/>
                <a:cs typeface="Carlito" pitchFamily="34" charset="-120"/>
              </a:rPr>
              <a:t>Hasil divisualisasikan sebagai forest plot; certainty of evidence dilaporkan menggunakan GRADE (PRISMA 2020 item 15). Tools: RevMan, Metafor (R), Comprehensive Meta-Analysis, JASP.</a:t>
            </a:r>
            <a:endParaRPr lang="en-US" sz="619"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7F8"/>
        </a:solidFill>
      </p:bgPr>
    </p:bg>
    <p:spTree>
      <p:nvGrpSpPr>
        <p:cNvPr id="1" name=""/>
        <p:cNvGrpSpPr/>
        <p:nvPr/>
      </p:nvGrpSpPr>
      <p:grpSpPr>
        <a:xfrm>
          <a:off x="0" y="0"/>
          <a:ext cx="0" cy="0"/>
          <a:chOff x="0" y="0"/>
          <a:chExt cx="0" cy="0"/>
        </a:xfrm>
      </p:grpSpPr>
      <p:sp>
        <p:nvSpPr>
          <p:cNvPr id="2" name="Text 0"/>
          <p:cNvSpPr/>
          <p:nvPr/>
        </p:nvSpPr>
        <p:spPr>
          <a:xfrm>
            <a:off x="7071512" y="-214312"/>
            <a:ext cx="2072488" cy="1234440"/>
          </a:xfrm>
          <a:prstGeom prst="rect">
            <a:avLst/>
          </a:prstGeom>
          <a:noFill/>
          <a:ln/>
        </p:spPr>
        <p:txBody>
          <a:bodyPr wrap="square" lIns="0" tIns="0" rIns="0" bIns="0" rtlCol="0" anchor="t"/>
          <a:lstStyle/>
          <a:p>
            <a:pPr algn="l" indent="0" marL="0">
              <a:lnSpc>
                <a:spcPts val="9000"/>
              </a:lnSpc>
              <a:buNone/>
            </a:pPr>
            <a:r>
              <a:rPr lang="en-US" sz="9000" dirty="0">
                <a:solidFill>
                  <a:srgbClr val="134E4A">
                    <a:alpha val="5000"/>
                  </a:srgbClr>
                </a:solidFill>
                <a:latin typeface="Liberation Sans Narrow" pitchFamily="34" charset="0"/>
                <a:ea typeface="Liberation Sans Narrow" pitchFamily="34" charset="-122"/>
                <a:cs typeface="Liberation Sans Narrow" pitchFamily="34" charset="-120"/>
              </a:rPr>
              <a:t>15</a:t>
            </a:r>
            <a:endParaRPr lang="en-US" sz="9000" dirty="0"/>
          </a:p>
        </p:txBody>
      </p:sp>
      <p:sp>
        <p:nvSpPr>
          <p:cNvPr id="3" name="Shape 1"/>
          <p:cNvSpPr/>
          <p:nvPr/>
        </p:nvSpPr>
        <p:spPr>
          <a:xfrm>
            <a:off x="457200" y="994209"/>
            <a:ext cx="428625" cy="0"/>
          </a:xfrm>
          <a:prstGeom prst="line">
            <a:avLst/>
          </a:prstGeom>
          <a:noFill/>
          <a:ln w="21431">
            <a:solidFill>
              <a:srgbClr val="134E4A"/>
            </a:solidFill>
            <a:prstDash val="solid"/>
          </a:ln>
        </p:spPr>
      </p:sp>
      <p:sp>
        <p:nvSpPr>
          <p:cNvPr id="4" name="Shape 2"/>
          <p:cNvSpPr/>
          <p:nvPr/>
        </p:nvSpPr>
        <p:spPr>
          <a:xfrm>
            <a:off x="7316651" y="4154984"/>
            <a:ext cx="0" cy="461442"/>
          </a:xfrm>
          <a:prstGeom prst="line">
            <a:avLst/>
          </a:prstGeom>
          <a:noFill/>
          <a:ln w="7144">
            <a:solidFill>
              <a:srgbClr val="FFFFFF"/>
            </a:solidFill>
            <a:prstDash val="solid"/>
          </a:ln>
        </p:spPr>
      </p:sp>
      <p:sp>
        <p:nvSpPr>
          <p:cNvPr id="5" name="Text 3"/>
          <p:cNvSpPr/>
          <p:nvPr/>
        </p:nvSpPr>
        <p:spPr>
          <a:xfrm>
            <a:off x="457200" y="160051"/>
            <a:ext cx="620613" cy="212777"/>
          </a:xfrm>
          <a:prstGeom prst="roundRect">
            <a:avLst>
              <a:gd name="adj" fmla="val 4472041"/>
            </a:avLst>
          </a:prstGeom>
          <a:solidFill>
            <a:srgbClr val="E0ECEB"/>
          </a:solidFill>
          <a:ln/>
        </p:spPr>
        <p:txBody>
          <a:bodyPr wrap="square" rtlCol="0" anchor="ctr"/>
          <a:lstStyle/>
          <a:p>
            <a:pPr indent="0" marL="0">
              <a:buNone/>
            </a:pPr>
            <a:endParaRPr lang="en-US" dirty="0"/>
          </a:p>
        </p:txBody>
      </p:sp>
      <p:sp>
        <p:nvSpPr>
          <p:cNvPr id="6" name="Text 4"/>
          <p:cNvSpPr/>
          <p:nvPr/>
        </p:nvSpPr>
        <p:spPr>
          <a:xfrm>
            <a:off x="457200" y="171450"/>
            <a:ext cx="620613" cy="189979"/>
          </a:xfrm>
          <a:prstGeom prst="rect">
            <a:avLst/>
          </a:prstGeom>
          <a:noFill/>
          <a:ln/>
        </p:spPr>
        <p:txBody>
          <a:bodyPr wrap="none" lIns="0" tIns="0" rIns="0" bIns="0" rtlCol="0" anchor="ctr"/>
          <a:lstStyle/>
          <a:p>
            <a:pPr algn="ctr" indent="0" marL="0">
              <a:lnSpc>
                <a:spcPts val="1046"/>
              </a:lnSpc>
              <a:buNone/>
            </a:pPr>
            <a:r>
              <a:rPr lang="en-US" sz="800" spc="27" kern="0" dirty="0">
                <a:solidFill>
                  <a:srgbClr val="134E4A"/>
                </a:solidFill>
                <a:latin typeface="Carlito" pitchFamily="34" charset="0"/>
                <a:ea typeface="Carlito" pitchFamily="34" charset="-122"/>
                <a:cs typeface="Carlito" pitchFamily="34" charset="-120"/>
              </a:rPr>
              <a:t>PENUTUP</a:t>
            </a:r>
            <a:endParaRPr lang="en-US" sz="800" dirty="0"/>
          </a:p>
        </p:txBody>
      </p:sp>
      <p:sp>
        <p:nvSpPr>
          <p:cNvPr id="7" name="Text 5"/>
          <p:cNvSpPr/>
          <p:nvPr/>
        </p:nvSpPr>
        <p:spPr>
          <a:xfrm>
            <a:off x="1163538" y="205494"/>
            <a:ext cx="1907354" cy="170047"/>
          </a:xfrm>
          <a:prstGeom prst="rect">
            <a:avLst/>
          </a:prstGeom>
          <a:noFill/>
          <a:ln/>
        </p:spPr>
        <p:txBody>
          <a:bodyPr wrap="square" lIns="0" tIns="0" rIns="0" bIns="0" rtlCol="0" anchor="t"/>
          <a:lstStyle/>
          <a:p>
            <a:pPr algn="l" indent="0" marL="0">
              <a:lnSpc>
                <a:spcPts val="959"/>
              </a:lnSpc>
              <a:buNone/>
            </a:pPr>
            <a:r>
              <a:rPr lang="en-US" sz="619" spc="50" kern="0" dirty="0">
                <a:solidFill>
                  <a:srgbClr val="64748B"/>
                </a:solidFill>
                <a:latin typeface="Carlito" pitchFamily="34" charset="0"/>
                <a:ea typeface="Carlito" pitchFamily="34" charset="-122"/>
                <a:cs typeface="Carlito" pitchFamily="34" charset="-120"/>
              </a:rPr>
              <a:t>RANGKUMAN &amp; LANGKAH SELANJUTNYA</a:t>
            </a:r>
            <a:endParaRPr lang="en-US" sz="619" dirty="0"/>
          </a:p>
        </p:txBody>
      </p:sp>
      <p:sp>
        <p:nvSpPr>
          <p:cNvPr id="8" name="Text 6"/>
          <p:cNvSpPr/>
          <p:nvPr/>
        </p:nvSpPr>
        <p:spPr>
          <a:xfrm>
            <a:off x="8279271" y="188975"/>
            <a:ext cx="554239" cy="169980"/>
          </a:xfrm>
          <a:prstGeom prst="rect">
            <a:avLst/>
          </a:prstGeom>
          <a:noFill/>
          <a:ln/>
        </p:spPr>
        <p:txBody>
          <a:bodyPr wrap="none" lIns="0" tIns="0" rIns="0" bIns="0" rtlCol="0" anchor="t"/>
          <a:lstStyle/>
          <a:p>
            <a:pPr algn="l" indent="0" marL="0">
              <a:lnSpc>
                <a:spcPts val="1221"/>
              </a:lnSpc>
              <a:buNone/>
            </a:pPr>
            <a:r>
              <a:rPr lang="en-US" sz="800" spc="-16" kern="0" dirty="0">
                <a:solidFill>
                  <a:srgbClr val="64748B"/>
                </a:solidFill>
                <a:latin typeface="Liberation Sans Narrow" pitchFamily="34" charset="0"/>
                <a:ea typeface="Liberation Sans Narrow" pitchFamily="34" charset="-122"/>
                <a:cs typeface="Liberation Sans Narrow" pitchFamily="34" charset="-120"/>
              </a:rPr>
              <a:t>18 / 18</a:t>
            </a:r>
            <a:endParaRPr lang="en-US" sz="800" dirty="0"/>
          </a:p>
        </p:txBody>
      </p:sp>
      <p:sp>
        <p:nvSpPr>
          <p:cNvPr id="9" name="Text 7"/>
          <p:cNvSpPr/>
          <p:nvPr/>
        </p:nvSpPr>
        <p:spPr>
          <a:xfrm>
            <a:off x="457200" y="447154"/>
            <a:ext cx="8636000" cy="287451"/>
          </a:xfrm>
          <a:prstGeom prst="rect">
            <a:avLst/>
          </a:prstGeom>
          <a:noFill/>
          <a:ln/>
        </p:spPr>
        <p:txBody>
          <a:bodyPr wrap="square" lIns="0" tIns="0" rIns="0" bIns="0" rtlCol="0" anchor="t">
            <a:normAutofit/>
          </a:bodyPr>
          <a:lstStyle/>
          <a:p>
            <a:pPr algn="l" indent="0" marL="0">
              <a:lnSpc>
                <a:spcPts val="2142"/>
              </a:lnSpc>
              <a:buNone/>
            </a:pPr>
            <a:r>
              <a:rPr lang="en-US" sz="1913" spc="-19" kern="0" dirty="0">
                <a:solidFill>
                  <a:srgbClr val="134E4A"/>
                </a:solidFill>
                <a:latin typeface="Tinos" pitchFamily="34" charset="0"/>
                <a:ea typeface="Tinos" pitchFamily="34" charset="-122"/>
                <a:cs typeface="Tinos" pitchFamily="34" charset="-120"/>
              </a:rPr>
              <a:t>Rangkuman &amp; Langkah Selanjutnya</a:t>
            </a:r>
            <a:endParaRPr lang="en-US" sz="1913" dirty="0"/>
          </a:p>
        </p:txBody>
      </p:sp>
      <p:sp>
        <p:nvSpPr>
          <p:cNvPr id="10" name="Text 8"/>
          <p:cNvSpPr/>
          <p:nvPr/>
        </p:nvSpPr>
        <p:spPr>
          <a:xfrm>
            <a:off x="457200" y="762037"/>
            <a:ext cx="7858125" cy="164592"/>
          </a:xfrm>
          <a:prstGeom prst="rect">
            <a:avLst/>
          </a:prstGeom>
          <a:noFill/>
          <a:ln/>
        </p:spPr>
        <p:txBody>
          <a:bodyPr wrap="square" lIns="0" tIns="0" rIns="0" bIns="0" rtlCol="0" anchor="t"/>
          <a:lstStyle/>
          <a:p>
            <a:pPr algn="l" indent="0" marL="0">
              <a:lnSpc>
                <a:spcPts val="1181"/>
              </a:lnSpc>
              <a:buNone/>
            </a:pPr>
            <a:r>
              <a:rPr lang="en-US" sz="800" dirty="0">
                <a:solidFill>
                  <a:srgbClr val="475569"/>
                </a:solidFill>
                <a:latin typeface="Carlito" pitchFamily="34" charset="0"/>
                <a:ea typeface="Carlito" pitchFamily="34" charset="-122"/>
                <a:cs typeface="Carlito" pitchFamily="34" charset="-120"/>
              </a:rPr>
              <a:t>Empat prinsip kunci yang harus dipegang setiap peneliti saat menerapkan SLR dengan PRISMA 2020.</a:t>
            </a:r>
            <a:endParaRPr lang="en-US" sz="800" dirty="0"/>
          </a:p>
        </p:txBody>
      </p:sp>
      <p:sp>
        <p:nvSpPr>
          <p:cNvPr id="11" name="Text 9"/>
          <p:cNvSpPr/>
          <p:nvPr/>
        </p:nvSpPr>
        <p:spPr>
          <a:xfrm>
            <a:off x="460772" y="1137084"/>
            <a:ext cx="1953816" cy="2750344"/>
          </a:xfrm>
          <a:prstGeom prst="roundRect">
            <a:avLst>
              <a:gd name="adj" fmla="val 5850"/>
            </a:avLst>
          </a:prstGeom>
          <a:solidFill>
            <a:srgbClr val="FFFFFF"/>
          </a:solidFill>
          <a:ln w="7144">
            <a:solidFill>
              <a:srgbClr val="D8DEE2"/>
            </a:solidFill>
            <a:prstDash val="solid"/>
          </a:ln>
        </p:spPr>
        <p:txBody>
          <a:bodyPr wrap="square" rtlCol="0" anchor="ctr"/>
          <a:lstStyle/>
          <a:p>
            <a:pPr indent="0" marL="0">
              <a:buNone/>
            </a:pPr>
            <a:endParaRPr lang="en-US" dirty="0"/>
          </a:p>
        </p:txBody>
      </p:sp>
      <p:sp>
        <p:nvSpPr>
          <p:cNvPr id="12" name="Text 10"/>
          <p:cNvSpPr/>
          <p:nvPr/>
        </p:nvSpPr>
        <p:spPr>
          <a:xfrm>
            <a:off x="607219" y="1297818"/>
            <a:ext cx="1489472" cy="416624"/>
          </a:xfrm>
          <a:prstGeom prst="rect">
            <a:avLst/>
          </a:prstGeom>
          <a:noFill/>
          <a:ln/>
        </p:spPr>
        <p:txBody>
          <a:bodyPr wrap="none" lIns="0" tIns="0" rIns="0" bIns="0" rtlCol="0" anchor="t"/>
          <a:lstStyle/>
          <a:p>
            <a:pPr algn="l" indent="0" marL="0">
              <a:lnSpc>
                <a:spcPts val="3038"/>
              </a:lnSpc>
              <a:buNone/>
            </a:pPr>
            <a:r>
              <a:rPr lang="en-US" sz="3038" spc="-91" kern="0" dirty="0">
                <a:solidFill>
                  <a:srgbClr val="F97316"/>
                </a:solidFill>
                <a:latin typeface="Liberation Sans Narrow" pitchFamily="34" charset="0"/>
                <a:ea typeface="Liberation Sans Narrow" pitchFamily="34" charset="-122"/>
                <a:cs typeface="Liberation Sans Narrow" pitchFamily="34" charset="-120"/>
              </a:rPr>
              <a:t>01</a:t>
            </a:r>
            <a:endParaRPr lang="en-US" sz="3038" dirty="0"/>
          </a:p>
        </p:txBody>
      </p:sp>
      <p:sp>
        <p:nvSpPr>
          <p:cNvPr id="13" name="Text 11"/>
          <p:cNvSpPr/>
          <p:nvPr/>
        </p:nvSpPr>
        <p:spPr>
          <a:xfrm>
            <a:off x="2110978" y="1297818"/>
            <a:ext cx="157163" cy="157163"/>
          </a:xfrm>
          <a:prstGeom prst="rect">
            <a:avLst/>
          </a:prstGeom>
          <a:noFill/>
          <a:ln/>
        </p:spPr>
        <p:txBody>
          <a:bodyPr wrap="none" lIns="0" tIns="0" rIns="0" bIns="0" rtlCol="0" anchor="ctr"/>
          <a:lstStyle/>
          <a:p>
            <a:pPr algn="ctr" indent="0" marL="0">
              <a:buNone/>
            </a:pPr>
            <a:r>
              <a:rPr lang="en-US" sz="1547" dirty="0">
                <a:solidFill>
                  <a:srgbClr val="4A8480"/>
                </a:solidFill>
                <a:latin typeface="Segoe UI Symbol" pitchFamily="34" charset="0"/>
                <a:ea typeface="Segoe UI Symbol" pitchFamily="34" charset="-122"/>
                <a:cs typeface="Segoe UI Symbol" pitchFamily="34" charset="-120"/>
              </a:rPr>
              <a:t>✎</a:t>
            </a:r>
            <a:endParaRPr lang="en-US" sz="1547" dirty="0"/>
          </a:p>
        </p:txBody>
      </p:sp>
      <p:sp>
        <p:nvSpPr>
          <p:cNvPr id="14" name="Text 12"/>
          <p:cNvSpPr/>
          <p:nvPr/>
        </p:nvSpPr>
        <p:spPr>
          <a:xfrm>
            <a:off x="607219" y="1783593"/>
            <a:ext cx="1760577" cy="163949"/>
          </a:xfrm>
          <a:prstGeom prst="rect">
            <a:avLst/>
          </a:prstGeom>
          <a:noFill/>
          <a:ln/>
        </p:spPr>
        <p:txBody>
          <a:bodyPr wrap="square" lIns="0" tIns="0" rIns="0" bIns="0" rtlCol="0" anchor="t"/>
          <a:lstStyle/>
          <a:p>
            <a:pPr algn="l" indent="0" marL="0">
              <a:lnSpc>
                <a:spcPts val="1195"/>
              </a:lnSpc>
              <a:buNone/>
            </a:pPr>
            <a:r>
              <a:rPr lang="en-US" sz="956" dirty="0">
                <a:solidFill>
                  <a:srgbClr val="134E4A"/>
                </a:solidFill>
                <a:latin typeface="Tinos" pitchFamily="34" charset="0"/>
                <a:ea typeface="Tinos" pitchFamily="34" charset="-122"/>
                <a:cs typeface="Tinos" pitchFamily="34" charset="-120"/>
              </a:rPr>
              <a:t>Rencanakan dengan Protokol</a:t>
            </a:r>
            <a:endParaRPr lang="en-US" sz="956" dirty="0"/>
          </a:p>
        </p:txBody>
      </p:sp>
      <p:sp>
        <p:nvSpPr>
          <p:cNvPr id="15" name="Text 13"/>
          <p:cNvSpPr/>
          <p:nvPr/>
        </p:nvSpPr>
        <p:spPr>
          <a:xfrm>
            <a:off x="607219" y="1992548"/>
            <a:ext cx="1660922" cy="7144"/>
          </a:xfrm>
          <a:prstGeom prst="rect">
            <a:avLst/>
          </a:prstGeom>
          <a:solidFill>
            <a:srgbClr val="E2E8F0"/>
          </a:solidFill>
          <a:ln/>
        </p:spPr>
        <p:txBody>
          <a:bodyPr wrap="square" rtlCol="0" anchor="ctr"/>
          <a:lstStyle/>
          <a:p>
            <a:pPr indent="0" marL="0">
              <a:buNone/>
            </a:pPr>
            <a:endParaRPr lang="en-US" dirty="0"/>
          </a:p>
        </p:txBody>
      </p:sp>
      <p:sp>
        <p:nvSpPr>
          <p:cNvPr id="16" name="Text 14"/>
          <p:cNvSpPr/>
          <p:nvPr/>
        </p:nvSpPr>
        <p:spPr>
          <a:xfrm>
            <a:off x="607219" y="2071129"/>
            <a:ext cx="1660922" cy="1190549"/>
          </a:xfrm>
          <a:prstGeom prst="rect">
            <a:avLst/>
          </a:prstGeom>
          <a:noFill/>
          <a:ln/>
        </p:spPr>
        <p:txBody>
          <a:bodyPr wrap="square" lIns="0" tIns="0" rIns="0" bIns="0" rtlCol="0" anchor="t"/>
          <a:lstStyle/>
          <a:p>
            <a:pPr algn="l" indent="0" marL="0">
              <a:lnSpc>
                <a:spcPts val="1090"/>
              </a:lnSpc>
              <a:buNone/>
            </a:pPr>
            <a:r>
              <a:rPr lang="en-US" sz="800" dirty="0">
                <a:solidFill>
                  <a:srgbClr val="475569"/>
                </a:solidFill>
                <a:latin typeface="Carlito" pitchFamily="34" charset="0"/>
                <a:ea typeface="Carlito" pitchFamily="34" charset="-122"/>
                <a:cs typeface="Carlito" pitchFamily="34" charset="-120"/>
              </a:rPr>
              <a:t>Daftarkan protokol di </a:t>
            </a:r>
            <a:pPr algn="l" indent="0" marL="0">
              <a:lnSpc>
                <a:spcPts val="1090"/>
              </a:lnSpc>
              <a:buNone/>
            </a:pPr>
            <a:r>
              <a:rPr lang="en-US" sz="800" dirty="0">
                <a:solidFill>
                  <a:srgbClr val="134E4A"/>
                </a:solidFill>
                <a:latin typeface="Carlito" pitchFamily="34" charset="0"/>
                <a:ea typeface="Carlito" pitchFamily="34" charset="-122"/>
                <a:cs typeface="Carlito" pitchFamily="34" charset="-120"/>
              </a:rPr>
              <a:t>PROSPERO</a:t>
            </a:r>
            <a:pPr algn="l" indent="0" marL="0">
              <a:lnSpc>
                <a:spcPts val="1090"/>
              </a:lnSpc>
              <a:buNone/>
            </a:pPr>
            <a:r>
              <a:rPr lang="en-US" sz="800" dirty="0">
                <a:solidFill>
                  <a:srgbClr val="475569"/>
                </a:solidFill>
                <a:latin typeface="Carlito" pitchFamily="34" charset="0"/>
                <a:ea typeface="Carlito" pitchFamily="34" charset="-122"/>
                <a:cs typeface="Carlito" pitchFamily="34" charset="-120"/>
              </a:rPr>
              <a:t> sebelum screening dimulai. Tetapkan pertanyaan PICO dan kriteria inklusi-eksklusi secara eksplisit. Setiap perubahan dicatat sebagai protokol amendment yang transparan.</a:t>
            </a:r>
            <a:endParaRPr lang="en-US" sz="800" dirty="0"/>
          </a:p>
        </p:txBody>
      </p:sp>
      <p:sp>
        <p:nvSpPr>
          <p:cNvPr id="17" name="Text 15"/>
          <p:cNvSpPr/>
          <p:nvPr/>
        </p:nvSpPr>
        <p:spPr>
          <a:xfrm>
            <a:off x="2550319" y="1137084"/>
            <a:ext cx="1953816" cy="2750344"/>
          </a:xfrm>
          <a:prstGeom prst="roundRect">
            <a:avLst>
              <a:gd name="adj" fmla="val 5850"/>
            </a:avLst>
          </a:prstGeom>
          <a:solidFill>
            <a:srgbClr val="FFFFFF"/>
          </a:solidFill>
          <a:ln w="7144">
            <a:solidFill>
              <a:srgbClr val="D8DEE2"/>
            </a:solidFill>
            <a:prstDash val="solid"/>
          </a:ln>
        </p:spPr>
        <p:txBody>
          <a:bodyPr wrap="square" rtlCol="0" anchor="ctr"/>
          <a:lstStyle/>
          <a:p>
            <a:pPr indent="0" marL="0">
              <a:buNone/>
            </a:pPr>
            <a:endParaRPr lang="en-US" dirty="0"/>
          </a:p>
        </p:txBody>
      </p:sp>
      <p:sp>
        <p:nvSpPr>
          <p:cNvPr id="18" name="Text 16"/>
          <p:cNvSpPr/>
          <p:nvPr/>
        </p:nvSpPr>
        <p:spPr>
          <a:xfrm>
            <a:off x="2696766" y="1297818"/>
            <a:ext cx="1489472" cy="416624"/>
          </a:xfrm>
          <a:prstGeom prst="rect">
            <a:avLst/>
          </a:prstGeom>
          <a:noFill/>
          <a:ln/>
        </p:spPr>
        <p:txBody>
          <a:bodyPr wrap="none" lIns="0" tIns="0" rIns="0" bIns="0" rtlCol="0" anchor="t"/>
          <a:lstStyle/>
          <a:p>
            <a:pPr algn="l" indent="0" marL="0">
              <a:lnSpc>
                <a:spcPts val="3038"/>
              </a:lnSpc>
              <a:buNone/>
            </a:pPr>
            <a:r>
              <a:rPr lang="en-US" sz="3038" spc="-91" kern="0" dirty="0">
                <a:solidFill>
                  <a:srgbClr val="F97316"/>
                </a:solidFill>
                <a:latin typeface="Liberation Sans Narrow" pitchFamily="34" charset="0"/>
                <a:ea typeface="Liberation Sans Narrow" pitchFamily="34" charset="-122"/>
                <a:cs typeface="Liberation Sans Narrow" pitchFamily="34" charset="-120"/>
              </a:rPr>
              <a:t>02</a:t>
            </a:r>
            <a:endParaRPr lang="en-US" sz="3038" dirty="0"/>
          </a:p>
        </p:txBody>
      </p:sp>
      <p:sp>
        <p:nvSpPr>
          <p:cNvPr id="19" name="Text 17"/>
          <p:cNvSpPr/>
          <p:nvPr/>
        </p:nvSpPr>
        <p:spPr>
          <a:xfrm>
            <a:off x="4200525" y="1297818"/>
            <a:ext cx="157163" cy="157163"/>
          </a:xfrm>
          <a:prstGeom prst="rect">
            <a:avLst/>
          </a:prstGeom>
          <a:noFill/>
          <a:ln/>
        </p:spPr>
        <p:txBody>
          <a:bodyPr wrap="none" lIns="0" tIns="0" rIns="0" bIns="0" rtlCol="0" anchor="ctr"/>
          <a:lstStyle/>
          <a:p>
            <a:pPr algn="ctr" indent="0" marL="0">
              <a:buNone/>
            </a:pPr>
            <a:r>
              <a:rPr lang="en-US" sz="1547" dirty="0">
                <a:solidFill>
                  <a:srgbClr val="4A8480"/>
                </a:solidFill>
                <a:latin typeface="Segoe UI Symbol" pitchFamily="34" charset="0"/>
                <a:ea typeface="Segoe UI Symbol" pitchFamily="34" charset="-122"/>
                <a:cs typeface="Segoe UI Symbol" pitchFamily="34" charset="-120"/>
              </a:rPr>
              <a:t>⌕</a:t>
            </a:r>
            <a:endParaRPr lang="en-US" sz="1547" dirty="0"/>
          </a:p>
        </p:txBody>
      </p:sp>
      <p:sp>
        <p:nvSpPr>
          <p:cNvPr id="20" name="Text 18"/>
          <p:cNvSpPr/>
          <p:nvPr/>
        </p:nvSpPr>
        <p:spPr>
          <a:xfrm>
            <a:off x="2696766" y="1783593"/>
            <a:ext cx="1660922" cy="163949"/>
          </a:xfrm>
          <a:prstGeom prst="rect">
            <a:avLst/>
          </a:prstGeom>
          <a:noFill/>
          <a:ln/>
        </p:spPr>
        <p:txBody>
          <a:bodyPr wrap="none" lIns="0" tIns="0" rIns="0" bIns="0" rtlCol="0" anchor="t"/>
          <a:lstStyle/>
          <a:p>
            <a:pPr algn="l" indent="0" marL="0">
              <a:lnSpc>
                <a:spcPts val="1195"/>
              </a:lnSpc>
              <a:buNone/>
            </a:pPr>
            <a:r>
              <a:rPr lang="en-US" sz="956" dirty="0">
                <a:solidFill>
                  <a:srgbClr val="134E4A"/>
                </a:solidFill>
                <a:latin typeface="Tinos" pitchFamily="34" charset="0"/>
                <a:ea typeface="Tinos" pitchFamily="34" charset="-122"/>
                <a:cs typeface="Tinos" pitchFamily="34" charset="-120"/>
              </a:rPr>
              <a:t>Cari secara Reproducible</a:t>
            </a:r>
            <a:endParaRPr lang="en-US" sz="956" dirty="0"/>
          </a:p>
        </p:txBody>
      </p:sp>
      <p:sp>
        <p:nvSpPr>
          <p:cNvPr id="21" name="Text 19"/>
          <p:cNvSpPr/>
          <p:nvPr/>
        </p:nvSpPr>
        <p:spPr>
          <a:xfrm>
            <a:off x="2696766" y="1992548"/>
            <a:ext cx="1660922" cy="7144"/>
          </a:xfrm>
          <a:prstGeom prst="rect">
            <a:avLst/>
          </a:prstGeom>
          <a:solidFill>
            <a:srgbClr val="E2E8F0"/>
          </a:solidFill>
          <a:ln/>
        </p:spPr>
        <p:txBody>
          <a:bodyPr wrap="square" rtlCol="0" anchor="ctr"/>
          <a:lstStyle/>
          <a:p>
            <a:pPr indent="0" marL="0">
              <a:buNone/>
            </a:pPr>
            <a:endParaRPr lang="en-US" dirty="0"/>
          </a:p>
        </p:txBody>
      </p:sp>
      <p:sp>
        <p:nvSpPr>
          <p:cNvPr id="22" name="Text 20"/>
          <p:cNvSpPr/>
          <p:nvPr/>
        </p:nvSpPr>
        <p:spPr>
          <a:xfrm>
            <a:off x="2696766" y="2071129"/>
            <a:ext cx="1660922" cy="1190549"/>
          </a:xfrm>
          <a:prstGeom prst="rect">
            <a:avLst/>
          </a:prstGeom>
          <a:noFill/>
          <a:ln/>
        </p:spPr>
        <p:txBody>
          <a:bodyPr wrap="square" lIns="0" tIns="0" rIns="0" bIns="0" rtlCol="0" anchor="t"/>
          <a:lstStyle/>
          <a:p>
            <a:pPr algn="l" indent="0" marL="0">
              <a:lnSpc>
                <a:spcPts val="1090"/>
              </a:lnSpc>
              <a:buNone/>
            </a:pPr>
            <a:r>
              <a:rPr lang="en-US" sz="800" dirty="0">
                <a:solidFill>
                  <a:srgbClr val="475569"/>
                </a:solidFill>
                <a:latin typeface="Carlito" pitchFamily="34" charset="0"/>
                <a:ea typeface="Carlito" pitchFamily="34" charset="-122"/>
                <a:cs typeface="Carlito" pitchFamily="34" charset="-120"/>
              </a:rPr>
              <a:t>Dokumentasikan </a:t>
            </a:r>
            <a:pPr algn="l" indent="0" marL="0">
              <a:lnSpc>
                <a:spcPts val="1090"/>
              </a:lnSpc>
              <a:buNone/>
            </a:pPr>
            <a:r>
              <a:rPr lang="en-US" sz="800" dirty="0">
                <a:solidFill>
                  <a:srgbClr val="134E4A"/>
                </a:solidFill>
                <a:latin typeface="Carlito" pitchFamily="34" charset="0"/>
                <a:ea typeface="Carlito" pitchFamily="34" charset="-122"/>
                <a:cs typeface="Carlito" pitchFamily="34" charset="-120"/>
              </a:rPr>
              <a:t>query boolean</a:t>
            </a:r>
            <a:pPr algn="l" indent="0" marL="0">
              <a:lnSpc>
                <a:spcPts val="1090"/>
              </a:lnSpc>
              <a:buNone/>
            </a:pPr>
            <a:r>
              <a:rPr lang="en-US" sz="800" dirty="0">
                <a:solidFill>
                  <a:srgbClr val="475569"/>
                </a:solidFill>
                <a:latin typeface="Carlito" pitchFamily="34" charset="0"/>
                <a:ea typeface="Carlito" pitchFamily="34" charset="-122"/>
                <a:cs typeface="Carlito" pitchFamily="34" charset="-120"/>
              </a:rPr>
              <a:t> lengkap per database — termasuk tanggal akses, filter, dan controlled vocabulary. Lakukan hand-search pada 3 jurnal kunci dan grey literature untuk menjangkau studi yang tidak terindeks.</a:t>
            </a:r>
            <a:endParaRPr lang="en-US" sz="800" dirty="0"/>
          </a:p>
        </p:txBody>
      </p:sp>
      <p:sp>
        <p:nvSpPr>
          <p:cNvPr id="23" name="Text 21"/>
          <p:cNvSpPr/>
          <p:nvPr/>
        </p:nvSpPr>
        <p:spPr>
          <a:xfrm>
            <a:off x="4639866" y="1137084"/>
            <a:ext cx="1953816" cy="2750344"/>
          </a:xfrm>
          <a:prstGeom prst="roundRect">
            <a:avLst>
              <a:gd name="adj" fmla="val 5850"/>
            </a:avLst>
          </a:prstGeom>
          <a:solidFill>
            <a:srgbClr val="FFFFFF"/>
          </a:solidFill>
          <a:ln w="7144">
            <a:solidFill>
              <a:srgbClr val="D8DEE2"/>
            </a:solidFill>
            <a:prstDash val="solid"/>
          </a:ln>
        </p:spPr>
        <p:txBody>
          <a:bodyPr wrap="square" rtlCol="0" anchor="ctr"/>
          <a:lstStyle/>
          <a:p>
            <a:pPr indent="0" marL="0">
              <a:buNone/>
            </a:pPr>
            <a:endParaRPr lang="en-US" dirty="0"/>
          </a:p>
        </p:txBody>
      </p:sp>
      <p:sp>
        <p:nvSpPr>
          <p:cNvPr id="24" name="Text 22"/>
          <p:cNvSpPr/>
          <p:nvPr/>
        </p:nvSpPr>
        <p:spPr>
          <a:xfrm>
            <a:off x="4786313" y="1297818"/>
            <a:ext cx="1489472" cy="416624"/>
          </a:xfrm>
          <a:prstGeom prst="rect">
            <a:avLst/>
          </a:prstGeom>
          <a:noFill/>
          <a:ln/>
        </p:spPr>
        <p:txBody>
          <a:bodyPr wrap="none" lIns="0" tIns="0" rIns="0" bIns="0" rtlCol="0" anchor="t"/>
          <a:lstStyle/>
          <a:p>
            <a:pPr algn="l" indent="0" marL="0">
              <a:lnSpc>
                <a:spcPts val="3038"/>
              </a:lnSpc>
              <a:buNone/>
            </a:pPr>
            <a:r>
              <a:rPr lang="en-US" sz="3038" spc="-91" kern="0" dirty="0">
                <a:solidFill>
                  <a:srgbClr val="F97316"/>
                </a:solidFill>
                <a:latin typeface="Liberation Sans Narrow" pitchFamily="34" charset="0"/>
                <a:ea typeface="Liberation Sans Narrow" pitchFamily="34" charset="-122"/>
                <a:cs typeface="Liberation Sans Narrow" pitchFamily="34" charset="-120"/>
              </a:rPr>
              <a:t>03</a:t>
            </a:r>
            <a:endParaRPr lang="en-US" sz="3038" dirty="0"/>
          </a:p>
        </p:txBody>
      </p:sp>
      <p:sp>
        <p:nvSpPr>
          <p:cNvPr id="25" name="Text 23"/>
          <p:cNvSpPr/>
          <p:nvPr/>
        </p:nvSpPr>
        <p:spPr>
          <a:xfrm>
            <a:off x="6290072" y="1297818"/>
            <a:ext cx="157163" cy="157163"/>
          </a:xfrm>
          <a:prstGeom prst="rect">
            <a:avLst/>
          </a:prstGeom>
          <a:noFill/>
          <a:ln/>
        </p:spPr>
        <p:txBody>
          <a:bodyPr wrap="none" lIns="0" tIns="0" rIns="0" bIns="0" rtlCol="0" anchor="ctr"/>
          <a:lstStyle/>
          <a:p>
            <a:pPr algn="ctr" indent="0" marL="0">
              <a:buNone/>
            </a:pPr>
            <a:r>
              <a:rPr lang="en-US" sz="1547" dirty="0">
                <a:solidFill>
                  <a:srgbClr val="4A8480"/>
                </a:solidFill>
                <a:latin typeface="Segoe UI Symbol" pitchFamily="34" charset="0"/>
                <a:ea typeface="Segoe UI Symbol" pitchFamily="34" charset="-122"/>
                <a:cs typeface="Segoe UI Symbol" pitchFamily="34" charset="-120"/>
              </a:rPr>
              <a:t>♟</a:t>
            </a:r>
            <a:endParaRPr lang="en-US" sz="1547" dirty="0"/>
          </a:p>
        </p:txBody>
      </p:sp>
      <p:sp>
        <p:nvSpPr>
          <p:cNvPr id="26" name="Text 24"/>
          <p:cNvSpPr/>
          <p:nvPr/>
        </p:nvSpPr>
        <p:spPr>
          <a:xfrm>
            <a:off x="4786313" y="1783593"/>
            <a:ext cx="1660922" cy="163949"/>
          </a:xfrm>
          <a:prstGeom prst="rect">
            <a:avLst/>
          </a:prstGeom>
          <a:noFill/>
          <a:ln/>
        </p:spPr>
        <p:txBody>
          <a:bodyPr wrap="none" lIns="0" tIns="0" rIns="0" bIns="0" rtlCol="0" anchor="t"/>
          <a:lstStyle/>
          <a:p>
            <a:pPr algn="l" indent="0" marL="0">
              <a:lnSpc>
                <a:spcPts val="1195"/>
              </a:lnSpc>
              <a:buNone/>
            </a:pPr>
            <a:r>
              <a:rPr lang="en-US" sz="956" dirty="0">
                <a:solidFill>
                  <a:srgbClr val="134E4A"/>
                </a:solidFill>
                <a:latin typeface="Tinos" pitchFamily="34" charset="0"/>
                <a:ea typeface="Tinos" pitchFamily="34" charset="-122"/>
                <a:cs typeface="Tinos" pitchFamily="34" charset="-120"/>
              </a:rPr>
              <a:t>Saring secara Independen</a:t>
            </a:r>
            <a:endParaRPr lang="en-US" sz="956" dirty="0"/>
          </a:p>
        </p:txBody>
      </p:sp>
      <p:sp>
        <p:nvSpPr>
          <p:cNvPr id="27" name="Text 25"/>
          <p:cNvSpPr/>
          <p:nvPr/>
        </p:nvSpPr>
        <p:spPr>
          <a:xfrm>
            <a:off x="4786313" y="1992548"/>
            <a:ext cx="1660922" cy="7144"/>
          </a:xfrm>
          <a:prstGeom prst="rect">
            <a:avLst/>
          </a:prstGeom>
          <a:solidFill>
            <a:srgbClr val="E2E8F0"/>
          </a:solidFill>
          <a:ln/>
        </p:spPr>
        <p:txBody>
          <a:bodyPr wrap="square" rtlCol="0" anchor="ctr"/>
          <a:lstStyle/>
          <a:p>
            <a:pPr indent="0" marL="0">
              <a:buNone/>
            </a:pPr>
            <a:endParaRPr lang="en-US" dirty="0"/>
          </a:p>
        </p:txBody>
      </p:sp>
      <p:sp>
        <p:nvSpPr>
          <p:cNvPr id="28" name="Text 26"/>
          <p:cNvSpPr/>
          <p:nvPr/>
        </p:nvSpPr>
        <p:spPr>
          <a:xfrm>
            <a:off x="4786313" y="2071129"/>
            <a:ext cx="1660922" cy="1020470"/>
          </a:xfrm>
          <a:prstGeom prst="rect">
            <a:avLst/>
          </a:prstGeom>
          <a:noFill/>
          <a:ln/>
        </p:spPr>
        <p:txBody>
          <a:bodyPr wrap="square" lIns="0" tIns="0" rIns="0" bIns="0" rtlCol="0" anchor="t"/>
          <a:lstStyle/>
          <a:p>
            <a:pPr algn="l" indent="0" marL="0">
              <a:lnSpc>
                <a:spcPts val="1090"/>
              </a:lnSpc>
              <a:buNone/>
            </a:pPr>
            <a:r>
              <a:rPr lang="en-US" sz="800" dirty="0">
                <a:solidFill>
                  <a:srgbClr val="475569"/>
                </a:solidFill>
                <a:latin typeface="Carlito" pitchFamily="34" charset="0"/>
                <a:ea typeface="Carlito" pitchFamily="34" charset="-122"/>
                <a:cs typeface="Carlito" pitchFamily="34" charset="-120"/>
              </a:rPr>
              <a:t>Dua reviewer melakukan screening terpisah dengan </a:t>
            </a:r>
            <a:pPr algn="l" indent="0" marL="0">
              <a:lnSpc>
                <a:spcPts val="1090"/>
              </a:lnSpc>
              <a:buNone/>
            </a:pPr>
            <a:r>
              <a:rPr lang="en-US" sz="800" dirty="0">
                <a:solidFill>
                  <a:srgbClr val="134E4A"/>
                </a:solidFill>
                <a:latin typeface="Liberation Sans Narrow" pitchFamily="34" charset="0"/>
                <a:ea typeface="Liberation Sans Narrow" pitchFamily="34" charset="-122"/>
                <a:cs typeface="Liberation Sans Narrow" pitchFamily="34" charset="-120"/>
              </a:rPr>
              <a:t>Cohen Kappa &gt; 0.7</a:t>
            </a:r>
            <a:pPr algn="l" indent="0" marL="0">
              <a:lnSpc>
                <a:spcPts val="1090"/>
              </a:lnSpc>
              <a:buNone/>
            </a:pPr>
            <a:r>
              <a:rPr lang="en-US" sz="800" dirty="0">
                <a:solidFill>
                  <a:srgbClr val="475569"/>
                </a:solidFill>
                <a:latin typeface="Carlito" pitchFamily="34" charset="0"/>
                <a:ea typeface="Carlito" pitchFamily="34" charset="-122"/>
                <a:cs typeface="Carlito" pitchFamily="34" charset="-120"/>
              </a:rPr>
              <a:t>. Setiap eksklusi full-text dicatat dengan alasan spesifik. Konflik diselesaikan lewat konsensus atau mediator ketiga.</a:t>
            </a:r>
            <a:endParaRPr lang="en-US" sz="800" dirty="0"/>
          </a:p>
        </p:txBody>
      </p:sp>
      <p:sp>
        <p:nvSpPr>
          <p:cNvPr id="29" name="Text 27"/>
          <p:cNvSpPr/>
          <p:nvPr/>
        </p:nvSpPr>
        <p:spPr>
          <a:xfrm>
            <a:off x="6729413" y="1137084"/>
            <a:ext cx="1953816" cy="2750344"/>
          </a:xfrm>
          <a:prstGeom prst="roundRect">
            <a:avLst>
              <a:gd name="adj" fmla="val 5850"/>
            </a:avLst>
          </a:prstGeom>
          <a:solidFill>
            <a:srgbClr val="FFFFFF"/>
          </a:solidFill>
          <a:ln w="7144">
            <a:solidFill>
              <a:srgbClr val="D8DEE2"/>
            </a:solidFill>
            <a:prstDash val="solid"/>
          </a:ln>
        </p:spPr>
        <p:txBody>
          <a:bodyPr wrap="square" rtlCol="0" anchor="ctr"/>
          <a:lstStyle/>
          <a:p>
            <a:pPr indent="0" marL="0">
              <a:buNone/>
            </a:pPr>
            <a:endParaRPr lang="en-US" dirty="0"/>
          </a:p>
        </p:txBody>
      </p:sp>
      <p:sp>
        <p:nvSpPr>
          <p:cNvPr id="30" name="Text 28"/>
          <p:cNvSpPr/>
          <p:nvPr/>
        </p:nvSpPr>
        <p:spPr>
          <a:xfrm>
            <a:off x="6875859" y="1297818"/>
            <a:ext cx="1489472" cy="416624"/>
          </a:xfrm>
          <a:prstGeom prst="rect">
            <a:avLst/>
          </a:prstGeom>
          <a:noFill/>
          <a:ln/>
        </p:spPr>
        <p:txBody>
          <a:bodyPr wrap="none" lIns="0" tIns="0" rIns="0" bIns="0" rtlCol="0" anchor="t"/>
          <a:lstStyle/>
          <a:p>
            <a:pPr algn="l" indent="0" marL="0">
              <a:lnSpc>
                <a:spcPts val="3038"/>
              </a:lnSpc>
              <a:buNone/>
            </a:pPr>
            <a:r>
              <a:rPr lang="en-US" sz="3038" spc="-91" kern="0" dirty="0">
                <a:solidFill>
                  <a:srgbClr val="F97316"/>
                </a:solidFill>
                <a:latin typeface="Liberation Sans Narrow" pitchFamily="34" charset="0"/>
                <a:ea typeface="Liberation Sans Narrow" pitchFamily="34" charset="-122"/>
                <a:cs typeface="Liberation Sans Narrow" pitchFamily="34" charset="-120"/>
              </a:rPr>
              <a:t>04</a:t>
            </a:r>
            <a:endParaRPr lang="en-US" sz="3038" dirty="0"/>
          </a:p>
        </p:txBody>
      </p:sp>
      <p:sp>
        <p:nvSpPr>
          <p:cNvPr id="31" name="Text 29"/>
          <p:cNvSpPr/>
          <p:nvPr/>
        </p:nvSpPr>
        <p:spPr>
          <a:xfrm>
            <a:off x="8379619" y="1297818"/>
            <a:ext cx="157163" cy="157163"/>
          </a:xfrm>
          <a:prstGeom prst="rect">
            <a:avLst/>
          </a:prstGeom>
          <a:noFill/>
          <a:ln/>
        </p:spPr>
        <p:txBody>
          <a:bodyPr wrap="none" lIns="0" tIns="0" rIns="0" bIns="0" rtlCol="0" anchor="ctr"/>
          <a:lstStyle/>
          <a:p>
            <a:pPr algn="ctr" indent="0" marL="0">
              <a:buNone/>
            </a:pPr>
            <a:r>
              <a:rPr lang="en-US" sz="1547" dirty="0">
                <a:solidFill>
                  <a:srgbClr val="4A8480"/>
                </a:solidFill>
                <a:latin typeface="Segoe UI Symbol" pitchFamily="34" charset="0"/>
                <a:ea typeface="Segoe UI Symbol" pitchFamily="34" charset="-122"/>
                <a:cs typeface="Segoe UI Symbol" pitchFamily="34" charset="-120"/>
              </a:rPr>
              <a:t>✓</a:t>
            </a:r>
            <a:endParaRPr lang="en-US" sz="1547" dirty="0"/>
          </a:p>
        </p:txBody>
      </p:sp>
      <p:sp>
        <p:nvSpPr>
          <p:cNvPr id="32" name="Text 30"/>
          <p:cNvSpPr/>
          <p:nvPr/>
        </p:nvSpPr>
        <p:spPr>
          <a:xfrm>
            <a:off x="6875859" y="1783593"/>
            <a:ext cx="1660922" cy="327898"/>
          </a:xfrm>
          <a:prstGeom prst="rect">
            <a:avLst/>
          </a:prstGeom>
          <a:noFill/>
          <a:ln/>
        </p:spPr>
        <p:txBody>
          <a:bodyPr wrap="square" lIns="0" tIns="0" rIns="0" bIns="0" rtlCol="0" anchor="t"/>
          <a:lstStyle/>
          <a:p>
            <a:pPr algn="l" indent="0" marL="0">
              <a:lnSpc>
                <a:spcPts val="1195"/>
              </a:lnSpc>
              <a:buNone/>
            </a:pPr>
            <a:r>
              <a:rPr lang="en-US" sz="956" dirty="0">
                <a:solidFill>
                  <a:srgbClr val="134E4A"/>
                </a:solidFill>
                <a:latin typeface="Liberation Sans Narrow" pitchFamily="34" charset="0"/>
                <a:ea typeface="Liberation Sans Narrow" pitchFamily="34" charset="-122"/>
                <a:cs typeface="Liberation Sans Narrow" pitchFamily="34" charset="-120"/>
              </a:rPr>
              <a:t>Laporkan dengan PRISMA 2020</a:t>
            </a:r>
            <a:endParaRPr lang="en-US" sz="956" dirty="0"/>
          </a:p>
        </p:txBody>
      </p:sp>
      <p:sp>
        <p:nvSpPr>
          <p:cNvPr id="33" name="Text 31"/>
          <p:cNvSpPr/>
          <p:nvPr/>
        </p:nvSpPr>
        <p:spPr>
          <a:xfrm>
            <a:off x="6875859" y="2144353"/>
            <a:ext cx="1660922" cy="7144"/>
          </a:xfrm>
          <a:prstGeom prst="rect">
            <a:avLst/>
          </a:prstGeom>
          <a:solidFill>
            <a:srgbClr val="E2E8F0"/>
          </a:solidFill>
          <a:ln/>
        </p:spPr>
        <p:txBody>
          <a:bodyPr wrap="square" rtlCol="0" anchor="ctr"/>
          <a:lstStyle/>
          <a:p>
            <a:pPr indent="0" marL="0">
              <a:buNone/>
            </a:pPr>
            <a:endParaRPr lang="en-US" dirty="0"/>
          </a:p>
        </p:txBody>
      </p:sp>
      <p:sp>
        <p:nvSpPr>
          <p:cNvPr id="34" name="Text 32"/>
          <p:cNvSpPr/>
          <p:nvPr/>
        </p:nvSpPr>
        <p:spPr>
          <a:xfrm>
            <a:off x="6875859" y="2222934"/>
            <a:ext cx="1660922" cy="1020470"/>
          </a:xfrm>
          <a:prstGeom prst="rect">
            <a:avLst/>
          </a:prstGeom>
          <a:noFill/>
          <a:ln/>
        </p:spPr>
        <p:txBody>
          <a:bodyPr wrap="square" lIns="0" tIns="0" rIns="0" bIns="0" rtlCol="0" anchor="t"/>
          <a:lstStyle/>
          <a:p>
            <a:pPr algn="l" indent="0" marL="0">
              <a:lnSpc>
                <a:spcPts val="1090"/>
              </a:lnSpc>
              <a:buNone/>
            </a:pPr>
            <a:r>
              <a:rPr lang="en-US" sz="800" dirty="0">
                <a:solidFill>
                  <a:srgbClr val="475569"/>
                </a:solidFill>
                <a:latin typeface="Carlito" pitchFamily="34" charset="0"/>
                <a:ea typeface="Carlito" pitchFamily="34" charset="-122"/>
                <a:cs typeface="Carlito" pitchFamily="34" charset="-120"/>
              </a:rPr>
              <a:t>Lampirkan </a:t>
            </a:r>
            <a:pPr algn="l" indent="0" marL="0">
              <a:lnSpc>
                <a:spcPts val="1090"/>
              </a:lnSpc>
              <a:buNone/>
            </a:pPr>
            <a:r>
              <a:rPr lang="en-US" sz="800" dirty="0">
                <a:solidFill>
                  <a:srgbClr val="134E4A"/>
                </a:solidFill>
                <a:latin typeface="Liberation Sans Narrow" pitchFamily="34" charset="0"/>
                <a:ea typeface="Liberation Sans Narrow" pitchFamily="34" charset="-122"/>
                <a:cs typeface="Liberation Sans Narrow" pitchFamily="34" charset="-120"/>
              </a:rPr>
              <a:t>checklist 27 item</a:t>
            </a:r>
            <a:pPr algn="l" indent="0" marL="0">
              <a:lnSpc>
                <a:spcPts val="1090"/>
              </a:lnSpc>
              <a:buNone/>
            </a:pPr>
            <a:r>
              <a:rPr lang="en-US" sz="800" dirty="0">
                <a:solidFill>
                  <a:srgbClr val="475569"/>
                </a:solidFill>
                <a:latin typeface="Carlito" pitchFamily="34" charset="0"/>
                <a:ea typeface="Carlito" pitchFamily="34" charset="-122"/>
                <a:cs typeface="Carlito" pitchFamily="34" charset="-120"/>
              </a:rPr>
              <a:t> dan diagram alur resmi. Laporkan risk of bias dan certainty of Evidence (GRADE) secara terbuka. Publikasikan data ekstraksi sebagai supplementary material.</a:t>
            </a:r>
            <a:endParaRPr lang="en-US" sz="800" dirty="0"/>
          </a:p>
        </p:txBody>
      </p:sp>
      <p:sp>
        <p:nvSpPr>
          <p:cNvPr id="35" name="Text 33"/>
          <p:cNvSpPr/>
          <p:nvPr/>
        </p:nvSpPr>
        <p:spPr>
          <a:xfrm>
            <a:off x="457200" y="4019587"/>
            <a:ext cx="8229600" cy="732234"/>
          </a:xfrm>
          <a:prstGeom prst="roundRect">
            <a:avLst>
              <a:gd name="adj" fmla="val 15610"/>
            </a:avLst>
          </a:prstGeom>
          <a:solidFill>
            <a:srgbClr val="134E4A"/>
          </a:solidFill>
          <a:ln/>
        </p:spPr>
        <p:txBody>
          <a:bodyPr wrap="square" rtlCol="0" anchor="ctr"/>
          <a:lstStyle/>
          <a:p>
            <a:pPr indent="0" marL="0">
              <a:buNone/>
            </a:pPr>
            <a:endParaRPr lang="en-US" dirty="0"/>
          </a:p>
        </p:txBody>
      </p:sp>
      <p:sp>
        <p:nvSpPr>
          <p:cNvPr id="36" name="Text 34"/>
          <p:cNvSpPr/>
          <p:nvPr/>
        </p:nvSpPr>
        <p:spPr>
          <a:xfrm>
            <a:off x="628650" y="4138959"/>
            <a:ext cx="647291" cy="172022"/>
          </a:xfrm>
          <a:prstGeom prst="roundRect">
            <a:avLst>
              <a:gd name="adj" fmla="val 5531545"/>
            </a:avLst>
          </a:prstGeom>
          <a:solidFill>
            <a:srgbClr val="FFFFFF">
              <a:alpha val="18000"/>
            </a:srgbClr>
          </a:solidFill>
          <a:ln/>
        </p:spPr>
        <p:txBody>
          <a:bodyPr wrap="square" rtlCol="0" anchor="ctr"/>
          <a:lstStyle/>
          <a:p>
            <a:pPr indent="0" marL="0">
              <a:buNone/>
            </a:pPr>
            <a:endParaRPr lang="en-US" dirty="0"/>
          </a:p>
        </p:txBody>
      </p:sp>
      <p:sp>
        <p:nvSpPr>
          <p:cNvPr id="37" name="Text 35"/>
          <p:cNvSpPr/>
          <p:nvPr/>
        </p:nvSpPr>
        <p:spPr>
          <a:xfrm>
            <a:off x="583244" y="4148175"/>
            <a:ext cx="738104" cy="153591"/>
          </a:xfrm>
          <a:prstGeom prst="rect">
            <a:avLst/>
          </a:prstGeom>
          <a:noFill/>
          <a:ln/>
        </p:spPr>
        <p:txBody>
          <a:bodyPr wrap="none" lIns="0" tIns="0" rIns="0" bIns="0" rtlCol="0" anchor="ctr"/>
          <a:lstStyle/>
          <a:p>
            <a:pPr algn="ctr" indent="0" marL="0">
              <a:lnSpc>
                <a:spcPts val="872"/>
              </a:lnSpc>
              <a:buNone/>
            </a:pPr>
            <a:r>
              <a:rPr lang="en-US" sz="800" spc="23" kern="0" dirty="0">
                <a:solidFill>
                  <a:srgbClr val="FFFFFF"/>
                </a:solidFill>
                <a:latin typeface="Carlito" pitchFamily="34" charset="0"/>
                <a:ea typeface="Carlito" pitchFamily="34" charset="-122"/>
                <a:cs typeface="Carlito" pitchFamily="34" charset="-120"/>
              </a:rPr>
              <a:t>NEXT STEPS</a:t>
            </a:r>
            <a:endParaRPr lang="en-US" sz="800" dirty="0"/>
          </a:p>
        </p:txBody>
      </p:sp>
      <p:sp>
        <p:nvSpPr>
          <p:cNvPr id="38" name="Text 36"/>
          <p:cNvSpPr/>
          <p:nvPr/>
        </p:nvSpPr>
        <p:spPr>
          <a:xfrm>
            <a:off x="1347378" y="4150184"/>
            <a:ext cx="5837113" cy="170053"/>
          </a:xfrm>
          <a:prstGeom prst="rect">
            <a:avLst/>
          </a:prstGeom>
          <a:noFill/>
          <a:ln/>
        </p:spPr>
        <p:txBody>
          <a:bodyPr wrap="none" lIns="0" tIns="0" rIns="0" bIns="0" rtlCol="0" anchor="t"/>
          <a:lstStyle/>
          <a:p>
            <a:pPr algn="l" indent="0" marL="0">
              <a:lnSpc>
                <a:spcPts val="1177"/>
              </a:lnSpc>
              <a:buNone/>
            </a:pPr>
            <a:r>
              <a:rPr lang="en-US" sz="800" spc="30" kern="0" dirty="0">
                <a:solidFill>
                  <a:srgbClr val="FFFFFF"/>
                </a:solidFill>
                <a:latin typeface="Tinos" pitchFamily="34" charset="0"/>
                <a:ea typeface="Tinos" pitchFamily="34" charset="-122"/>
                <a:cs typeface="Tinos" pitchFamily="34" charset="-120"/>
              </a:rPr>
              <a:t>MULAI PROTOKOL ANDA</a:t>
            </a:r>
            <a:endParaRPr lang="en-US" sz="800" dirty="0"/>
          </a:p>
        </p:txBody>
      </p:sp>
      <p:sp>
        <p:nvSpPr>
          <p:cNvPr id="39" name="Text 37"/>
          <p:cNvSpPr/>
          <p:nvPr/>
        </p:nvSpPr>
        <p:spPr>
          <a:xfrm>
            <a:off x="628650" y="4344628"/>
            <a:ext cx="6555842" cy="278606"/>
          </a:xfrm>
          <a:prstGeom prst="rect">
            <a:avLst/>
          </a:prstGeom>
          <a:noFill/>
          <a:ln/>
        </p:spPr>
        <p:txBody>
          <a:bodyPr wrap="square" lIns="0" tIns="0" rIns="0" bIns="0" rtlCol="0" anchor="t"/>
          <a:lstStyle/>
          <a:p>
            <a:pPr algn="l" indent="0" marL="0">
              <a:lnSpc>
                <a:spcPts val="1097"/>
              </a:lnSpc>
              <a:buNone/>
            </a:pPr>
            <a:r>
              <a:rPr lang="en-US" sz="800" dirty="0">
                <a:solidFill>
                  <a:srgbClr val="E0ECEB"/>
                </a:solidFill>
                <a:latin typeface="Carlito" pitchFamily="34" charset="0"/>
                <a:ea typeface="Carlito" pitchFamily="34" charset="-122"/>
                <a:cs typeface="Carlito" pitchFamily="34" charset="-120"/>
              </a:rPr>
              <a:t>Mulai dengan draf protokol menggunakan template </a:t>
            </a:r>
            <a:pPr algn="l" indent="0" marL="0">
              <a:lnSpc>
                <a:spcPts val="1097"/>
              </a:lnSpc>
              <a:buNone/>
            </a:pPr>
            <a:r>
              <a:rPr lang="en-US" sz="800" dirty="0">
                <a:solidFill>
                  <a:srgbClr val="FFFFFF"/>
                </a:solidFill>
                <a:latin typeface="Carlito" pitchFamily="34" charset="0"/>
                <a:ea typeface="Carlito" pitchFamily="34" charset="-122"/>
                <a:cs typeface="Carlito" pitchFamily="34" charset="-120"/>
              </a:rPr>
              <a:t>PRISMA-P</a:t>
            </a:r>
            <a:pPr algn="l" indent="0" marL="0">
              <a:lnSpc>
                <a:spcPts val="1097"/>
              </a:lnSpc>
              <a:buNone/>
            </a:pPr>
            <a:r>
              <a:rPr lang="en-US" sz="800" dirty="0">
                <a:solidFill>
                  <a:srgbClr val="E0ECEB"/>
                </a:solidFill>
                <a:latin typeface="Carlito" pitchFamily="34" charset="0"/>
                <a:ea typeface="Carlito" pitchFamily="34" charset="-122"/>
                <a:cs typeface="Carlito" pitchFamily="34" charset="-120"/>
              </a:rPr>
              <a:t>. Daftar di </a:t>
            </a:r>
            <a:pPr algn="l" indent="0" marL="0">
              <a:lnSpc>
                <a:spcPts val="1097"/>
              </a:lnSpc>
              <a:buNone/>
            </a:pPr>
            <a:r>
              <a:rPr lang="en-US" sz="800" spc="-13" kern="0" dirty="0">
                <a:solidFill>
                  <a:srgbClr val="F97316"/>
                </a:solidFill>
                <a:latin typeface="Courier New" pitchFamily="34" charset="0"/>
                <a:ea typeface="Courier New" pitchFamily="34" charset="-122"/>
                <a:cs typeface="Courier New" pitchFamily="34" charset="-120"/>
              </a:rPr>
              <a:t>PROSPERO (https://www.crd.york.ac.uk/prospero/)</a:t>
            </a:r>
            <a:pPr algn="l" indent="0" marL="0">
              <a:lnSpc>
                <a:spcPts val="1097"/>
              </a:lnSpc>
              <a:buNone/>
            </a:pPr>
            <a:r>
              <a:rPr lang="en-US" sz="800" dirty="0">
                <a:solidFill>
                  <a:srgbClr val="E0ECEB"/>
                </a:solidFill>
                <a:latin typeface="Carlito" pitchFamily="34" charset="0"/>
                <a:ea typeface="Carlito" pitchFamily="34" charset="-122"/>
                <a:cs typeface="Carlito" pitchFamily="34" charset="-120"/>
              </a:rPr>
              <a:t> sebelum screening — pendaftaran gratis dan menambah kredibilitas publikasi.</a:t>
            </a:r>
            <a:endParaRPr lang="en-US" sz="800" dirty="0"/>
          </a:p>
        </p:txBody>
      </p:sp>
      <p:sp>
        <p:nvSpPr>
          <p:cNvPr id="40" name="Text 38"/>
          <p:cNvSpPr/>
          <p:nvPr/>
        </p:nvSpPr>
        <p:spPr>
          <a:xfrm>
            <a:off x="7839149" y="4154984"/>
            <a:ext cx="285750" cy="285750"/>
          </a:xfrm>
          <a:prstGeom prst="rect">
            <a:avLst/>
          </a:prstGeom>
          <a:noFill/>
          <a:ln/>
        </p:spPr>
        <p:txBody>
          <a:bodyPr wrap="none" lIns="0" tIns="0" rIns="0" bIns="0" rtlCol="0" anchor="ctr"/>
          <a:lstStyle/>
          <a:p>
            <a:pPr algn="ctr" indent="0" marL="0">
              <a:buNone/>
            </a:pPr>
            <a:r>
              <a:rPr lang="en-US" sz="2813" dirty="0">
                <a:solidFill>
                  <a:srgbClr val="F97316"/>
                </a:solidFill>
                <a:latin typeface="Segoe UI Symbol" pitchFamily="34" charset="0"/>
                <a:ea typeface="Segoe UI Symbol" pitchFamily="34" charset="-122"/>
                <a:cs typeface="Segoe UI Symbol" pitchFamily="34" charset="-120"/>
              </a:rPr>
              <a:t>→</a:t>
            </a:r>
            <a:endParaRPr lang="en-US" sz="2813" dirty="0"/>
          </a:p>
        </p:txBody>
      </p:sp>
      <p:sp>
        <p:nvSpPr>
          <p:cNvPr id="41" name="Text 39"/>
          <p:cNvSpPr/>
          <p:nvPr/>
        </p:nvSpPr>
        <p:spPr>
          <a:xfrm>
            <a:off x="7448810" y="4483596"/>
            <a:ext cx="1066540" cy="132829"/>
          </a:xfrm>
          <a:prstGeom prst="rect">
            <a:avLst/>
          </a:prstGeom>
          <a:noFill/>
          <a:ln/>
        </p:spPr>
        <p:txBody>
          <a:bodyPr wrap="none" lIns="0" tIns="0" rIns="0" bIns="0" rtlCol="0" anchor="t"/>
          <a:lstStyle/>
          <a:p>
            <a:pPr algn="l" indent="0" marL="0">
              <a:lnSpc>
                <a:spcPts val="1046"/>
              </a:lnSpc>
              <a:buNone/>
            </a:pPr>
            <a:r>
              <a:rPr lang="en-US" sz="675" spc="14" kern="0" dirty="0">
                <a:solidFill>
                  <a:srgbClr val="E0ECEB"/>
                </a:solidFill>
                <a:latin typeface="Courier New" pitchFamily="34" charset="0"/>
                <a:ea typeface="Courier New" pitchFamily="34" charset="-122"/>
                <a:cs typeface="Courier New" pitchFamily="34" charset="-120"/>
              </a:rPr>
              <a:t>prisma-statement.org</a:t>
            </a:r>
            <a:endParaRPr lang="en-US" sz="67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2026-09-24T08:56:10Z</dcterms:created>
  <dcterms:modified xsi:type="dcterms:W3CDTF">2026-09-24T08:56:10Z</dcterms:modified>
</cp:coreProperties>
</file>